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1" r:id="rId1"/>
  </p:sldMasterIdLst>
  <p:notesMasterIdLst>
    <p:notesMasterId r:id="rId31"/>
  </p:notesMasterIdLst>
  <p:sldIdLst>
    <p:sldId id="256" r:id="rId2"/>
    <p:sldId id="333" r:id="rId3"/>
    <p:sldId id="303" r:id="rId4"/>
    <p:sldId id="296" r:id="rId5"/>
    <p:sldId id="310" r:id="rId6"/>
    <p:sldId id="305" r:id="rId7"/>
    <p:sldId id="306" r:id="rId8"/>
    <p:sldId id="321" r:id="rId9"/>
    <p:sldId id="323" r:id="rId10"/>
    <p:sldId id="322" r:id="rId11"/>
    <p:sldId id="316" r:id="rId12"/>
    <p:sldId id="317" r:id="rId13"/>
    <p:sldId id="300" r:id="rId14"/>
    <p:sldId id="293" r:id="rId15"/>
    <p:sldId id="282" r:id="rId16"/>
    <p:sldId id="283" r:id="rId17"/>
    <p:sldId id="325" r:id="rId18"/>
    <p:sldId id="326" r:id="rId19"/>
    <p:sldId id="327" r:id="rId20"/>
    <p:sldId id="330" r:id="rId21"/>
    <p:sldId id="269" r:id="rId22"/>
    <p:sldId id="270" r:id="rId23"/>
    <p:sldId id="332" r:id="rId24"/>
    <p:sldId id="331" r:id="rId25"/>
    <p:sldId id="302" r:id="rId26"/>
    <p:sldId id="313" r:id="rId27"/>
    <p:sldId id="314" r:id="rId28"/>
    <p:sldId id="315" r:id="rId29"/>
    <p:sldId id="275"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0070C0"/>
    <a:srgbClr val="FF33CC"/>
    <a:srgbClr val="FF0066"/>
    <a:srgbClr val="FF9900"/>
    <a:srgbClr val="FFFF00"/>
    <a:srgbClr val="000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3549" autoAdjust="0"/>
  </p:normalViewPr>
  <p:slideViewPr>
    <p:cSldViewPr>
      <p:cViewPr varScale="1">
        <p:scale>
          <a:sx n="109" d="100"/>
          <a:sy n="109" d="100"/>
        </p:scale>
        <p:origin x="691" y="82"/>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9689C-37ED-4FF1-AD40-976707AE8106}" type="datetimeFigureOut">
              <a:rPr lang="zh-CN" altLang="en-US" smtClean="0"/>
              <a:pPr/>
              <a:t>2023/11/11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E98006-083E-442E-B09B-192CAE3B5B91}" type="slidenum">
              <a:rPr lang="zh-CN" altLang="en-US" smtClean="0"/>
              <a:pPr/>
              <a:t>‹#›</a:t>
            </a:fld>
            <a:endParaRPr lang="zh-CN" altLang="en-US"/>
          </a:p>
        </p:txBody>
      </p:sp>
    </p:spTree>
    <p:extLst>
      <p:ext uri="{BB962C8B-B14F-4D97-AF65-F5344CB8AC3E}">
        <p14:creationId xmlns:p14="http://schemas.microsoft.com/office/powerpoint/2010/main" val="226306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6</a:t>
            </a:fld>
            <a:endParaRPr lang="zh-CN" altLang="en-US"/>
          </a:p>
        </p:txBody>
      </p:sp>
    </p:spTree>
    <p:extLst>
      <p:ext uri="{BB962C8B-B14F-4D97-AF65-F5344CB8AC3E}">
        <p14:creationId xmlns:p14="http://schemas.microsoft.com/office/powerpoint/2010/main" val="1311233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7</a:t>
            </a:fld>
            <a:endParaRPr lang="zh-CN" altLang="en-US"/>
          </a:p>
        </p:txBody>
      </p:sp>
    </p:spTree>
    <p:extLst>
      <p:ext uri="{BB962C8B-B14F-4D97-AF65-F5344CB8AC3E}">
        <p14:creationId xmlns:p14="http://schemas.microsoft.com/office/powerpoint/2010/main" val="505661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8</a:t>
            </a:fld>
            <a:endParaRPr lang="zh-CN" altLang="en-US"/>
          </a:p>
        </p:txBody>
      </p:sp>
    </p:spTree>
    <p:extLst>
      <p:ext uri="{BB962C8B-B14F-4D97-AF65-F5344CB8AC3E}">
        <p14:creationId xmlns:p14="http://schemas.microsoft.com/office/powerpoint/2010/main" val="522236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9</a:t>
            </a:fld>
            <a:endParaRPr lang="zh-CN" altLang="en-US"/>
          </a:p>
        </p:txBody>
      </p:sp>
    </p:spTree>
    <p:extLst>
      <p:ext uri="{BB962C8B-B14F-4D97-AF65-F5344CB8AC3E}">
        <p14:creationId xmlns:p14="http://schemas.microsoft.com/office/powerpoint/2010/main" val="646637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10</a:t>
            </a:fld>
            <a:endParaRPr lang="zh-CN" altLang="en-US"/>
          </a:p>
        </p:txBody>
      </p:sp>
    </p:spTree>
    <p:extLst>
      <p:ext uri="{BB962C8B-B14F-4D97-AF65-F5344CB8AC3E}">
        <p14:creationId xmlns:p14="http://schemas.microsoft.com/office/powerpoint/2010/main" val="1755377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tx2">
                    <a:lumMod val="10000"/>
                  </a:schemeClr>
                </a:solidFill>
                <a:latin typeface="微软雅黑" pitchFamily="34" charset="-122"/>
                <a:ea typeface="微软雅黑" pitchFamily="34" charset="-122"/>
              </a:rPr>
              <a:t>举个例子：如果发生了意外（摔伤、扭伤、碰伤等），一定到正规的公立医院治疗，公费医疗、社保标准的费用，</a:t>
            </a:r>
            <a:r>
              <a:rPr lang="en-US" altLang="zh-CN" sz="1200" dirty="0">
                <a:solidFill>
                  <a:schemeClr val="tx2">
                    <a:lumMod val="10000"/>
                  </a:schemeClr>
                </a:solidFill>
                <a:latin typeface="微软雅黑" pitchFamily="34" charset="-122"/>
                <a:ea typeface="微软雅黑" pitchFamily="34" charset="-122"/>
              </a:rPr>
              <a:t>100%</a:t>
            </a:r>
            <a:r>
              <a:rPr lang="zh-CN" altLang="en-US" sz="1200" dirty="0">
                <a:solidFill>
                  <a:schemeClr val="tx2">
                    <a:lumMod val="10000"/>
                  </a:schemeClr>
                </a:solidFill>
                <a:latin typeface="微软雅黑" pitchFamily="34" charset="-122"/>
                <a:ea typeface="微软雅黑" pitchFamily="34" charset="-122"/>
              </a:rPr>
              <a:t>赔付，申请理赔时，病历、交费收据原件是必须提供的。</a:t>
            </a:r>
            <a:endParaRPr lang="en-US" altLang="zh-CN" sz="1200" dirty="0">
              <a:solidFill>
                <a:schemeClr val="tx2">
                  <a:lumMod val="10000"/>
                </a:schemeClr>
              </a:solidFill>
              <a:latin typeface="微软雅黑" pitchFamily="34" charset="-122"/>
              <a:ea typeface="微软雅黑" pitchFamily="34" charset="-122"/>
            </a:endParaRPr>
          </a:p>
          <a:p>
            <a:r>
              <a:rPr lang="zh-CN" altLang="en-US" sz="1200" dirty="0">
                <a:solidFill>
                  <a:schemeClr val="tx2">
                    <a:lumMod val="10000"/>
                  </a:schemeClr>
                </a:solidFill>
                <a:latin typeface="微软雅黑" pitchFamily="34" charset="-122"/>
                <a:ea typeface="微软雅黑" pitchFamily="34" charset="-122"/>
              </a:rPr>
              <a:t>注意：意外责任自保险生效日期起即保。</a:t>
            </a:r>
            <a:endParaRPr lang="zh-CN" altLang="en-US" sz="1200" dirty="0"/>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15</a:t>
            </a:fld>
            <a:endParaRPr lang="zh-CN" altLang="en-US"/>
          </a:p>
        </p:txBody>
      </p:sp>
    </p:spTree>
    <p:extLst>
      <p:ext uri="{BB962C8B-B14F-4D97-AF65-F5344CB8AC3E}">
        <p14:creationId xmlns:p14="http://schemas.microsoft.com/office/powerpoint/2010/main" val="1188980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如果看门诊后，医生说需要住院，一定先打电话，如果是网络医院，可以得到医疗费的垫付</a:t>
            </a:r>
            <a:r>
              <a:rPr lang="en-US" altLang="zh-CN" dirty="0"/>
              <a:t>,</a:t>
            </a:r>
            <a:r>
              <a:rPr lang="zh-CN" altLang="en-US" dirty="0"/>
              <a:t>学生就可以安心治疗了。</a:t>
            </a:r>
            <a:endParaRPr lang="en-US" altLang="zh-CN" dirty="0"/>
          </a:p>
          <a:p>
            <a:r>
              <a:rPr lang="zh-CN" altLang="en-US" dirty="0"/>
              <a:t>注意：因疾病门诊及疾病住院这项责任是保险生效日</a:t>
            </a:r>
            <a:r>
              <a:rPr lang="en-US" altLang="zh-CN" dirty="0"/>
              <a:t>30</a:t>
            </a:r>
            <a:r>
              <a:rPr lang="zh-CN" altLang="en-US" dirty="0"/>
              <a:t>天（等待期、观察期）之后发生的，保险公司才负责理赔</a:t>
            </a:r>
            <a:r>
              <a:rPr lang="zh-CN" altLang="en-US" baseline="0" dirty="0"/>
              <a:t>。</a:t>
            </a:r>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16</a:t>
            </a:fld>
            <a:endParaRPr lang="zh-CN" altLang="en-US"/>
          </a:p>
        </p:txBody>
      </p:sp>
    </p:spTree>
    <p:extLst>
      <p:ext uri="{BB962C8B-B14F-4D97-AF65-F5344CB8AC3E}">
        <p14:creationId xmlns:p14="http://schemas.microsoft.com/office/powerpoint/2010/main" val="1921668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这是申请赔付时需要资料的简表，像护照、签证的复印件，医院发票原件都是必须的，一定要提供正确的银行卡信息（帐户银行支付、账号、开户名），理赔款会直接汇到银行卡里</a:t>
            </a:r>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17</a:t>
            </a:fld>
            <a:endParaRPr lang="zh-CN" altLang="en-US"/>
          </a:p>
        </p:txBody>
      </p:sp>
    </p:spTree>
    <p:extLst>
      <p:ext uri="{BB962C8B-B14F-4D97-AF65-F5344CB8AC3E}">
        <p14:creationId xmlns:p14="http://schemas.microsoft.com/office/powerpoint/2010/main" val="2591986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这是申请赔付时需要资料的简表，像护照、签证的复印件，医院发票原件都是必须的，一定要提供正确的银行卡信息（帐户银行支付、账号、开户名），理赔款会直接汇到银行卡里</a:t>
            </a:r>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18</a:t>
            </a:fld>
            <a:endParaRPr lang="zh-CN" altLang="en-US"/>
          </a:p>
        </p:txBody>
      </p:sp>
    </p:spTree>
    <p:extLst>
      <p:ext uri="{BB962C8B-B14F-4D97-AF65-F5344CB8AC3E}">
        <p14:creationId xmlns:p14="http://schemas.microsoft.com/office/powerpoint/2010/main" val="2952781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另一个保险的查询方式是手机查询</a:t>
            </a:r>
            <a:r>
              <a:rPr lang="en-US" altLang="zh-CN" dirty="0"/>
              <a:t>,</a:t>
            </a:r>
            <a:r>
              <a:rPr lang="zh-CN" altLang="en-US" dirty="0"/>
              <a:t>用微信中的扫一扫</a:t>
            </a:r>
            <a:r>
              <a:rPr lang="en-US" altLang="zh-CN" dirty="0"/>
              <a:t>,</a:t>
            </a:r>
            <a:r>
              <a:rPr lang="zh-CN" altLang="en-US" dirty="0"/>
              <a:t>扫二维码，录入服务卡号或护照号，可以查到当前保险情况，你提交的理赔的进展信息</a:t>
            </a:r>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21</a:t>
            </a:fld>
            <a:endParaRPr lang="zh-CN" altLang="en-US"/>
          </a:p>
        </p:txBody>
      </p:sp>
    </p:spTree>
    <p:extLst>
      <p:ext uri="{BB962C8B-B14F-4D97-AF65-F5344CB8AC3E}">
        <p14:creationId xmlns:p14="http://schemas.microsoft.com/office/powerpoint/2010/main" val="4059725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手机里还可以查到七种文字的保险责任、理赔须知，以及理赔资料快递的地址。</a:t>
            </a:r>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22</a:t>
            </a:fld>
            <a:endParaRPr lang="zh-CN" altLang="en-US"/>
          </a:p>
        </p:txBody>
      </p:sp>
    </p:spTree>
    <p:extLst>
      <p:ext uri="{BB962C8B-B14F-4D97-AF65-F5344CB8AC3E}">
        <p14:creationId xmlns:p14="http://schemas.microsoft.com/office/powerpoint/2010/main" val="2763375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保险提示：不能使用保险的医院，及一些状况看病后不赔的。</a:t>
            </a:r>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26</a:t>
            </a:fld>
            <a:endParaRPr lang="zh-CN" altLang="en-US"/>
          </a:p>
        </p:txBody>
      </p:sp>
    </p:spTree>
    <p:extLst>
      <p:ext uri="{BB962C8B-B14F-4D97-AF65-F5344CB8AC3E}">
        <p14:creationId xmlns:p14="http://schemas.microsoft.com/office/powerpoint/2010/main" val="3458853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不赔的提示。</a:t>
            </a:r>
          </a:p>
        </p:txBody>
      </p:sp>
      <p:sp>
        <p:nvSpPr>
          <p:cNvPr id="4" name="灯片编号占位符 3"/>
          <p:cNvSpPr>
            <a:spLocks noGrp="1"/>
          </p:cNvSpPr>
          <p:nvPr>
            <p:ph type="sldNum" sz="quarter" idx="10"/>
          </p:nvPr>
        </p:nvSpPr>
        <p:spPr/>
        <p:txBody>
          <a:bodyPr/>
          <a:lstStyle/>
          <a:p>
            <a:fld id="{68E98006-083E-442E-B09B-192CAE3B5B91}" type="slidenum">
              <a:rPr lang="zh-CN" altLang="en-US" smtClean="0"/>
              <a:pPr/>
              <a:t>27</a:t>
            </a:fld>
            <a:endParaRPr lang="zh-CN" altLang="en-US"/>
          </a:p>
        </p:txBody>
      </p:sp>
    </p:spTree>
    <p:extLst>
      <p:ext uri="{BB962C8B-B14F-4D97-AF65-F5344CB8AC3E}">
        <p14:creationId xmlns:p14="http://schemas.microsoft.com/office/powerpoint/2010/main" val="3025876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7" name="Date Placeholder 6"/>
          <p:cNvSpPr>
            <a:spLocks noGrp="1"/>
          </p:cNvSpPr>
          <p:nvPr>
            <p:ph type="dt" sz="half" idx="10"/>
          </p:nvPr>
        </p:nvSpPr>
        <p:spPr/>
        <p:txBody>
          <a:bodyPr/>
          <a:lstStyle/>
          <a:p>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8F0B4588-A83C-4469-B5E7-1B1AEA09C003}" type="slidenum">
              <a:rPr lang="en-US" altLang="zh-CN" smtClean="0"/>
              <a:pPr/>
              <a:t>‹#›</a:t>
            </a:fld>
            <a:endParaRPr lang="en-US" altLang="zh-CN"/>
          </a:p>
        </p:txBody>
      </p:sp>
    </p:spTree>
    <p:extLst>
      <p:ext uri="{BB962C8B-B14F-4D97-AF65-F5344CB8AC3E}">
        <p14:creationId xmlns:p14="http://schemas.microsoft.com/office/powerpoint/2010/main" val="6175879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06901218-313B-4F03-8EEC-7F7F04982AB0}" type="slidenum">
              <a:rPr lang="en-US" altLang="zh-CN" smtClean="0"/>
              <a:pPr/>
              <a:t>‹#›</a:t>
            </a:fld>
            <a:endParaRPr lang="en-US" altLang="zh-CN"/>
          </a:p>
        </p:txBody>
      </p:sp>
      <p:pic>
        <p:nvPicPr>
          <p:cNvPr id="4" name="Picture 3">
            <a:extLst>
              <a:ext uri="{FF2B5EF4-FFF2-40B4-BE49-F238E27FC236}">
                <a16:creationId xmlns:a16="http://schemas.microsoft.com/office/drawing/2014/main" id="{778FE067-5910-2767-9FAD-34E6CF8EFD89}"/>
              </a:ext>
            </a:extLst>
          </p:cNvPr>
          <p:cNvPicPr>
            <a:picLocks noChangeAspect="1" noChangeArrowheads="1"/>
          </p:cNvPicPr>
          <p:nvPr userDrawn="1"/>
        </p:nvPicPr>
        <p:blipFill>
          <a:blip r:embed="rId2" cstate="print"/>
          <a:srcRect/>
          <a:stretch>
            <a:fillRect/>
          </a:stretch>
        </p:blipFill>
        <p:spPr bwMode="hidden">
          <a:xfrm>
            <a:off x="928662" y="71420"/>
            <a:ext cx="8215338" cy="500066"/>
          </a:xfrm>
          <a:prstGeom prst="rect">
            <a:avLst/>
          </a:prstGeom>
          <a:noFill/>
          <a:ln w="9525" cap="flat" cmpd="sng">
            <a:noFill/>
            <a:prstDash val="solid"/>
            <a:miter lim="800000"/>
            <a:headEnd type="none" w="med" len="med"/>
            <a:tailEnd type="none" w="med" len="med"/>
          </a:ln>
          <a:effectLst/>
        </p:spPr>
      </p:pic>
      <p:pic>
        <p:nvPicPr>
          <p:cNvPr id="5" name="Picture 4">
            <a:extLst>
              <a:ext uri="{FF2B5EF4-FFF2-40B4-BE49-F238E27FC236}">
                <a16:creationId xmlns:a16="http://schemas.microsoft.com/office/drawing/2014/main" id="{C52E16FF-BC18-816A-F23F-A57D6E86AD7A}"/>
              </a:ext>
            </a:extLst>
          </p:cNvPr>
          <p:cNvPicPr>
            <a:picLocks noChangeAspect="1" noChangeArrowheads="1"/>
          </p:cNvPicPr>
          <p:nvPr userDrawn="1"/>
        </p:nvPicPr>
        <p:blipFill>
          <a:blip r:embed="rId3" cstate="print"/>
          <a:srcRect/>
          <a:stretch>
            <a:fillRect/>
          </a:stretch>
        </p:blipFill>
        <p:spPr bwMode="hidden">
          <a:xfrm>
            <a:off x="214282" y="71420"/>
            <a:ext cx="1000132" cy="529358"/>
          </a:xfrm>
          <a:prstGeom prst="rect">
            <a:avLst/>
          </a:prstGeom>
          <a:noFill/>
          <a:ln w="9525" cap="flat" cmpd="sng">
            <a:noFill/>
            <a:prstDash val="solid"/>
            <a:miter lim="800000"/>
            <a:headEnd type="none" w="med" len="med"/>
            <a:tailEnd type="none" w="med" len="med"/>
          </a:ln>
          <a:effectLst/>
        </p:spPr>
      </p:pic>
    </p:spTree>
    <p:extLst>
      <p:ext uri="{BB962C8B-B14F-4D97-AF65-F5344CB8AC3E}">
        <p14:creationId xmlns:p14="http://schemas.microsoft.com/office/powerpoint/2010/main" val="1125925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7" name="Date Placeholder 6"/>
          <p:cNvSpPr>
            <a:spLocks noGrp="1"/>
          </p:cNvSpPr>
          <p:nvPr>
            <p:ph type="dt" sz="half" idx="10"/>
          </p:nvPr>
        </p:nvSpPr>
        <p:spPr/>
        <p:txBody>
          <a:bodyPr/>
          <a:lstStyle/>
          <a:p>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70478192-C35C-4D8D-85EC-B39829ADBBAD}" type="slidenum">
              <a:rPr lang="en-US" altLang="zh-CN" smtClean="0"/>
              <a:pPr/>
              <a:t>‹#›</a:t>
            </a:fld>
            <a:endParaRPr lang="en-US" altLang="zh-CN"/>
          </a:p>
        </p:txBody>
      </p:sp>
    </p:spTree>
    <p:extLst>
      <p:ext uri="{BB962C8B-B14F-4D97-AF65-F5344CB8AC3E}">
        <p14:creationId xmlns:p14="http://schemas.microsoft.com/office/powerpoint/2010/main" val="145439323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86434" y="1978533"/>
            <a:ext cx="3203828" cy="23264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753737" y="1978533"/>
            <a:ext cx="3202685" cy="23264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8" name="Date Placeholder 7"/>
          <p:cNvSpPr>
            <a:spLocks noGrp="1"/>
          </p:cNvSpPr>
          <p:nvPr>
            <p:ph type="dt" sz="half" idx="10"/>
          </p:nvPr>
        </p:nvSpPr>
        <p:spPr/>
        <p:txBody>
          <a:bodyPr/>
          <a:lstStyle/>
          <a:p>
            <a:endParaRPr lang="en-US" altLang="zh-CN"/>
          </a:p>
        </p:txBody>
      </p:sp>
      <p:sp>
        <p:nvSpPr>
          <p:cNvPr id="9" name="Footer Placeholder 8"/>
          <p:cNvSpPr>
            <a:spLocks noGrp="1"/>
          </p:cNvSpPr>
          <p:nvPr>
            <p:ph type="ftr" sz="quarter" idx="11"/>
          </p:nvPr>
        </p:nvSpPr>
        <p:spPr/>
        <p:txBody>
          <a:bodyPr/>
          <a:lstStyle/>
          <a:p>
            <a:endParaRPr lang="en-US" altLang="zh-CN"/>
          </a:p>
        </p:txBody>
      </p:sp>
      <p:sp>
        <p:nvSpPr>
          <p:cNvPr id="10" name="Slide Number Placeholder 9"/>
          <p:cNvSpPr>
            <a:spLocks noGrp="1"/>
          </p:cNvSpPr>
          <p:nvPr>
            <p:ph type="sldNum" sz="quarter" idx="12"/>
          </p:nvPr>
        </p:nvSpPr>
        <p:spPr/>
        <p:txBody>
          <a:bodyPr/>
          <a:lstStyle/>
          <a:p>
            <a:fld id="{80CA3778-59AA-4638-88DE-57676F1D96F5}" type="slidenum">
              <a:rPr lang="en-US" altLang="zh-CN" smtClean="0"/>
              <a:pPr/>
              <a:t>‹#›</a:t>
            </a:fld>
            <a:endParaRPr lang="en-US" altLang="zh-CN"/>
          </a:p>
        </p:txBody>
      </p:sp>
    </p:spTree>
    <p:extLst>
      <p:ext uri="{BB962C8B-B14F-4D97-AF65-F5344CB8AC3E}">
        <p14:creationId xmlns:p14="http://schemas.microsoft.com/office/powerpoint/2010/main" val="519205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8757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1187577" y="2357438"/>
            <a:ext cx="3202686" cy="194758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Content Placeholder 5"/>
          <p:cNvSpPr>
            <a:spLocks noGrp="1"/>
          </p:cNvSpPr>
          <p:nvPr>
            <p:ph sz="quarter" idx="4"/>
          </p:nvPr>
        </p:nvSpPr>
        <p:spPr>
          <a:xfrm>
            <a:off x="4753737" y="2357438"/>
            <a:ext cx="3190113" cy="1947582"/>
          </a:xfrm>
        </p:spPr>
        <p:txBody>
          <a:bodyPr/>
          <a:lstStyle>
            <a:lvl5pPr>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1" name="Text Placeholder 4"/>
          <p:cNvSpPr>
            <a:spLocks noGrp="1"/>
          </p:cNvSpPr>
          <p:nvPr>
            <p:ph type="body" sz="quarter" idx="13"/>
          </p:nvPr>
        </p:nvSpPr>
        <p:spPr>
          <a:xfrm>
            <a:off x="475373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7" name="Date Placeholder 6"/>
          <p:cNvSpPr>
            <a:spLocks noGrp="1"/>
          </p:cNvSpPr>
          <p:nvPr>
            <p:ph type="dt" sz="half" idx="10"/>
          </p:nvPr>
        </p:nvSpPr>
        <p:spPr/>
        <p:txBody>
          <a:bodyPr/>
          <a:lstStyle/>
          <a:p>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80CA3778-59AA-4638-88DE-57676F1D96F5}" type="slidenum">
              <a:rPr lang="en-US" altLang="zh-CN" smtClean="0"/>
              <a:pPr/>
              <a:t>‹#›</a:t>
            </a:fld>
            <a:endParaRPr lang="en-US" altLang="zh-CN"/>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3032919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en-US" altLang="zh-CN"/>
          </a:p>
        </p:txBody>
      </p:sp>
      <p:sp>
        <p:nvSpPr>
          <p:cNvPr id="4" name="Footer Placeholder 3"/>
          <p:cNvSpPr>
            <a:spLocks noGrp="1"/>
          </p:cNvSpPr>
          <p:nvPr>
            <p:ph type="ftr" sz="quarter" idx="11"/>
          </p:nvPr>
        </p:nvSpPr>
        <p:spPr/>
        <p:txBody>
          <a:bodyPr/>
          <a:lstStyle/>
          <a:p>
            <a:endParaRPr lang="en-US" altLang="zh-CN"/>
          </a:p>
        </p:txBody>
      </p:sp>
      <p:sp>
        <p:nvSpPr>
          <p:cNvPr id="5" name="Slide Number Placeholder 4"/>
          <p:cNvSpPr>
            <a:spLocks noGrp="1"/>
          </p:cNvSpPr>
          <p:nvPr>
            <p:ph type="sldNum" sz="quarter" idx="12"/>
          </p:nvPr>
        </p:nvSpPr>
        <p:spPr/>
        <p:txBody>
          <a:bodyPr/>
          <a:lstStyle/>
          <a:p>
            <a:fld id="{3A8467C3-51FA-4E1F-950B-10CD3F7C0584}" type="slidenum">
              <a:rPr lang="en-US" altLang="zh-CN" smtClean="0"/>
              <a:pPr/>
              <a:t>‹#›</a:t>
            </a:fld>
            <a:endParaRPr lang="en-US" altLang="zh-CN"/>
          </a:p>
        </p:txBody>
      </p:sp>
    </p:spTree>
    <p:extLst>
      <p:ext uri="{BB962C8B-B14F-4D97-AF65-F5344CB8AC3E}">
        <p14:creationId xmlns:p14="http://schemas.microsoft.com/office/powerpoint/2010/main" val="3804711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zh-CN"/>
          </a:p>
        </p:txBody>
      </p:sp>
      <p:sp>
        <p:nvSpPr>
          <p:cNvPr id="3" name="Footer Placeholder 2"/>
          <p:cNvSpPr>
            <a:spLocks noGrp="1"/>
          </p:cNvSpPr>
          <p:nvPr>
            <p:ph type="ftr" sz="quarter" idx="11"/>
          </p:nvPr>
        </p:nvSpPr>
        <p:spPr/>
        <p:txBody>
          <a:bodyPr/>
          <a:lstStyle/>
          <a:p>
            <a:endParaRPr lang="en-US" altLang="zh-CN"/>
          </a:p>
        </p:txBody>
      </p:sp>
      <p:sp>
        <p:nvSpPr>
          <p:cNvPr id="4" name="Slide Number Placeholder 3"/>
          <p:cNvSpPr>
            <a:spLocks noGrp="1"/>
          </p:cNvSpPr>
          <p:nvPr>
            <p:ph type="sldNum" sz="quarter" idx="12"/>
          </p:nvPr>
        </p:nvSpPr>
        <p:spPr/>
        <p:txBody>
          <a:bodyPr/>
          <a:lstStyle/>
          <a:p>
            <a:fld id="{E4076D66-1A32-400C-A901-8E9157BE0FF9}" type="slidenum">
              <a:rPr lang="en-US" altLang="zh-CN" smtClean="0"/>
              <a:pPr/>
              <a:t>‹#›</a:t>
            </a:fld>
            <a:endParaRPr lang="en-US" altLang="zh-CN"/>
          </a:p>
        </p:txBody>
      </p:sp>
    </p:spTree>
    <p:extLst>
      <p:ext uri="{BB962C8B-B14F-4D97-AF65-F5344CB8AC3E}">
        <p14:creationId xmlns:p14="http://schemas.microsoft.com/office/powerpoint/2010/main" val="3090675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262626"/>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5052060" y="603504"/>
            <a:ext cx="3611880" cy="39364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9" name="Date Placeholder 8"/>
          <p:cNvSpPr>
            <a:spLocks noGrp="1"/>
          </p:cNvSpPr>
          <p:nvPr>
            <p:ph type="dt" sz="half" idx="10"/>
          </p:nvPr>
        </p:nvSpPr>
        <p:spPr/>
        <p:txBody>
          <a:bodyPr/>
          <a:lstStyle/>
          <a:p>
            <a:endParaRPr lang="en-US" altLang="zh-CN"/>
          </a:p>
        </p:txBody>
      </p:sp>
      <p:sp>
        <p:nvSpPr>
          <p:cNvPr id="10" name="Footer Placeholder 9"/>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US" altLang="zh-CN"/>
          </a:p>
        </p:txBody>
      </p:sp>
      <p:sp>
        <p:nvSpPr>
          <p:cNvPr id="11" name="Slide Number Placeholder 10"/>
          <p:cNvSpPr>
            <a:spLocks noGrp="1"/>
          </p:cNvSpPr>
          <p:nvPr>
            <p:ph type="sldNum" sz="quarter" idx="12"/>
          </p:nvPr>
        </p:nvSpPr>
        <p:spPr/>
        <p:txBody>
          <a:bodyPr/>
          <a:lstStyle/>
          <a:p>
            <a:fld id="{58A0682B-ABC7-47BA-963D-8C1F5C514E0F}" type="slidenum">
              <a:rPr lang="en-US" altLang="zh-CN" smtClean="0"/>
              <a:pPr/>
              <a:t>‹#›</a:t>
            </a:fld>
            <a:endParaRPr lang="en-US" altLang="zh-CN"/>
          </a:p>
        </p:txBody>
      </p:sp>
    </p:spTree>
    <p:extLst>
      <p:ext uri="{BB962C8B-B14F-4D97-AF65-F5344CB8AC3E}">
        <p14:creationId xmlns:p14="http://schemas.microsoft.com/office/powerpoint/2010/main" val="4158947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8" name="Rectangle 17"/>
          <p:cNvSpPr/>
          <p:nvPr/>
        </p:nvSpPr>
        <p:spPr>
          <a:xfrm>
            <a:off x="1" y="0"/>
            <a:ext cx="4571999"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6392" y="1682871"/>
            <a:ext cx="3371249" cy="850980"/>
          </a:xfrm>
          <a:solidFill>
            <a:srgbClr val="FFFFFF"/>
          </a:solidFill>
          <a:ln>
            <a:solidFill>
              <a:srgbClr val="404040"/>
            </a:solidFill>
          </a:ln>
        </p:spPr>
        <p:txBody>
          <a:bodyPr anchor="ctr" anchorCtr="1">
            <a:noAutofit/>
          </a:bodyPr>
          <a:lstStyle>
            <a:lvl1pPr>
              <a:defRPr sz="1650">
                <a:solidFill>
                  <a:srgbClr val="262626"/>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572000" y="0"/>
            <a:ext cx="4576573" cy="51435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836676" y="2662439"/>
            <a:ext cx="2846070" cy="1645528"/>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altLang="zh-CN"/>
          </a:p>
        </p:txBody>
      </p:sp>
      <p:sp>
        <p:nvSpPr>
          <p:cNvPr id="9" name="Footer Placeholder 8"/>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US" altLang="zh-CN"/>
          </a:p>
        </p:txBody>
      </p:sp>
      <p:sp>
        <p:nvSpPr>
          <p:cNvPr id="10" name="Slide Number Placeholder 9"/>
          <p:cNvSpPr>
            <a:spLocks noGrp="1"/>
          </p:cNvSpPr>
          <p:nvPr>
            <p:ph type="sldNum" sz="quarter" idx="12"/>
          </p:nvPr>
        </p:nvSpPr>
        <p:spPr/>
        <p:txBody>
          <a:bodyPr/>
          <a:lstStyle/>
          <a:p>
            <a:fld id="{0DA7BF8D-98AB-4BF2-84BD-FD67041AA923}" type="slidenum">
              <a:rPr lang="en-US" altLang="zh-CN" smtClean="0"/>
              <a:pPr/>
              <a:t>‹#›</a:t>
            </a:fld>
            <a:endParaRPr lang="en-US" altLang="zh-CN"/>
          </a:p>
        </p:txBody>
      </p:sp>
    </p:spTree>
    <p:extLst>
      <p:ext uri="{BB962C8B-B14F-4D97-AF65-F5344CB8AC3E}">
        <p14:creationId xmlns:p14="http://schemas.microsoft.com/office/powerpoint/2010/main" val="3943974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CBC523A9-FFFD-4690-9E2D-56340183511B}" type="slidenum">
              <a:rPr lang="en-US" altLang="zh-CN" smtClean="0"/>
              <a:pPr/>
              <a:t>‹#›</a:t>
            </a:fld>
            <a:endParaRPr lang="en-US" altLang="zh-CN"/>
          </a:p>
        </p:txBody>
      </p:sp>
    </p:spTree>
    <p:extLst>
      <p:ext uri="{BB962C8B-B14F-4D97-AF65-F5344CB8AC3E}">
        <p14:creationId xmlns:p14="http://schemas.microsoft.com/office/powerpoint/2010/main" val="1332824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702945"/>
            <a:ext cx="973956" cy="373761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673352" y="702945"/>
            <a:ext cx="4648867" cy="373761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80CA3778-59AA-4638-88DE-57676F1D96F5}" type="slidenum">
              <a:rPr lang="en-US" altLang="zh-CN" smtClean="0"/>
              <a:pPr/>
              <a:t>‹#›</a:t>
            </a:fld>
            <a:endParaRPr lang="en-US" altLang="zh-CN"/>
          </a:p>
        </p:txBody>
      </p:sp>
    </p:spTree>
    <p:extLst>
      <p:ext uri="{BB962C8B-B14F-4D97-AF65-F5344CB8AC3E}">
        <p14:creationId xmlns:p14="http://schemas.microsoft.com/office/powerpoint/2010/main" val="2782796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73352" y="723519"/>
            <a:ext cx="5797296"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673352" y="1978534"/>
            <a:ext cx="5797296" cy="232648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866072" y="4679112"/>
            <a:ext cx="2065310" cy="242976"/>
          </a:xfrm>
          <a:prstGeom prst="rect">
            <a:avLst/>
          </a:prstGeom>
        </p:spPr>
        <p:txBody>
          <a:bodyPr vert="horz" lIns="91440" tIns="45720" rIns="91440" bIns="45720" rtlCol="0" anchor="ctr"/>
          <a:lstStyle>
            <a:lvl1pPr algn="r">
              <a:defRPr sz="788">
                <a:solidFill>
                  <a:schemeClr val="tx1">
                    <a:alpha val="70000"/>
                  </a:schemeClr>
                </a:solidFill>
              </a:defRPr>
            </a:lvl1pPr>
          </a:lstStyle>
          <a:p>
            <a:endParaRPr lang="en-US" altLang="zh-CN"/>
          </a:p>
        </p:txBody>
      </p:sp>
      <p:sp>
        <p:nvSpPr>
          <p:cNvPr id="5" name="Footer Placeholder 4"/>
          <p:cNvSpPr>
            <a:spLocks noGrp="1"/>
          </p:cNvSpPr>
          <p:nvPr>
            <p:ph type="ftr" sz="quarter" idx="3"/>
          </p:nvPr>
        </p:nvSpPr>
        <p:spPr>
          <a:xfrm>
            <a:off x="1200150" y="4677156"/>
            <a:ext cx="4425892" cy="240030"/>
          </a:xfrm>
          <a:prstGeom prst="rect">
            <a:avLst/>
          </a:prstGeom>
        </p:spPr>
        <p:txBody>
          <a:bodyPr vert="horz" lIns="91440" tIns="45720" rIns="91440" bIns="45720" rtlCol="0" anchor="ctr"/>
          <a:lstStyle>
            <a:lvl1pPr algn="l">
              <a:defRPr sz="788">
                <a:solidFill>
                  <a:schemeClr val="tx1">
                    <a:alpha val="70000"/>
                  </a:schemeClr>
                </a:solidFill>
              </a:defRPr>
            </a:lvl1pPr>
          </a:lstStyle>
          <a:p>
            <a:endParaRPr lang="en-US" altLang="zh-CN"/>
          </a:p>
        </p:txBody>
      </p:sp>
      <p:sp>
        <p:nvSpPr>
          <p:cNvPr id="6" name="Slide Number Placeholder 5"/>
          <p:cNvSpPr>
            <a:spLocks noGrp="1"/>
          </p:cNvSpPr>
          <p:nvPr>
            <p:ph type="sldNum" sz="quarter" idx="4"/>
          </p:nvPr>
        </p:nvSpPr>
        <p:spPr>
          <a:xfrm>
            <a:off x="8069192" y="4663440"/>
            <a:ext cx="274320" cy="27432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fld id="{80CA3778-59AA-4638-88DE-57676F1D96F5}" type="slidenum">
              <a:rPr lang="en-US" altLang="zh-CN" smtClean="0"/>
              <a:pPr/>
              <a:t>‹#›</a:t>
            </a:fld>
            <a:endParaRPr lang="en-US" altLang="zh-CN"/>
          </a:p>
        </p:txBody>
      </p:sp>
    </p:spTree>
    <p:extLst>
      <p:ext uri="{BB962C8B-B14F-4D97-AF65-F5344CB8AC3E}">
        <p14:creationId xmlns:p14="http://schemas.microsoft.com/office/powerpoint/2010/main" val="2839298314"/>
      </p:ext>
    </p:extLst>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912" r:id="rId11"/>
  </p:sldLayoutIdLst>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560" y="-15875"/>
            <a:ext cx="9906000" cy="5159375"/>
          </a:xfrm>
          <a:prstGeom prst="rect">
            <a:avLst/>
          </a:prstGeom>
        </p:spPr>
      </p:pic>
      <p:sp>
        <p:nvSpPr>
          <p:cNvPr id="5" name="TextBox 3"/>
          <p:cNvSpPr txBox="1">
            <a:spLocks noChangeArrowheads="1"/>
          </p:cNvSpPr>
          <p:nvPr/>
        </p:nvSpPr>
        <p:spPr bwMode="auto">
          <a:xfrm>
            <a:off x="971600" y="695948"/>
            <a:ext cx="5286375" cy="1754326"/>
          </a:xfrm>
          <a:prstGeom prst="rect">
            <a:avLst/>
          </a:prstGeom>
          <a:noFill/>
          <a:ln w="9525">
            <a:noFill/>
            <a:miter lim="800000"/>
            <a:headEnd/>
            <a:tailEnd/>
          </a:ln>
        </p:spPr>
        <p:txBody>
          <a:bodyPr wrap="square">
            <a:spAutoFit/>
          </a:bodyPr>
          <a:lstStyle/>
          <a:p>
            <a:pPr algn="ctr"/>
            <a:r>
              <a:rPr lang="zh-CN" altLang="en-US" sz="5400" b="1" dirty="0">
                <a:ln w="19050">
                  <a:solidFill>
                    <a:schemeClr val="tx2">
                      <a:tint val="1000"/>
                    </a:schemeClr>
                  </a:solidFill>
                  <a:prstDash val="solid"/>
                </a:ln>
                <a:solidFill>
                  <a:srgbClr val="0070C0"/>
                </a:solidFill>
                <a:effectLst>
                  <a:outerShdw blurRad="50000" dist="50800" dir="7500000" algn="tl">
                    <a:srgbClr val="000000">
                      <a:shade val="5000"/>
                      <a:alpha val="35000"/>
                    </a:srgbClr>
                  </a:outerShdw>
                </a:effectLst>
                <a:latin typeface="华文琥珀" pitchFamily="2" charset="-122"/>
                <a:ea typeface="华文琥珀" pitchFamily="2" charset="-122"/>
              </a:rPr>
              <a:t>来华留学生保险</a:t>
            </a:r>
            <a:endParaRPr lang="en-US" altLang="zh-CN" sz="5400" b="1" dirty="0">
              <a:ln w="19050">
                <a:solidFill>
                  <a:schemeClr val="tx2">
                    <a:tint val="1000"/>
                  </a:schemeClr>
                </a:solidFill>
                <a:prstDash val="solid"/>
              </a:ln>
              <a:solidFill>
                <a:srgbClr val="0070C0"/>
              </a:solidFill>
              <a:effectLst>
                <a:outerShdw blurRad="50000" dist="50800" dir="7500000" algn="tl">
                  <a:srgbClr val="000000">
                    <a:shade val="5000"/>
                    <a:alpha val="35000"/>
                  </a:srgbClr>
                </a:outerShdw>
              </a:effectLst>
              <a:latin typeface="华文琥珀" pitchFamily="2" charset="-122"/>
              <a:ea typeface="华文琥珀" pitchFamily="2" charset="-122"/>
            </a:endParaRPr>
          </a:p>
          <a:p>
            <a:pPr algn="ctr"/>
            <a:r>
              <a:rPr lang="zh-CN" altLang="en-US" sz="5400" b="1" dirty="0">
                <a:ln w="19050">
                  <a:solidFill>
                    <a:schemeClr val="tx2">
                      <a:tint val="1000"/>
                    </a:schemeClr>
                  </a:solidFill>
                  <a:prstDash val="solid"/>
                </a:ln>
                <a:solidFill>
                  <a:srgbClr val="0070C0"/>
                </a:solidFill>
                <a:effectLst>
                  <a:outerShdw blurRad="50000" dist="50800" dir="7500000" algn="tl">
                    <a:srgbClr val="000000">
                      <a:shade val="5000"/>
                      <a:alpha val="35000"/>
                    </a:srgbClr>
                  </a:outerShdw>
                </a:effectLst>
                <a:latin typeface="华文琥珀" pitchFamily="2" charset="-122"/>
                <a:ea typeface="华文琥珀" pitchFamily="2" charset="-122"/>
              </a:rPr>
              <a:t>使用指南</a:t>
            </a:r>
            <a:endParaRPr lang="en-US" altLang="zh-CN" sz="5400" b="1" dirty="0">
              <a:ln w="19050">
                <a:solidFill>
                  <a:schemeClr val="tx2">
                    <a:tint val="1000"/>
                  </a:schemeClr>
                </a:solidFill>
                <a:prstDash val="solid"/>
              </a:ln>
              <a:solidFill>
                <a:srgbClr val="0070C0"/>
              </a:solidFill>
              <a:effectLst>
                <a:outerShdw blurRad="50000" dist="50800" dir="7500000" algn="tl">
                  <a:srgbClr val="000000">
                    <a:shade val="5000"/>
                    <a:alpha val="35000"/>
                  </a:srgbClr>
                </a:outerShdw>
              </a:effectLst>
              <a:latin typeface="华文琥珀" pitchFamily="2" charset="-122"/>
              <a:ea typeface="华文琥珀" pitchFamily="2" charset="-122"/>
            </a:endParaRPr>
          </a:p>
        </p:txBody>
      </p:sp>
      <p:sp>
        <p:nvSpPr>
          <p:cNvPr id="7" name="TextBox 4"/>
          <p:cNvSpPr txBox="1">
            <a:spLocks noChangeArrowheads="1"/>
          </p:cNvSpPr>
          <p:nvPr/>
        </p:nvSpPr>
        <p:spPr bwMode="auto">
          <a:xfrm>
            <a:off x="5292080" y="4298299"/>
            <a:ext cx="2852365" cy="523220"/>
          </a:xfrm>
          <a:prstGeom prst="rect">
            <a:avLst/>
          </a:prstGeom>
          <a:noFill/>
          <a:ln w="9525">
            <a:noFill/>
            <a:miter lim="800000"/>
            <a:headEnd/>
            <a:tailEnd/>
          </a:ln>
        </p:spPr>
        <p:txBody>
          <a:bodyPr wrap="square">
            <a:spAutoFit/>
          </a:bodyPr>
          <a:lstStyle/>
          <a:p>
            <a:pPr algn="ctr"/>
            <a:r>
              <a:rPr lang="zh-CN" altLang="en-US" sz="1400" b="1" dirty="0">
                <a:solidFill>
                  <a:srgbClr val="0070C0"/>
                </a:solidFill>
                <a:latin typeface="微软雅黑" pitchFamily="34" charset="-122"/>
                <a:ea typeface="微软雅黑" pitchFamily="34" charset="-122"/>
              </a:rPr>
              <a:t>留学保险项目组</a:t>
            </a:r>
            <a:endParaRPr lang="en-US" altLang="zh-CN" sz="1400" b="1" dirty="0">
              <a:solidFill>
                <a:srgbClr val="0070C0"/>
              </a:solidFill>
              <a:latin typeface="微软雅黑" pitchFamily="34" charset="-122"/>
              <a:ea typeface="微软雅黑" pitchFamily="34" charset="-122"/>
            </a:endParaRPr>
          </a:p>
          <a:p>
            <a:pPr algn="ctr"/>
            <a:r>
              <a:rPr lang="en-US" altLang="zh-CN" sz="1400" b="1" dirty="0">
                <a:solidFill>
                  <a:srgbClr val="0070C0"/>
                </a:solidFill>
                <a:latin typeface="微软雅黑" pitchFamily="34" charset="-122"/>
                <a:ea typeface="微软雅黑" pitchFamily="34" charset="-122"/>
              </a:rPr>
              <a:t>2023.11</a:t>
            </a:r>
            <a:endParaRPr lang="zh-CN" altLang="en-US" sz="1400" b="1" dirty="0">
              <a:solidFill>
                <a:srgbClr val="0070C0"/>
              </a:solidFill>
              <a:latin typeface="微软雅黑" pitchFamily="34" charset="-122"/>
              <a:ea typeface="微软雅黑" pitchFamily="34" charset="-122"/>
            </a:endParaRPr>
          </a:p>
        </p:txBody>
      </p:sp>
      <p:sp>
        <p:nvSpPr>
          <p:cNvPr id="4" name="矩形 3"/>
          <p:cNvSpPr/>
          <p:nvPr/>
        </p:nvSpPr>
        <p:spPr>
          <a:xfrm>
            <a:off x="834635" y="3608239"/>
            <a:ext cx="5560304" cy="707886"/>
          </a:xfrm>
          <a:prstGeom prst="rect">
            <a:avLst/>
          </a:prstGeom>
          <a:noFill/>
          <a:ln>
            <a:noFill/>
          </a:ln>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altLang="zh-CN" sz="2000" b="1" dirty="0">
                <a:ln/>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International Students Insurance</a:t>
            </a:r>
          </a:p>
          <a:p>
            <a:pPr algn="ctr"/>
            <a:r>
              <a:rPr lang="en-US" altLang="zh-CN" sz="2000" b="1" dirty="0">
                <a:ln/>
                <a:solidFill>
                  <a:srgbClr val="FF0000"/>
                </a:solidFill>
                <a:latin typeface="Segoe UI Black" panose="020B0A02040204020203" pitchFamily="34" charset="0"/>
                <a:ea typeface="Segoe UI Black" panose="020B0A02040204020203" pitchFamily="34" charset="0"/>
                <a:cs typeface="Segoe UI Black" panose="020B0A02040204020203" pitchFamily="34" charset="0"/>
              </a:rPr>
              <a:t>Instruction Manuel</a:t>
            </a:r>
            <a:endParaRPr lang="zh-CN" altLang="en-US" sz="2000" b="1" dirty="0">
              <a:ln/>
              <a:solidFill>
                <a:srgbClr val="FF0000"/>
              </a:solidFill>
              <a:latin typeface="Segoe UI Black" panose="020B0A02040204020203" pitchFamily="34" charset="0"/>
              <a:ea typeface="Arial Unicode MS" panose="020B0604020202020204" pitchFamily="34" charset="-122"/>
              <a:cs typeface="Segoe UI Black" panose="020B0A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25"/>
          <p:cNvGrpSpPr/>
          <p:nvPr/>
        </p:nvGrpSpPr>
        <p:grpSpPr>
          <a:xfrm>
            <a:off x="2785065" y="490066"/>
            <a:ext cx="914890" cy="611421"/>
            <a:chOff x="1907704" y="1196752"/>
            <a:chExt cx="936104" cy="951820"/>
          </a:xfrm>
        </p:grpSpPr>
        <p:grpSp>
          <p:nvGrpSpPr>
            <p:cNvPr id="12" name="Group 12"/>
            <p:cNvGrpSpPr>
              <a:grpSpLocks/>
            </p:cNvGrpSpPr>
            <p:nvPr/>
          </p:nvGrpSpPr>
          <p:grpSpPr bwMode="auto">
            <a:xfrm>
              <a:off x="1907704" y="1196752"/>
              <a:ext cx="936104" cy="864095"/>
              <a:chOff x="0" y="-3"/>
              <a:chExt cx="812" cy="833"/>
            </a:xfrm>
          </p:grpSpPr>
          <p:sp>
            <p:nvSpPr>
              <p:cNvPr id="14"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15" name="Picture 12" descr="cir_lighteffect0"/>
              <p:cNvPicPr>
                <a:picLocks noChangeAspect="1" noChangeArrowheads="1"/>
              </p:cNvPicPr>
              <p:nvPr/>
            </p:nvPicPr>
            <p:blipFill>
              <a:blip r:embed="rId2" cstate="print">
                <a:lum bright="18000" contrast="-12000"/>
              </a:blip>
              <a:srcRect/>
              <a:stretch>
                <a:fillRect/>
              </a:stretch>
            </p:blipFill>
            <p:spPr bwMode="auto">
              <a:xfrm>
                <a:off x="52" y="-3"/>
                <a:ext cx="669" cy="670"/>
              </a:xfrm>
              <a:prstGeom prst="rect">
                <a:avLst/>
              </a:prstGeom>
              <a:noFill/>
              <a:ln w="9525">
                <a:noFill/>
                <a:miter lim="800000"/>
                <a:headEnd/>
                <a:tailEnd/>
              </a:ln>
            </p:spPr>
          </p:pic>
        </p:grpSp>
        <p:sp>
          <p:nvSpPr>
            <p:cNvPr id="13" name="TextBox 12"/>
            <p:cNvSpPr txBox="1"/>
            <p:nvPr/>
          </p:nvSpPr>
          <p:spPr>
            <a:xfrm>
              <a:off x="2126987" y="1238233"/>
              <a:ext cx="432048" cy="910339"/>
            </a:xfrm>
            <a:prstGeom prst="rect">
              <a:avLst/>
            </a:prstGeom>
            <a:noFill/>
          </p:spPr>
          <p:txBody>
            <a:bodyPr wrap="square" rtlCol="0">
              <a:spAutoFit/>
            </a:bodyPr>
            <a:lstStyle/>
            <a:p>
              <a:r>
                <a:rPr lang="en-US" altLang="zh-CN" sz="3200" b="1" dirty="0">
                  <a:latin typeface="Arial Black" pitchFamily="34" charset="0"/>
                </a:rPr>
                <a:t>1</a:t>
              </a:r>
              <a:endParaRPr lang="zh-CN" altLang="en-US" sz="3200" b="1" dirty="0">
                <a:latin typeface="Arial Black" pitchFamily="34" charset="0"/>
              </a:endParaRPr>
            </a:p>
          </p:txBody>
        </p:sp>
      </p:grpSp>
      <p:grpSp>
        <p:nvGrpSpPr>
          <p:cNvPr id="21" name="组合 27"/>
          <p:cNvGrpSpPr/>
          <p:nvPr/>
        </p:nvGrpSpPr>
        <p:grpSpPr>
          <a:xfrm>
            <a:off x="2763851" y="1262010"/>
            <a:ext cx="936104" cy="613169"/>
            <a:chOff x="1907704" y="3861048"/>
            <a:chExt cx="936104" cy="954542"/>
          </a:xfrm>
        </p:grpSpPr>
        <p:grpSp>
          <p:nvGrpSpPr>
            <p:cNvPr id="22" name="Group 12"/>
            <p:cNvGrpSpPr>
              <a:grpSpLocks/>
            </p:cNvGrpSpPr>
            <p:nvPr/>
          </p:nvGrpSpPr>
          <p:grpSpPr bwMode="auto">
            <a:xfrm>
              <a:off x="1907704" y="3861048"/>
              <a:ext cx="936104" cy="864095"/>
              <a:chOff x="0" y="-3"/>
              <a:chExt cx="812" cy="833"/>
            </a:xfrm>
          </p:grpSpPr>
          <p:sp>
            <p:nvSpPr>
              <p:cNvPr id="24"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25" name="Picture 12" descr="cir_lighteffect0"/>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23" name="TextBox 22"/>
            <p:cNvSpPr txBox="1"/>
            <p:nvPr/>
          </p:nvSpPr>
          <p:spPr>
            <a:xfrm>
              <a:off x="2143232" y="3905251"/>
              <a:ext cx="432048" cy="910339"/>
            </a:xfrm>
            <a:prstGeom prst="rect">
              <a:avLst/>
            </a:prstGeom>
            <a:noFill/>
          </p:spPr>
          <p:txBody>
            <a:bodyPr wrap="square" rtlCol="0">
              <a:spAutoFit/>
            </a:bodyPr>
            <a:lstStyle/>
            <a:p>
              <a:r>
                <a:rPr lang="en-US" altLang="zh-CN" sz="3200" b="1" dirty="0">
                  <a:latin typeface="Arial Black" pitchFamily="34" charset="0"/>
                </a:rPr>
                <a:t>2</a:t>
              </a:r>
              <a:endParaRPr lang="zh-CN" altLang="en-US" sz="3200" b="1" dirty="0">
                <a:latin typeface="Arial Black" pitchFamily="34" charset="0"/>
              </a:endParaRPr>
            </a:p>
          </p:txBody>
        </p:sp>
      </p:grpSp>
      <p:grpSp>
        <p:nvGrpSpPr>
          <p:cNvPr id="26" name="组合 28"/>
          <p:cNvGrpSpPr/>
          <p:nvPr/>
        </p:nvGrpSpPr>
        <p:grpSpPr>
          <a:xfrm>
            <a:off x="2775284" y="3494258"/>
            <a:ext cx="936104" cy="590914"/>
            <a:chOff x="1907704" y="5229200"/>
            <a:chExt cx="936104" cy="919896"/>
          </a:xfrm>
        </p:grpSpPr>
        <p:grpSp>
          <p:nvGrpSpPr>
            <p:cNvPr id="27" name="Group 12"/>
            <p:cNvGrpSpPr>
              <a:grpSpLocks/>
            </p:cNvGrpSpPr>
            <p:nvPr/>
          </p:nvGrpSpPr>
          <p:grpSpPr bwMode="auto">
            <a:xfrm>
              <a:off x="1907704" y="5229200"/>
              <a:ext cx="936104" cy="864095"/>
              <a:chOff x="0" y="-3"/>
              <a:chExt cx="812" cy="833"/>
            </a:xfrm>
          </p:grpSpPr>
          <p:sp>
            <p:nvSpPr>
              <p:cNvPr id="29"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30" name="Picture 12" descr="cir_lighteffect0"/>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28" name="TextBox 24"/>
            <p:cNvSpPr txBox="1"/>
            <p:nvPr/>
          </p:nvSpPr>
          <p:spPr>
            <a:xfrm>
              <a:off x="2143232" y="5238757"/>
              <a:ext cx="432048" cy="910339"/>
            </a:xfrm>
            <a:prstGeom prst="rect">
              <a:avLst/>
            </a:prstGeom>
            <a:noFill/>
          </p:spPr>
          <p:txBody>
            <a:bodyPr wrap="square" rtlCol="0">
              <a:spAutoFit/>
            </a:bodyPr>
            <a:lstStyle/>
            <a:p>
              <a:r>
                <a:rPr lang="en-US" altLang="zh-CN" sz="3200" b="1" dirty="0">
                  <a:latin typeface="Arial Black" pitchFamily="34" charset="0"/>
                </a:rPr>
                <a:t>5</a:t>
              </a:r>
              <a:endParaRPr lang="zh-CN" altLang="en-US" sz="3200" b="1" dirty="0">
                <a:latin typeface="Arial Black" pitchFamily="34" charset="0"/>
              </a:endParaRPr>
            </a:p>
          </p:txBody>
        </p:sp>
      </p:grpSp>
      <p:grpSp>
        <p:nvGrpSpPr>
          <p:cNvPr id="32" name="组合 28"/>
          <p:cNvGrpSpPr/>
          <p:nvPr/>
        </p:nvGrpSpPr>
        <p:grpSpPr>
          <a:xfrm>
            <a:off x="2763851" y="1982090"/>
            <a:ext cx="936104" cy="590914"/>
            <a:chOff x="1907704" y="5229200"/>
            <a:chExt cx="936104" cy="919896"/>
          </a:xfrm>
        </p:grpSpPr>
        <p:grpSp>
          <p:nvGrpSpPr>
            <p:cNvPr id="33" name="Group 12"/>
            <p:cNvGrpSpPr>
              <a:grpSpLocks/>
            </p:cNvGrpSpPr>
            <p:nvPr/>
          </p:nvGrpSpPr>
          <p:grpSpPr bwMode="auto">
            <a:xfrm>
              <a:off x="1907704" y="5229200"/>
              <a:ext cx="936104" cy="864095"/>
              <a:chOff x="0" y="-3"/>
              <a:chExt cx="812" cy="833"/>
            </a:xfrm>
          </p:grpSpPr>
          <p:sp>
            <p:nvSpPr>
              <p:cNvPr id="35"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36" name="Picture 12" descr="cir_lighteffect0"/>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34" name="TextBox 24"/>
            <p:cNvSpPr txBox="1"/>
            <p:nvPr/>
          </p:nvSpPr>
          <p:spPr>
            <a:xfrm>
              <a:off x="2143232" y="5238757"/>
              <a:ext cx="432048" cy="910339"/>
            </a:xfrm>
            <a:prstGeom prst="rect">
              <a:avLst/>
            </a:prstGeom>
            <a:noFill/>
          </p:spPr>
          <p:txBody>
            <a:bodyPr wrap="square" rtlCol="0">
              <a:spAutoFit/>
            </a:bodyPr>
            <a:lstStyle/>
            <a:p>
              <a:r>
                <a:rPr lang="en-US" altLang="zh-CN" sz="3200" b="1" dirty="0">
                  <a:latin typeface="Arial Black" pitchFamily="34" charset="0"/>
                </a:rPr>
                <a:t>3</a:t>
              </a:r>
              <a:endParaRPr lang="zh-CN" altLang="en-US" sz="3200" b="1" dirty="0">
                <a:latin typeface="Arial Black" pitchFamily="34" charset="0"/>
              </a:endParaRPr>
            </a:p>
          </p:txBody>
        </p:sp>
      </p:grpSp>
      <p:pic>
        <p:nvPicPr>
          <p:cNvPr id="38" name="Picture 2" descr="C:\Users\iamisis\Desktop\崔老师的PPT\培训0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420" y="1282042"/>
            <a:ext cx="2411760" cy="2001414"/>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组合 28"/>
          <p:cNvGrpSpPr/>
          <p:nvPr/>
        </p:nvGrpSpPr>
        <p:grpSpPr>
          <a:xfrm>
            <a:off x="2763851" y="4213084"/>
            <a:ext cx="936104" cy="590914"/>
            <a:chOff x="1907704" y="5229200"/>
            <a:chExt cx="936104" cy="919896"/>
          </a:xfrm>
        </p:grpSpPr>
        <p:grpSp>
          <p:nvGrpSpPr>
            <p:cNvPr id="39" name="Group 12"/>
            <p:cNvGrpSpPr>
              <a:grpSpLocks/>
            </p:cNvGrpSpPr>
            <p:nvPr/>
          </p:nvGrpSpPr>
          <p:grpSpPr bwMode="auto">
            <a:xfrm>
              <a:off x="1907704" y="5229200"/>
              <a:ext cx="936104" cy="864095"/>
              <a:chOff x="0" y="-3"/>
              <a:chExt cx="812" cy="833"/>
            </a:xfrm>
          </p:grpSpPr>
          <p:sp>
            <p:nvSpPr>
              <p:cNvPr id="41"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42" name="Picture 12" descr="cir_lighteffect0"/>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40" name="TextBox 24"/>
            <p:cNvSpPr txBox="1"/>
            <p:nvPr/>
          </p:nvSpPr>
          <p:spPr>
            <a:xfrm>
              <a:off x="2143232" y="5238757"/>
              <a:ext cx="432048" cy="910339"/>
            </a:xfrm>
            <a:prstGeom prst="rect">
              <a:avLst/>
            </a:prstGeom>
            <a:noFill/>
          </p:spPr>
          <p:txBody>
            <a:bodyPr wrap="square" rtlCol="0">
              <a:spAutoFit/>
            </a:bodyPr>
            <a:lstStyle/>
            <a:p>
              <a:r>
                <a:rPr lang="en-US" altLang="zh-CN" sz="3200" b="1" dirty="0">
                  <a:latin typeface="Arial Black" pitchFamily="34" charset="0"/>
                </a:rPr>
                <a:t>6</a:t>
              </a:r>
              <a:endParaRPr lang="zh-CN" altLang="en-US" sz="3200" b="1" dirty="0">
                <a:latin typeface="Arial Black" pitchFamily="34" charset="0"/>
              </a:endParaRPr>
            </a:p>
          </p:txBody>
        </p:sp>
      </p:grpSp>
      <p:grpSp>
        <p:nvGrpSpPr>
          <p:cNvPr id="46" name="组合 28">
            <a:extLst>
              <a:ext uri="{FF2B5EF4-FFF2-40B4-BE49-F238E27FC236}">
                <a16:creationId xmlns:a16="http://schemas.microsoft.com/office/drawing/2014/main" id="{BAE64DBC-2C5F-2248-38FC-9E5219C533EA}"/>
              </a:ext>
            </a:extLst>
          </p:cNvPr>
          <p:cNvGrpSpPr/>
          <p:nvPr/>
        </p:nvGrpSpPr>
        <p:grpSpPr>
          <a:xfrm>
            <a:off x="2769630" y="2702170"/>
            <a:ext cx="936104" cy="590914"/>
            <a:chOff x="1907704" y="5229200"/>
            <a:chExt cx="936104" cy="919896"/>
          </a:xfrm>
        </p:grpSpPr>
        <p:grpSp>
          <p:nvGrpSpPr>
            <p:cNvPr id="47" name="Group 12">
              <a:extLst>
                <a:ext uri="{FF2B5EF4-FFF2-40B4-BE49-F238E27FC236}">
                  <a16:creationId xmlns:a16="http://schemas.microsoft.com/office/drawing/2014/main" id="{04B94C0A-C578-FB2C-84CC-652051E8DE0D}"/>
                </a:ext>
              </a:extLst>
            </p:cNvPr>
            <p:cNvGrpSpPr>
              <a:grpSpLocks/>
            </p:cNvGrpSpPr>
            <p:nvPr/>
          </p:nvGrpSpPr>
          <p:grpSpPr bwMode="auto">
            <a:xfrm>
              <a:off x="1907704" y="5229200"/>
              <a:ext cx="936104" cy="864095"/>
              <a:chOff x="0" y="-3"/>
              <a:chExt cx="812" cy="833"/>
            </a:xfrm>
          </p:grpSpPr>
          <p:sp>
            <p:nvSpPr>
              <p:cNvPr id="49" name="Oval 11">
                <a:extLst>
                  <a:ext uri="{FF2B5EF4-FFF2-40B4-BE49-F238E27FC236}">
                    <a16:creationId xmlns:a16="http://schemas.microsoft.com/office/drawing/2014/main" id="{DBF37B1A-2776-26EA-2297-450E3504DACB}"/>
                  </a:ext>
                </a:extLst>
              </p:cNvPr>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50" name="Picture 12" descr="cir_lighteffect0">
                <a:extLst>
                  <a:ext uri="{FF2B5EF4-FFF2-40B4-BE49-F238E27FC236}">
                    <a16:creationId xmlns:a16="http://schemas.microsoft.com/office/drawing/2014/main" id="{739E1A0C-293C-5BC1-48FC-7D82224FC9FA}"/>
                  </a:ext>
                </a:extLst>
              </p:cNvPr>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48" name="TextBox 24">
              <a:extLst>
                <a:ext uri="{FF2B5EF4-FFF2-40B4-BE49-F238E27FC236}">
                  <a16:creationId xmlns:a16="http://schemas.microsoft.com/office/drawing/2014/main" id="{483051B6-E809-4C74-C2F8-50D0467C0506}"/>
                </a:ext>
              </a:extLst>
            </p:cNvPr>
            <p:cNvSpPr txBox="1"/>
            <p:nvPr/>
          </p:nvSpPr>
          <p:spPr>
            <a:xfrm>
              <a:off x="2143232" y="5238757"/>
              <a:ext cx="432048" cy="910339"/>
            </a:xfrm>
            <a:prstGeom prst="rect">
              <a:avLst/>
            </a:prstGeom>
            <a:noFill/>
          </p:spPr>
          <p:txBody>
            <a:bodyPr wrap="square" rtlCol="0">
              <a:spAutoFit/>
            </a:bodyPr>
            <a:lstStyle/>
            <a:p>
              <a:r>
                <a:rPr lang="en-US" altLang="zh-CN" sz="3200" b="1" dirty="0">
                  <a:latin typeface="Arial Black" pitchFamily="34" charset="0"/>
                </a:rPr>
                <a:t>4</a:t>
              </a:r>
              <a:endParaRPr lang="zh-CN" altLang="en-US" sz="3200" b="1" dirty="0">
                <a:latin typeface="Arial Black" pitchFamily="34" charset="0"/>
              </a:endParaRPr>
            </a:p>
          </p:txBody>
        </p:sp>
      </p:grpSp>
      <p:sp>
        <p:nvSpPr>
          <p:cNvPr id="2" name="矩形 1"/>
          <p:cNvSpPr/>
          <p:nvPr/>
        </p:nvSpPr>
        <p:spPr>
          <a:xfrm>
            <a:off x="3942627" y="4326944"/>
            <a:ext cx="1726755" cy="369332"/>
          </a:xfrm>
          <a:prstGeom prst="rect">
            <a:avLst/>
          </a:prstGeom>
        </p:spPr>
        <p:txBody>
          <a:bodyPr wrap="none">
            <a:spAutoFit/>
          </a:bodyPr>
          <a:lstStyle/>
          <a:p>
            <a:r>
              <a:rPr lang="zh-CN" altLang="en-US" b="1" dirty="0">
                <a:latin typeface="微软雅黑" pitchFamily="34" charset="-122"/>
                <a:ea typeface="微软雅黑" pitchFamily="34" charset="-122"/>
              </a:rPr>
              <a:t>保险提示  </a:t>
            </a:r>
            <a:r>
              <a:rPr lang="en-US" altLang="zh-CN" b="1" dirty="0">
                <a:latin typeface="微软雅黑" pitchFamily="34" charset="-122"/>
                <a:ea typeface="微软雅黑" pitchFamily="34" charset="-122"/>
              </a:rPr>
              <a:t>Tips</a:t>
            </a:r>
            <a:endParaRPr lang="zh-CN" altLang="en-US" b="1" dirty="0">
              <a:latin typeface="微软雅黑" pitchFamily="34" charset="-122"/>
              <a:ea typeface="微软雅黑" pitchFamily="34" charset="-122"/>
            </a:endParaRPr>
          </a:p>
        </p:txBody>
      </p:sp>
      <p:sp>
        <p:nvSpPr>
          <p:cNvPr id="3" name="矩形 2"/>
          <p:cNvSpPr/>
          <p:nvPr/>
        </p:nvSpPr>
        <p:spPr>
          <a:xfrm>
            <a:off x="3899049" y="3532819"/>
            <a:ext cx="4139146" cy="369332"/>
          </a:xfrm>
          <a:prstGeom prst="rect">
            <a:avLst/>
          </a:prstGeom>
        </p:spPr>
        <p:txBody>
          <a:bodyPr wrap="none">
            <a:spAutoFit/>
          </a:bodyPr>
          <a:lstStyle/>
          <a:p>
            <a:r>
              <a:rPr lang="zh-CN" altLang="en-US" b="1" dirty="0">
                <a:latin typeface="微软雅黑" pitchFamily="34" charset="-122"/>
                <a:ea typeface="微软雅黑" pitchFamily="34" charset="-122"/>
              </a:rPr>
              <a:t>理赔案例  </a:t>
            </a:r>
            <a:r>
              <a:rPr lang="en-US" altLang="zh-CN" b="1" dirty="0">
                <a:latin typeface="微软雅黑" pitchFamily="34" charset="-122"/>
                <a:ea typeface="微软雅黑" pitchFamily="34" charset="-122"/>
              </a:rPr>
              <a:t>Reimbursement Example</a:t>
            </a:r>
            <a:endParaRPr lang="zh-CN" altLang="en-US" b="1" dirty="0">
              <a:latin typeface="微软雅黑" pitchFamily="34" charset="-122"/>
              <a:ea typeface="微软雅黑" pitchFamily="34" charset="-122"/>
            </a:endParaRPr>
          </a:p>
        </p:txBody>
      </p:sp>
      <p:sp>
        <p:nvSpPr>
          <p:cNvPr id="4" name="矩形 3"/>
          <p:cNvSpPr/>
          <p:nvPr/>
        </p:nvSpPr>
        <p:spPr>
          <a:xfrm>
            <a:off x="3918198" y="2848294"/>
            <a:ext cx="4709238" cy="646331"/>
          </a:xfrm>
          <a:prstGeom prst="rect">
            <a:avLst/>
          </a:prstGeom>
        </p:spPr>
        <p:txBody>
          <a:bodyPr wrap="none">
            <a:spAutoFit/>
          </a:bodyPr>
          <a:lstStyle/>
          <a:p>
            <a:r>
              <a:rPr lang="zh-CN" altLang="en-US" b="1" dirty="0">
                <a:latin typeface="微软雅黑" pitchFamily="34" charset="-122"/>
                <a:ea typeface="微软雅黑" pitchFamily="34" charset="-122"/>
              </a:rPr>
              <a:t>投保流程与信息查询 </a:t>
            </a:r>
            <a:r>
              <a:rPr lang="en-US" altLang="zh-CN" b="1" dirty="0">
                <a:latin typeface="微软雅黑" pitchFamily="34" charset="-122"/>
                <a:ea typeface="微软雅黑" pitchFamily="34" charset="-122"/>
              </a:rPr>
              <a:t>Buy Insurance </a:t>
            </a:r>
          </a:p>
          <a:p>
            <a:r>
              <a:rPr lang="en-US" altLang="zh-CN" b="1" dirty="0">
                <a:latin typeface="微软雅黑" pitchFamily="34" charset="-122"/>
                <a:ea typeface="微软雅黑" pitchFamily="34" charset="-122"/>
              </a:rPr>
              <a:t>                              &amp; Information Query</a:t>
            </a:r>
            <a:endParaRPr lang="zh-CN" altLang="en-US" b="1" dirty="0">
              <a:latin typeface="微软雅黑" pitchFamily="34" charset="-122"/>
              <a:ea typeface="微软雅黑" pitchFamily="34" charset="-122"/>
            </a:endParaRPr>
          </a:p>
        </p:txBody>
      </p:sp>
      <p:sp>
        <p:nvSpPr>
          <p:cNvPr id="5" name="矩形 4"/>
          <p:cNvSpPr/>
          <p:nvPr/>
        </p:nvSpPr>
        <p:spPr>
          <a:xfrm>
            <a:off x="3895626" y="2095950"/>
            <a:ext cx="3705438" cy="369332"/>
          </a:xfrm>
          <a:prstGeom prst="rect">
            <a:avLst/>
          </a:prstGeom>
        </p:spPr>
        <p:txBody>
          <a:bodyPr wrap="none">
            <a:spAutoFit/>
          </a:bodyPr>
          <a:lstStyle/>
          <a:p>
            <a:r>
              <a:rPr lang="zh-CN" altLang="en-US" b="1" dirty="0">
                <a:latin typeface="微软雅黑" pitchFamily="34" charset="-122"/>
                <a:ea typeface="微软雅黑" pitchFamily="34" charset="-122"/>
              </a:rPr>
              <a:t>使用方法  </a:t>
            </a:r>
            <a:r>
              <a:rPr lang="en-US" altLang="zh-CN" b="1" dirty="0">
                <a:latin typeface="微软雅黑" pitchFamily="34" charset="-122"/>
                <a:ea typeface="微软雅黑" pitchFamily="34" charset="-122"/>
              </a:rPr>
              <a:t>Insurance Instruction</a:t>
            </a:r>
            <a:endParaRPr lang="zh-CN" altLang="en-US" b="1" dirty="0">
              <a:latin typeface="微软雅黑" pitchFamily="34" charset="-122"/>
              <a:ea typeface="微软雅黑" pitchFamily="34" charset="-122"/>
            </a:endParaRPr>
          </a:p>
        </p:txBody>
      </p:sp>
      <p:sp>
        <p:nvSpPr>
          <p:cNvPr id="6" name="矩形 5"/>
          <p:cNvSpPr/>
          <p:nvPr/>
        </p:nvSpPr>
        <p:spPr>
          <a:xfrm>
            <a:off x="3864198" y="1398126"/>
            <a:ext cx="4901607" cy="369332"/>
          </a:xfrm>
          <a:prstGeom prst="rect">
            <a:avLst/>
          </a:prstGeom>
        </p:spPr>
        <p:txBody>
          <a:bodyPr wrap="square">
            <a:spAutoFit/>
          </a:bodyPr>
          <a:lstStyle/>
          <a:p>
            <a:r>
              <a:rPr lang="zh-CN" altLang="en-US" b="1" dirty="0">
                <a:latin typeface="微软雅黑" pitchFamily="34" charset="-122"/>
                <a:ea typeface="微软雅黑" pitchFamily="34" charset="-122"/>
              </a:rPr>
              <a:t>保险理赔  </a:t>
            </a:r>
            <a:r>
              <a:rPr lang="en-US" altLang="zh-CN" b="1" dirty="0">
                <a:latin typeface="微软雅黑" pitchFamily="34" charset="-122"/>
                <a:ea typeface="微软雅黑" pitchFamily="34" charset="-122"/>
              </a:rPr>
              <a:t>Insurance Reimbursement</a:t>
            </a:r>
            <a:endParaRPr lang="zh-CN" altLang="en-US" b="1" dirty="0">
              <a:latin typeface="微软雅黑" pitchFamily="34" charset="-122"/>
              <a:ea typeface="微软雅黑" pitchFamily="34" charset="-122"/>
            </a:endParaRPr>
          </a:p>
        </p:txBody>
      </p:sp>
      <p:sp>
        <p:nvSpPr>
          <p:cNvPr id="8" name="矩形 7"/>
          <p:cNvSpPr/>
          <p:nvPr/>
        </p:nvSpPr>
        <p:spPr>
          <a:xfrm>
            <a:off x="3895626" y="593263"/>
            <a:ext cx="2233304" cy="369332"/>
          </a:xfrm>
          <a:prstGeom prst="rect">
            <a:avLst/>
          </a:prstGeom>
        </p:spPr>
        <p:txBody>
          <a:bodyPr wrap="none">
            <a:spAutoFit/>
          </a:bodyPr>
          <a:lstStyle/>
          <a:p>
            <a:r>
              <a:rPr lang="zh-CN" altLang="en-US" b="1" dirty="0">
                <a:latin typeface="微软雅黑" pitchFamily="34" charset="-122"/>
                <a:ea typeface="微软雅黑" pitchFamily="34" charset="-122"/>
              </a:rPr>
              <a:t>保险责任</a:t>
            </a:r>
            <a:r>
              <a:rPr lang="en-US" altLang="zh-CN" b="1" dirty="0">
                <a:latin typeface="微软雅黑" pitchFamily="34" charset="-122"/>
                <a:ea typeface="微软雅黑" pitchFamily="34" charset="-122"/>
              </a:rPr>
              <a:t>   Liability</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39648768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十字星 38"/>
          <p:cNvSpPr/>
          <p:nvPr/>
        </p:nvSpPr>
        <p:spPr>
          <a:xfrm>
            <a:off x="1475656" y="1059582"/>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十字星 39"/>
          <p:cNvSpPr/>
          <p:nvPr/>
        </p:nvSpPr>
        <p:spPr>
          <a:xfrm>
            <a:off x="1475656" y="3291830"/>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8"/>
          <p:cNvSpPr>
            <a:spLocks noChangeArrowheads="1"/>
          </p:cNvSpPr>
          <p:nvPr/>
        </p:nvSpPr>
        <p:spPr bwMode="auto">
          <a:xfrm>
            <a:off x="3554198" y="2071735"/>
            <a:ext cx="3941060" cy="461665"/>
          </a:xfrm>
          <a:prstGeom prst="rect">
            <a:avLst/>
          </a:prstGeom>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b="1" dirty="0">
                <a:latin typeface="微软雅黑" pitchFamily="34" charset="-122"/>
                <a:ea typeface="微软雅黑" pitchFamily="34" charset="-122"/>
              </a:rPr>
              <a:t>  保险责任</a:t>
            </a:r>
            <a:r>
              <a:rPr lang="en-US" altLang="zh-CN" sz="2400" b="1" dirty="0">
                <a:latin typeface="微软雅黑" pitchFamily="34" charset="-122"/>
                <a:ea typeface="微软雅黑" pitchFamily="34" charset="-122"/>
              </a:rPr>
              <a:t>   </a:t>
            </a:r>
            <a:r>
              <a:rPr lang="en-US" altLang="zh-CN" b="1" dirty="0">
                <a:latin typeface="微软雅黑" pitchFamily="34" charset="-122"/>
                <a:ea typeface="微软雅黑" pitchFamily="34" charset="-122"/>
              </a:rPr>
              <a:t>Liability</a:t>
            </a:r>
            <a:endParaRPr lang="zh-CN" altLang="en-US" b="1" dirty="0">
              <a:latin typeface="微软雅黑" pitchFamily="34" charset="-122"/>
              <a:ea typeface="微软雅黑" pitchFamily="34" charset="-122"/>
            </a:endParaRPr>
          </a:p>
        </p:txBody>
      </p:sp>
      <p:grpSp>
        <p:nvGrpSpPr>
          <p:cNvPr id="12" name="组合 25"/>
          <p:cNvGrpSpPr/>
          <p:nvPr/>
        </p:nvGrpSpPr>
        <p:grpSpPr>
          <a:xfrm>
            <a:off x="2339752" y="2104345"/>
            <a:ext cx="914890" cy="611421"/>
            <a:chOff x="1907704" y="1196752"/>
            <a:chExt cx="936104" cy="951820"/>
          </a:xfrm>
        </p:grpSpPr>
        <p:grpSp>
          <p:nvGrpSpPr>
            <p:cNvPr id="13" name="Group 12"/>
            <p:cNvGrpSpPr>
              <a:grpSpLocks/>
            </p:cNvGrpSpPr>
            <p:nvPr/>
          </p:nvGrpSpPr>
          <p:grpSpPr bwMode="auto">
            <a:xfrm>
              <a:off x="1907704" y="1196752"/>
              <a:ext cx="936104" cy="864095"/>
              <a:chOff x="0" y="-3"/>
              <a:chExt cx="812" cy="833"/>
            </a:xfrm>
          </p:grpSpPr>
          <p:sp>
            <p:nvSpPr>
              <p:cNvPr id="15"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16" name="Picture 12" descr="cir_lighteffect0"/>
              <p:cNvPicPr>
                <a:picLocks noChangeAspect="1" noChangeArrowheads="1"/>
              </p:cNvPicPr>
              <p:nvPr/>
            </p:nvPicPr>
            <p:blipFill>
              <a:blip r:embed="rId2" cstate="print">
                <a:lum bright="18000" contrast="-12000"/>
              </a:blip>
              <a:srcRect/>
              <a:stretch>
                <a:fillRect/>
              </a:stretch>
            </p:blipFill>
            <p:spPr bwMode="auto">
              <a:xfrm>
                <a:off x="52" y="-3"/>
                <a:ext cx="669" cy="670"/>
              </a:xfrm>
              <a:prstGeom prst="rect">
                <a:avLst/>
              </a:prstGeom>
              <a:noFill/>
              <a:ln w="9525">
                <a:noFill/>
                <a:miter lim="800000"/>
                <a:headEnd/>
                <a:tailEnd/>
              </a:ln>
            </p:spPr>
          </p:pic>
        </p:grpSp>
        <p:sp>
          <p:nvSpPr>
            <p:cNvPr id="14" name="TextBox 13"/>
            <p:cNvSpPr txBox="1"/>
            <p:nvPr/>
          </p:nvSpPr>
          <p:spPr>
            <a:xfrm>
              <a:off x="2126987" y="1238233"/>
              <a:ext cx="432048" cy="910339"/>
            </a:xfrm>
            <a:prstGeom prst="rect">
              <a:avLst/>
            </a:prstGeom>
            <a:noFill/>
          </p:spPr>
          <p:txBody>
            <a:bodyPr wrap="square" rtlCol="0">
              <a:spAutoFit/>
            </a:bodyPr>
            <a:lstStyle/>
            <a:p>
              <a:r>
                <a:rPr lang="en-US" altLang="zh-CN" sz="3200" b="1" dirty="0">
                  <a:latin typeface="Arial Black" pitchFamily="34" charset="0"/>
                </a:rPr>
                <a:t>1</a:t>
              </a:r>
              <a:endParaRPr lang="zh-CN" altLang="en-US" sz="3200" b="1" dirty="0">
                <a:latin typeface="Arial Black"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285121694"/>
              </p:ext>
            </p:extLst>
          </p:nvPr>
        </p:nvGraphicFramePr>
        <p:xfrm>
          <a:off x="1115616" y="1027734"/>
          <a:ext cx="7056784" cy="3704257"/>
        </p:xfrm>
        <a:graphic>
          <a:graphicData uri="http://schemas.openxmlformats.org/drawingml/2006/table">
            <a:tbl>
              <a:tblPr>
                <a:tableStyleId>{8799B23B-EC83-4686-B30A-512413B5E67A}</a:tableStyleId>
              </a:tblPr>
              <a:tblGrid>
                <a:gridCol w="3385207">
                  <a:extLst>
                    <a:ext uri="{9D8B030D-6E8A-4147-A177-3AD203B41FA5}">
                      <a16:colId xmlns:a16="http://schemas.microsoft.com/office/drawing/2014/main" val="20000"/>
                    </a:ext>
                  </a:extLst>
                </a:gridCol>
                <a:gridCol w="3671577">
                  <a:extLst>
                    <a:ext uri="{9D8B030D-6E8A-4147-A177-3AD203B41FA5}">
                      <a16:colId xmlns:a16="http://schemas.microsoft.com/office/drawing/2014/main" val="20001"/>
                    </a:ext>
                  </a:extLst>
                </a:gridCol>
              </a:tblGrid>
              <a:tr h="38475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100" u="none" strike="noStrike" kern="1200" dirty="0">
                        <a:solidFill>
                          <a:schemeClr val="dk1"/>
                        </a:solidFill>
                        <a:effectLst/>
                        <a:latin typeface="+mn-lt"/>
                        <a:ea typeface="+mn-ea"/>
                        <a:cs typeface="+mn-cs"/>
                      </a:endParaRPr>
                    </a:p>
                  </a:txBody>
                  <a:tcPr marL="7760" marR="7760" marT="776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100" b="1" u="none" strike="noStrike" kern="1200" dirty="0">
                          <a:solidFill>
                            <a:srgbClr val="000000"/>
                          </a:solidFill>
                          <a:effectLst/>
                        </a:rPr>
                        <a:t>800</a:t>
                      </a:r>
                      <a:r>
                        <a:rPr lang="zh-CN" altLang="en-US" sz="1100" b="1" u="none" strike="noStrike" kern="1200" dirty="0">
                          <a:solidFill>
                            <a:srgbClr val="000000"/>
                          </a:solidFill>
                          <a:effectLst/>
                        </a:rPr>
                        <a:t>元方案</a:t>
                      </a:r>
                      <a:endParaRPr lang="en-US" altLang="zh-CN" sz="1100" b="1" u="none" strike="noStrike" kern="1200" dirty="0">
                        <a:solidFill>
                          <a:srgbClr val="000000"/>
                        </a:solidFill>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100" b="1" u="none" strike="noStrike" kern="1200" dirty="0">
                          <a:solidFill>
                            <a:srgbClr val="000000"/>
                          </a:solidFill>
                          <a:effectLst/>
                        </a:rPr>
                        <a:t>Plan 800</a:t>
                      </a:r>
                      <a:endParaRPr lang="en-US" altLang="zh-CN" sz="1100" b="1" i="0" u="none" strike="noStrike" dirty="0">
                        <a:solidFill>
                          <a:srgbClr val="000000"/>
                        </a:solidFill>
                        <a:effectLst/>
                        <a:latin typeface="微软雅黑"/>
                      </a:endParaRPr>
                    </a:p>
                  </a:txBody>
                  <a:tcPr marL="7760" marR="7760" marT="7760" marB="0" anchor="ctr"/>
                </a:tc>
                <a:extLst>
                  <a:ext uri="{0D108BD9-81ED-4DB2-BD59-A6C34878D82A}">
                    <a16:rowId xmlns:a16="http://schemas.microsoft.com/office/drawing/2014/main" val="10000"/>
                  </a:ext>
                </a:extLst>
              </a:tr>
              <a:tr h="36263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CN" altLang="en-US" sz="1100" b="1" u="none" strike="noStrike" dirty="0">
                          <a:solidFill>
                            <a:srgbClr val="000000"/>
                          </a:solidFill>
                          <a:effectLst/>
                        </a:rPr>
                        <a:t>保障项目 </a:t>
                      </a:r>
                      <a:r>
                        <a:rPr lang="en-US" altLang="zh-CN" sz="1100" u="none" strike="noStrike" kern="1200" dirty="0">
                          <a:solidFill>
                            <a:schemeClr val="dk1"/>
                          </a:solidFill>
                          <a:effectLst/>
                        </a:rPr>
                        <a:t>Coverage</a:t>
                      </a:r>
                      <a:endParaRPr lang="en-US" sz="1100" u="none" strike="noStrike" kern="1200" dirty="0">
                        <a:solidFill>
                          <a:schemeClr val="dk1"/>
                        </a:solidFill>
                        <a:effectLst/>
                        <a:latin typeface="+mn-lt"/>
                        <a:ea typeface="+mn-ea"/>
                        <a:cs typeface="+mn-cs"/>
                      </a:endParaRPr>
                    </a:p>
                  </a:txBody>
                  <a:tcPr marL="7760" marR="7760" marT="776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100" b="1" u="none" strike="noStrike" kern="1200" dirty="0">
                          <a:solidFill>
                            <a:srgbClr val="000000"/>
                          </a:solidFill>
                          <a:effectLst/>
                        </a:rPr>
                        <a:t>保险金额</a:t>
                      </a:r>
                      <a:r>
                        <a:rPr lang="en-US" altLang="zh-CN" sz="1100" b="1" u="none" strike="noStrike" dirty="0">
                          <a:solidFill>
                            <a:srgbClr val="000000"/>
                          </a:solidFill>
                          <a:effectLst/>
                        </a:rPr>
                        <a:t>Insurance Amount(RMB)</a:t>
                      </a:r>
                      <a:endParaRPr lang="en-US" altLang="zh-CN" sz="1100" b="1" i="0" u="none" strike="noStrike" dirty="0">
                        <a:solidFill>
                          <a:srgbClr val="000000"/>
                        </a:solidFill>
                        <a:effectLst/>
                        <a:latin typeface="微软雅黑"/>
                      </a:endParaRPr>
                    </a:p>
                  </a:txBody>
                  <a:tcPr marL="7760" marR="7760" marT="7760" marB="0" anchor="ctr"/>
                </a:tc>
                <a:extLst>
                  <a:ext uri="{0D108BD9-81ED-4DB2-BD59-A6C34878D82A}">
                    <a16:rowId xmlns:a16="http://schemas.microsoft.com/office/drawing/2014/main" val="854671015"/>
                  </a:ext>
                </a:extLst>
              </a:tr>
              <a:tr h="384751">
                <a:tc>
                  <a:txBody>
                    <a:bodyPr/>
                    <a:lstStyle/>
                    <a:p>
                      <a:pPr algn="ctr" rtl="0" fontAlgn="ctr"/>
                      <a:r>
                        <a:rPr lang="zh-CN" altLang="en-US" sz="1100" b="1" u="none" strike="noStrike" kern="1200" dirty="0">
                          <a:solidFill>
                            <a:srgbClr val="000000"/>
                          </a:solidFill>
                          <a:effectLst/>
                        </a:rPr>
                        <a:t>身故</a:t>
                      </a:r>
                      <a:r>
                        <a:rPr lang="en-US" altLang="zh-CN" sz="1100" b="1" u="none" strike="noStrike" kern="1200" dirty="0">
                          <a:solidFill>
                            <a:srgbClr val="000000"/>
                          </a:solidFill>
                          <a:effectLst/>
                        </a:rPr>
                        <a:t>/</a:t>
                      </a:r>
                      <a:r>
                        <a:rPr lang="zh-CN" altLang="en-US" sz="1100" b="1" u="none" strike="noStrike" kern="1200" dirty="0">
                          <a:solidFill>
                            <a:srgbClr val="000000"/>
                          </a:solidFill>
                          <a:effectLst/>
                        </a:rPr>
                        <a:t>意外伤残保险责任</a:t>
                      </a:r>
                      <a:br>
                        <a:rPr lang="zh-CN" altLang="en-US" sz="1100" b="1" u="none" strike="noStrike" kern="1200" dirty="0">
                          <a:solidFill>
                            <a:srgbClr val="000000"/>
                          </a:solidFill>
                          <a:effectLst/>
                        </a:rPr>
                      </a:br>
                      <a:r>
                        <a:rPr lang="en-US" sz="1100" u="none" strike="noStrike" dirty="0">
                          <a:effectLst/>
                        </a:rPr>
                        <a:t>Death/Accidental</a:t>
                      </a:r>
                      <a:r>
                        <a:rPr lang="en-US" sz="1100" u="none" strike="noStrike" baseline="0" dirty="0">
                          <a:effectLst/>
                        </a:rPr>
                        <a:t> disability</a:t>
                      </a:r>
                      <a:endParaRPr lang="en-US" sz="1100" b="1" i="0" u="none" strike="noStrike" dirty="0">
                        <a:solidFill>
                          <a:srgbClr val="000000"/>
                        </a:solidFill>
                        <a:effectLst/>
                        <a:latin typeface="Calibri"/>
                      </a:endParaRPr>
                    </a:p>
                  </a:txBody>
                  <a:tcPr marL="7760" marR="7760" marT="7760" marB="0" anchor="ctr"/>
                </a:tc>
                <a:tc>
                  <a:txBody>
                    <a:bodyPr/>
                    <a:lstStyle/>
                    <a:p>
                      <a:pPr algn="ctr" rtl="0" fontAlgn="ctr"/>
                      <a:r>
                        <a:rPr lang="en-US" altLang="zh-CN" sz="1100" b="1" u="none" strike="noStrike" dirty="0">
                          <a:solidFill>
                            <a:srgbClr val="000000"/>
                          </a:solidFill>
                          <a:effectLst/>
                        </a:rPr>
                        <a:t>100,000</a:t>
                      </a:r>
                      <a:endParaRPr lang="en-US" altLang="zh-CN" sz="1100" b="1" i="0" u="none" strike="noStrike" dirty="0">
                        <a:solidFill>
                          <a:srgbClr val="000000"/>
                        </a:solidFill>
                        <a:effectLst/>
                        <a:latin typeface="微软雅黑"/>
                      </a:endParaRPr>
                    </a:p>
                  </a:txBody>
                  <a:tcPr marL="7760" marR="7760" marT="7760" marB="0" anchor="ctr"/>
                </a:tc>
                <a:extLst>
                  <a:ext uri="{0D108BD9-81ED-4DB2-BD59-A6C34878D82A}">
                    <a16:rowId xmlns:a16="http://schemas.microsoft.com/office/drawing/2014/main" val="10001"/>
                  </a:ext>
                </a:extLst>
              </a:tr>
              <a:tr h="559893">
                <a:tc>
                  <a:txBody>
                    <a:bodyPr/>
                    <a:lstStyle/>
                    <a:p>
                      <a:pPr algn="ctr" rtl="0" fontAlgn="ctr"/>
                      <a:r>
                        <a:rPr lang="zh-CN" altLang="en-US" sz="1100" b="1" u="none" strike="noStrike" kern="1200" dirty="0">
                          <a:solidFill>
                            <a:srgbClr val="000000"/>
                          </a:solidFill>
                          <a:effectLst/>
                        </a:rPr>
                        <a:t>意外医疗保险责任</a:t>
                      </a:r>
                      <a:br>
                        <a:rPr lang="zh-CN" altLang="en-US" sz="1100" b="1" u="none" strike="noStrike" kern="1200" dirty="0">
                          <a:solidFill>
                            <a:srgbClr val="000000"/>
                          </a:solidFill>
                          <a:effectLst/>
                        </a:rPr>
                      </a:br>
                      <a:r>
                        <a:rPr lang="en-US" altLang="zh-CN" sz="1100" b="0" u="none" strike="noStrike" kern="1200" dirty="0">
                          <a:solidFill>
                            <a:schemeClr val="dk1"/>
                          </a:solidFill>
                          <a:effectLst/>
                        </a:rPr>
                        <a:t>A</a:t>
                      </a:r>
                      <a:r>
                        <a:rPr lang="en-US" sz="1100" u="none" strike="noStrike" dirty="0">
                          <a:effectLst/>
                        </a:rPr>
                        <a:t>ccidental </a:t>
                      </a:r>
                      <a:r>
                        <a:rPr lang="en-US" altLang="zh-CN" sz="1100" u="none" strike="noStrike" dirty="0">
                          <a:effectLst/>
                        </a:rPr>
                        <a:t>medical</a:t>
                      </a:r>
                      <a:r>
                        <a:rPr lang="en-US" altLang="zh-CN" sz="1100" u="none" strike="noStrike" baseline="0" dirty="0">
                          <a:effectLst/>
                        </a:rPr>
                        <a:t> treatment</a:t>
                      </a:r>
                      <a:endParaRPr lang="en-US" sz="1100" b="1" i="0" u="none" strike="noStrike" dirty="0">
                        <a:solidFill>
                          <a:srgbClr val="000000"/>
                        </a:solidFill>
                        <a:effectLst/>
                        <a:latin typeface="Calibri"/>
                      </a:endParaRPr>
                    </a:p>
                  </a:txBody>
                  <a:tcPr marL="7760" marR="7760" marT="7760" marB="0" anchor="ctr"/>
                </a:tc>
                <a:tc>
                  <a:txBody>
                    <a:bodyPr/>
                    <a:lstStyle/>
                    <a:p>
                      <a:pPr algn="ctr" rtl="0" fontAlgn="ctr"/>
                      <a:r>
                        <a:rPr lang="en-US" altLang="zh-CN" sz="1100" b="1" u="none" strike="noStrike" dirty="0">
                          <a:solidFill>
                            <a:srgbClr val="000000"/>
                          </a:solidFill>
                          <a:effectLst/>
                        </a:rPr>
                        <a:t>20,000</a:t>
                      </a:r>
                      <a:endParaRPr lang="en-US" altLang="zh-CN" sz="1100" b="1" i="0" u="none" strike="noStrike" dirty="0">
                        <a:solidFill>
                          <a:srgbClr val="000000"/>
                        </a:solidFill>
                        <a:effectLst/>
                        <a:latin typeface="微软雅黑"/>
                      </a:endParaRPr>
                    </a:p>
                  </a:txBody>
                  <a:tcPr marL="7760" marR="7760" marT="7760" marB="0" anchor="ctr"/>
                </a:tc>
                <a:extLst>
                  <a:ext uri="{0D108BD9-81ED-4DB2-BD59-A6C34878D82A}">
                    <a16:rowId xmlns:a16="http://schemas.microsoft.com/office/drawing/2014/main" val="10002"/>
                  </a:ext>
                </a:extLst>
              </a:tr>
              <a:tr h="1615270">
                <a:tc>
                  <a:txBody>
                    <a:bodyPr/>
                    <a:lstStyle/>
                    <a:p>
                      <a:pPr algn="ctr" rtl="0" fontAlgn="ctr"/>
                      <a:r>
                        <a:rPr lang="zh-CN" altLang="en-US" sz="1100" b="1" u="none" strike="noStrike" kern="1200" dirty="0">
                          <a:solidFill>
                            <a:srgbClr val="000000"/>
                          </a:solidFill>
                          <a:effectLst/>
                        </a:rPr>
                        <a:t>门诊医疗保险责任</a:t>
                      </a:r>
                      <a:br>
                        <a:rPr lang="zh-CN" altLang="en-US" sz="1100" b="1" u="none" strike="noStrike" kern="1200" dirty="0">
                          <a:solidFill>
                            <a:srgbClr val="000000"/>
                          </a:solidFill>
                          <a:effectLst/>
                        </a:rPr>
                      </a:br>
                      <a:r>
                        <a:rPr lang="en-US" sz="1100" u="none" strike="noStrike" dirty="0">
                          <a:effectLst/>
                        </a:rPr>
                        <a:t>Outpatient  and Emergency Medical Injury</a:t>
                      </a:r>
                      <a:endParaRPr lang="en-US" sz="1100" b="1" i="0" u="none" strike="noStrike" dirty="0">
                        <a:solidFill>
                          <a:srgbClr val="000000"/>
                        </a:solidFill>
                        <a:effectLst/>
                        <a:latin typeface="Calibri"/>
                      </a:endParaRPr>
                    </a:p>
                  </a:txBody>
                  <a:tcPr marL="7760" marR="7760" marT="7760" marB="0" anchor="ctr"/>
                </a:tc>
                <a:tc>
                  <a:txBody>
                    <a:bodyPr/>
                    <a:lstStyle/>
                    <a:p>
                      <a:pPr algn="ctr" rtl="0" fontAlgn="ctr"/>
                      <a:r>
                        <a:rPr lang="en-US" altLang="zh-CN" sz="1100" b="1" u="none" strike="noStrike" dirty="0">
                          <a:solidFill>
                            <a:srgbClr val="000000"/>
                          </a:solidFill>
                          <a:effectLst/>
                        </a:rPr>
                        <a:t>20,000</a:t>
                      </a:r>
                      <a:br>
                        <a:rPr lang="zh-CN" altLang="en-US" sz="1100" b="1" u="none" strike="noStrike" kern="1200" dirty="0">
                          <a:solidFill>
                            <a:srgbClr val="000000"/>
                          </a:solidFill>
                          <a:effectLst/>
                        </a:rPr>
                      </a:br>
                      <a:r>
                        <a:rPr lang="zh-CN" altLang="en-US" sz="1100" b="1" u="none" strike="noStrike" kern="1200" dirty="0">
                          <a:solidFill>
                            <a:srgbClr val="000000"/>
                          </a:solidFill>
                          <a:effectLst/>
                        </a:rPr>
                        <a:t>（日限额</a:t>
                      </a:r>
                      <a:r>
                        <a:rPr lang="en-US" altLang="zh-CN" sz="1100" b="1" u="none" strike="noStrike" kern="1200" dirty="0">
                          <a:solidFill>
                            <a:srgbClr val="FF0000"/>
                          </a:solidFill>
                          <a:effectLst/>
                        </a:rPr>
                        <a:t>600</a:t>
                      </a:r>
                      <a:r>
                        <a:rPr lang="zh-CN" altLang="en-US" sz="1100" b="1" u="none" strike="noStrike" kern="1200" dirty="0">
                          <a:solidFill>
                            <a:srgbClr val="000000"/>
                          </a:solidFill>
                          <a:effectLst/>
                        </a:rPr>
                        <a:t>元</a:t>
                      </a:r>
                      <a:br>
                        <a:rPr lang="zh-CN" altLang="en-US" sz="1100" b="1" u="none" strike="noStrike" kern="1200" dirty="0">
                          <a:solidFill>
                            <a:srgbClr val="000000"/>
                          </a:solidFill>
                          <a:effectLst/>
                        </a:rPr>
                      </a:br>
                      <a:r>
                        <a:rPr lang="zh-CN" altLang="en-US" sz="1100" b="1" u="none" strike="noStrike" kern="1200" dirty="0">
                          <a:solidFill>
                            <a:srgbClr val="000000"/>
                          </a:solidFill>
                          <a:effectLst/>
                        </a:rPr>
                        <a:t>免赔额</a:t>
                      </a:r>
                      <a:r>
                        <a:rPr lang="en-US" altLang="zh-CN" sz="1100" b="1" u="none" strike="noStrike" kern="1200" dirty="0">
                          <a:solidFill>
                            <a:srgbClr val="FF0000"/>
                          </a:solidFill>
                          <a:effectLst/>
                        </a:rPr>
                        <a:t>650</a:t>
                      </a:r>
                      <a:r>
                        <a:rPr lang="zh-CN" altLang="en-US" sz="1100" b="1" u="none" strike="noStrike" kern="1200" dirty="0">
                          <a:solidFill>
                            <a:srgbClr val="000000"/>
                          </a:solidFill>
                          <a:effectLst/>
                        </a:rPr>
                        <a:t>元</a:t>
                      </a:r>
                      <a:r>
                        <a:rPr lang="en-US" altLang="zh-CN" sz="1100" b="1" u="none" strike="noStrike" kern="1200" dirty="0">
                          <a:solidFill>
                            <a:srgbClr val="000000"/>
                          </a:solidFill>
                          <a:effectLst/>
                        </a:rPr>
                        <a:t>,85%</a:t>
                      </a:r>
                      <a:r>
                        <a:rPr lang="zh-CN" altLang="en-US" sz="1100" b="1" u="none" strike="noStrike" kern="1200" dirty="0">
                          <a:solidFill>
                            <a:srgbClr val="000000"/>
                          </a:solidFill>
                          <a:effectLst/>
                        </a:rPr>
                        <a:t>赔付）</a:t>
                      </a:r>
                      <a:endParaRPr lang="en-US" altLang="zh-CN" sz="1100" b="1" u="none" strike="noStrike" kern="1200" dirty="0">
                        <a:solidFill>
                          <a:srgbClr val="000000"/>
                        </a:solidFill>
                        <a:effectLst/>
                      </a:endParaRPr>
                    </a:p>
                    <a:p>
                      <a:pPr algn="ctr" rtl="0" fontAlgn="ctr"/>
                      <a:r>
                        <a:rPr lang="en-US" altLang="zh-CN" sz="1100" u="none" strike="noStrike" dirty="0">
                          <a:solidFill>
                            <a:srgbClr val="000000"/>
                          </a:solidFill>
                          <a:effectLst/>
                        </a:rPr>
                        <a:t>With the daily limit of RMB</a:t>
                      </a:r>
                      <a:r>
                        <a:rPr lang="en-US" altLang="zh-CN" sz="1100" b="1" u="none" strike="noStrike" dirty="0">
                          <a:solidFill>
                            <a:srgbClr val="FF0000"/>
                          </a:solidFill>
                          <a:effectLst/>
                        </a:rPr>
                        <a:t>600</a:t>
                      </a:r>
                      <a:r>
                        <a:rPr lang="en-US" altLang="zh-CN" sz="1100" u="none" strike="noStrike" dirty="0">
                          <a:solidFill>
                            <a:srgbClr val="000000"/>
                          </a:solidFill>
                          <a:effectLst/>
                        </a:rPr>
                        <a:t>,beyond the deductible RMB</a:t>
                      </a:r>
                      <a:r>
                        <a:rPr lang="en-US" altLang="zh-CN" sz="1100" b="1" u="none" strike="noStrike" dirty="0">
                          <a:solidFill>
                            <a:srgbClr val="FF0000"/>
                          </a:solidFill>
                          <a:effectLst/>
                        </a:rPr>
                        <a:t>650</a:t>
                      </a:r>
                      <a:r>
                        <a:rPr lang="en-US" altLang="zh-CN" sz="1100" u="none" strike="noStrike" dirty="0">
                          <a:solidFill>
                            <a:srgbClr val="000000"/>
                          </a:solidFill>
                          <a:effectLst/>
                        </a:rPr>
                        <a:t>, the insured can cover 85% of reimbursement</a:t>
                      </a:r>
                      <a:endParaRPr lang="zh-CN" altLang="en-US" sz="1100" b="1" u="none" strike="noStrike" kern="1200" dirty="0">
                        <a:solidFill>
                          <a:srgbClr val="000000"/>
                        </a:solidFill>
                        <a:effectLst/>
                        <a:latin typeface="微软雅黑" pitchFamily="34" charset="-122"/>
                        <a:ea typeface="微软雅黑" pitchFamily="34" charset="-122"/>
                        <a:cs typeface="+mn-cs"/>
                      </a:endParaRPr>
                    </a:p>
                  </a:txBody>
                  <a:tcPr marL="7760" marR="7760" marT="7760" marB="0" anchor="ctr"/>
                </a:tc>
                <a:extLst>
                  <a:ext uri="{0D108BD9-81ED-4DB2-BD59-A6C34878D82A}">
                    <a16:rowId xmlns:a16="http://schemas.microsoft.com/office/drawing/2014/main" val="10003"/>
                  </a:ext>
                </a:extLst>
              </a:tr>
              <a:tr h="396961">
                <a:tc>
                  <a:txBody>
                    <a:bodyPr/>
                    <a:lstStyle/>
                    <a:p>
                      <a:pPr algn="ctr" rtl="0" fontAlgn="ctr"/>
                      <a:r>
                        <a:rPr lang="zh-CN" altLang="en-US" sz="1100" b="1" u="none" strike="noStrike" kern="1200" dirty="0">
                          <a:solidFill>
                            <a:srgbClr val="000000"/>
                          </a:solidFill>
                          <a:effectLst/>
                        </a:rPr>
                        <a:t>住院医疗保险责任</a:t>
                      </a:r>
                      <a:br>
                        <a:rPr lang="zh-CN" altLang="en-US" sz="1100" b="1" u="none" strike="noStrike" kern="1200" dirty="0">
                          <a:solidFill>
                            <a:srgbClr val="000000"/>
                          </a:solidFill>
                          <a:effectLst/>
                        </a:rPr>
                      </a:br>
                      <a:r>
                        <a:rPr lang="en-US" sz="1100" u="none" strike="noStrike" dirty="0">
                          <a:effectLst/>
                        </a:rPr>
                        <a:t>Inpatient medical insurance liability</a:t>
                      </a:r>
                      <a:endParaRPr lang="en-US" sz="1100" b="1" i="0" u="none" strike="noStrike" dirty="0">
                        <a:solidFill>
                          <a:srgbClr val="000000"/>
                        </a:solidFill>
                        <a:effectLst/>
                        <a:latin typeface="Calibri"/>
                      </a:endParaRPr>
                    </a:p>
                  </a:txBody>
                  <a:tcPr marL="7760" marR="7760" marT="7760" marB="0" anchor="ctr"/>
                </a:tc>
                <a:tc>
                  <a:txBody>
                    <a:bodyPr/>
                    <a:lstStyle/>
                    <a:p>
                      <a:pPr algn="ctr" rtl="0" fontAlgn="ctr"/>
                      <a:r>
                        <a:rPr lang="en-US" altLang="zh-CN" sz="1100" b="1" u="none" strike="noStrike" dirty="0">
                          <a:solidFill>
                            <a:srgbClr val="000000"/>
                          </a:solidFill>
                          <a:effectLst/>
                        </a:rPr>
                        <a:t>400,000</a:t>
                      </a:r>
                      <a:endParaRPr lang="en-US" altLang="zh-CN" sz="1100" b="1" i="0" u="none" strike="noStrike" dirty="0">
                        <a:solidFill>
                          <a:srgbClr val="000000"/>
                        </a:solidFill>
                        <a:effectLst/>
                        <a:latin typeface="微软雅黑"/>
                      </a:endParaRPr>
                    </a:p>
                  </a:txBody>
                  <a:tcPr marL="7760" marR="7760" marT="7760" marB="0" anchor="ctr"/>
                </a:tc>
                <a:extLst>
                  <a:ext uri="{0D108BD9-81ED-4DB2-BD59-A6C34878D82A}">
                    <a16:rowId xmlns:a16="http://schemas.microsoft.com/office/drawing/2014/main" val="10004"/>
                  </a:ext>
                </a:extLst>
              </a:tr>
            </a:tbl>
          </a:graphicData>
        </a:graphic>
      </p:graphicFrame>
      <p:sp>
        <p:nvSpPr>
          <p:cNvPr id="6" name="标题 2"/>
          <p:cNvSpPr txBox="1">
            <a:spLocks/>
          </p:cNvSpPr>
          <p:nvPr/>
        </p:nvSpPr>
        <p:spPr bwMode="auto">
          <a:xfrm>
            <a:off x="248494" y="296748"/>
            <a:ext cx="8139929" cy="360040"/>
          </a:xfrm>
          <a:prstGeom prst="rect">
            <a:avLst/>
          </a:prstGeom>
          <a:noFill/>
          <a:ln w="9525">
            <a:noFill/>
            <a:miter lim="800000"/>
            <a:headEnd/>
            <a:tailEnd/>
          </a:ln>
          <a:effectLst/>
        </p:spPr>
        <p:txBody>
          <a:bodyPr vert="horz" wrap="square" lIns="91440" tIns="10800" rIns="91440" bIns="10800" numCol="1" anchor="ctr" anchorCtr="0" compatLnSpc="1">
            <a:prstTxWarp prst="textNoShape">
              <a:avLst/>
            </a:prstTxWarp>
          </a:bodyPr>
          <a:lstStyle>
            <a:lvl1pPr algn="l" rtl="0" fontAlgn="base">
              <a:spcBef>
                <a:spcPct val="0"/>
              </a:spcBef>
              <a:spcAft>
                <a:spcPct val="0"/>
              </a:spcAft>
              <a:defRPr sz="4000" b="1">
                <a:solidFill>
                  <a:srgbClr val="000000"/>
                </a:solidFill>
                <a:effectLst>
                  <a:outerShdw blurRad="38100" dist="38100" dir="2700000" algn="tl">
                    <a:srgbClr val="FFFFFF"/>
                  </a:outerShdw>
                </a:effectLst>
                <a:latin typeface="+mj-lt"/>
                <a:ea typeface="+mj-ea"/>
                <a:cs typeface="+mj-cs"/>
              </a:defRPr>
            </a:lvl1pPr>
            <a:lvl2pPr algn="l" rtl="0" fontAlgn="base">
              <a:spcBef>
                <a:spcPct val="0"/>
              </a:spcBef>
              <a:spcAft>
                <a:spcPct val="0"/>
              </a:spcAft>
              <a:defRPr sz="4000" b="1">
                <a:solidFill>
                  <a:srgbClr val="000000"/>
                </a:solidFill>
                <a:effectLst>
                  <a:outerShdw blurRad="38100" dist="38100" dir="2700000" algn="tl">
                    <a:srgbClr val="FFFFFF"/>
                  </a:outerShdw>
                </a:effectLst>
                <a:latin typeface="Tahoma" pitchFamily="34" charset="0"/>
                <a:ea typeface="隶书" pitchFamily="49" charset="-122"/>
              </a:defRPr>
            </a:lvl2pPr>
            <a:lvl3pPr algn="l" rtl="0" fontAlgn="base">
              <a:spcBef>
                <a:spcPct val="0"/>
              </a:spcBef>
              <a:spcAft>
                <a:spcPct val="0"/>
              </a:spcAft>
              <a:defRPr sz="4000" b="1">
                <a:solidFill>
                  <a:srgbClr val="000000"/>
                </a:solidFill>
                <a:effectLst>
                  <a:outerShdw blurRad="38100" dist="38100" dir="2700000" algn="tl">
                    <a:srgbClr val="FFFFFF"/>
                  </a:outerShdw>
                </a:effectLst>
                <a:latin typeface="Tahoma" pitchFamily="34" charset="0"/>
                <a:ea typeface="隶书" pitchFamily="49" charset="-122"/>
              </a:defRPr>
            </a:lvl3pPr>
            <a:lvl4pPr algn="l" rtl="0" fontAlgn="base">
              <a:spcBef>
                <a:spcPct val="0"/>
              </a:spcBef>
              <a:spcAft>
                <a:spcPct val="0"/>
              </a:spcAft>
              <a:defRPr sz="4000" b="1">
                <a:solidFill>
                  <a:srgbClr val="000000"/>
                </a:solidFill>
                <a:effectLst>
                  <a:outerShdw blurRad="38100" dist="38100" dir="2700000" algn="tl">
                    <a:srgbClr val="FFFFFF"/>
                  </a:outerShdw>
                </a:effectLst>
                <a:latin typeface="Tahoma" pitchFamily="34" charset="0"/>
                <a:ea typeface="隶书" pitchFamily="49" charset="-122"/>
              </a:defRPr>
            </a:lvl4pPr>
            <a:lvl5pPr algn="l" rtl="0" fontAlgn="base">
              <a:spcBef>
                <a:spcPct val="0"/>
              </a:spcBef>
              <a:spcAft>
                <a:spcPct val="0"/>
              </a:spcAft>
              <a:defRPr sz="4000" b="1">
                <a:solidFill>
                  <a:srgbClr val="000000"/>
                </a:solidFill>
                <a:effectLst>
                  <a:outerShdw blurRad="38100" dist="38100" dir="2700000" algn="tl">
                    <a:srgbClr val="FFFFFF"/>
                  </a:outerShdw>
                </a:effectLst>
                <a:latin typeface="Tahoma" pitchFamily="34" charset="0"/>
                <a:ea typeface="隶书" pitchFamily="49" charset="-122"/>
              </a:defRPr>
            </a:lvl5pPr>
            <a:lvl6pPr marL="457200" algn="l" rtl="0" fontAlgn="base">
              <a:spcBef>
                <a:spcPct val="0"/>
              </a:spcBef>
              <a:spcAft>
                <a:spcPct val="0"/>
              </a:spcAft>
              <a:defRPr sz="4000" b="1">
                <a:solidFill>
                  <a:srgbClr val="000000"/>
                </a:solidFill>
                <a:effectLst>
                  <a:outerShdw blurRad="38100" dist="38100" dir="2700000" algn="tl">
                    <a:srgbClr val="FFFFFF"/>
                  </a:outerShdw>
                </a:effectLst>
                <a:latin typeface="Tahoma" pitchFamily="34" charset="0"/>
                <a:ea typeface="隶书" pitchFamily="49" charset="-122"/>
              </a:defRPr>
            </a:lvl6pPr>
            <a:lvl7pPr marL="914400" algn="l" rtl="0" fontAlgn="base">
              <a:spcBef>
                <a:spcPct val="0"/>
              </a:spcBef>
              <a:spcAft>
                <a:spcPct val="0"/>
              </a:spcAft>
              <a:defRPr sz="4000" b="1">
                <a:solidFill>
                  <a:srgbClr val="000000"/>
                </a:solidFill>
                <a:effectLst>
                  <a:outerShdw blurRad="38100" dist="38100" dir="2700000" algn="tl">
                    <a:srgbClr val="FFFFFF"/>
                  </a:outerShdw>
                </a:effectLst>
                <a:latin typeface="Tahoma" pitchFamily="34" charset="0"/>
                <a:ea typeface="隶书" pitchFamily="49" charset="-122"/>
              </a:defRPr>
            </a:lvl7pPr>
            <a:lvl8pPr marL="1371600" algn="l" rtl="0" fontAlgn="base">
              <a:spcBef>
                <a:spcPct val="0"/>
              </a:spcBef>
              <a:spcAft>
                <a:spcPct val="0"/>
              </a:spcAft>
              <a:defRPr sz="4000" b="1">
                <a:solidFill>
                  <a:srgbClr val="000000"/>
                </a:solidFill>
                <a:effectLst>
                  <a:outerShdw blurRad="38100" dist="38100" dir="2700000" algn="tl">
                    <a:srgbClr val="FFFFFF"/>
                  </a:outerShdw>
                </a:effectLst>
                <a:latin typeface="Tahoma" pitchFamily="34" charset="0"/>
                <a:ea typeface="隶书" pitchFamily="49" charset="-122"/>
              </a:defRPr>
            </a:lvl8pPr>
            <a:lvl9pPr marL="1828800" algn="l" rtl="0" fontAlgn="base">
              <a:spcBef>
                <a:spcPct val="0"/>
              </a:spcBef>
              <a:spcAft>
                <a:spcPct val="0"/>
              </a:spcAft>
              <a:defRPr sz="4000" b="1">
                <a:solidFill>
                  <a:srgbClr val="000000"/>
                </a:solidFill>
                <a:effectLst>
                  <a:outerShdw blurRad="38100" dist="38100" dir="2700000" algn="tl">
                    <a:srgbClr val="FFFFFF"/>
                  </a:outerShdw>
                </a:effectLst>
                <a:latin typeface="Tahoma" pitchFamily="34" charset="0"/>
                <a:ea typeface="隶书" pitchFamily="49" charset="-122"/>
              </a:defRPr>
            </a:lvl9pPr>
          </a:lstStyle>
          <a:p>
            <a:r>
              <a:rPr lang="en-US" altLang="zh-CN" sz="1400" dirty="0">
                <a:latin typeface="微软雅黑" pitchFamily="34" charset="-122"/>
                <a:ea typeface="微软雅黑" pitchFamily="34" charset="-122"/>
                <a:cs typeface="Arial" pitchFamily="34" charset="0"/>
              </a:rPr>
              <a:t>  </a:t>
            </a:r>
          </a:p>
          <a:p>
            <a:r>
              <a:rPr lang="en-US" altLang="zh-CN" sz="1400" dirty="0">
                <a:latin typeface="微软雅黑" pitchFamily="34" charset="-122"/>
                <a:ea typeface="微软雅黑" pitchFamily="34" charset="-122"/>
                <a:cs typeface="Arial" pitchFamily="34" charset="0"/>
              </a:rPr>
              <a:t>RMB 800 scheme for international students(Liability</a:t>
            </a:r>
            <a:r>
              <a:rPr lang="zh-CN" altLang="en-US" sz="1400" dirty="0">
                <a:latin typeface="微软雅黑" pitchFamily="34" charset="-122"/>
                <a:ea typeface="微软雅黑" pitchFamily="34" charset="-122"/>
                <a:cs typeface="Arial" pitchFamily="34" charset="0"/>
              </a:rPr>
              <a:t>）</a:t>
            </a:r>
            <a:endParaRPr lang="zh-CN" altLang="en-US" sz="1400" dirty="0"/>
          </a:p>
        </p:txBody>
      </p:sp>
      <p:sp>
        <p:nvSpPr>
          <p:cNvPr id="12" name="标题 2"/>
          <p:cNvSpPr txBox="1">
            <a:spLocks/>
          </p:cNvSpPr>
          <p:nvPr/>
        </p:nvSpPr>
        <p:spPr>
          <a:xfrm>
            <a:off x="248494" y="17135"/>
            <a:ext cx="4502051" cy="428627"/>
          </a:xfrm>
          <a:prstGeom prst="rect">
            <a:avLst/>
          </a:prstGeom>
        </p:spPr>
        <p:txBody>
          <a:bodyPr vert="horz" anchor="b">
            <a:normAutofit fontScale="97500"/>
          </a:bodyPr>
          <a:lstStyle>
            <a:lvl1pPr algn="l" rtl="0" eaLnBrk="1" latinLnBrk="0" hangingPunct="1">
              <a:spcBef>
                <a:spcPct val="0"/>
              </a:spcBef>
              <a:buNone/>
              <a:defRPr kumimoji="0" sz="3000" b="1" kern="1200" cap="small" baseline="0">
                <a:solidFill>
                  <a:schemeClr val="tx2"/>
                </a:solidFill>
                <a:latin typeface="+mj-lt"/>
                <a:ea typeface="+mj-ea"/>
                <a:cs typeface="+mj-cs"/>
              </a:defRPr>
            </a:lvl1pPr>
          </a:lstStyle>
          <a:p>
            <a:r>
              <a:rPr lang="zh-CN" altLang="en-US" sz="2000" dirty="0">
                <a:solidFill>
                  <a:schemeClr val="tx1"/>
                </a:solidFill>
                <a:latin typeface="微软雅黑" pitchFamily="34" charset="-122"/>
                <a:ea typeface="微软雅黑" pitchFamily="34" charset="-122"/>
              </a:rPr>
              <a:t>保险责任</a:t>
            </a:r>
            <a:r>
              <a:rPr lang="en-US" altLang="zh-CN" sz="2000" dirty="0">
                <a:solidFill>
                  <a:schemeClr val="tx1"/>
                </a:solidFill>
                <a:latin typeface="微软雅黑" pitchFamily="34" charset="-122"/>
                <a:ea typeface="微软雅黑" pitchFamily="34" charset="-122"/>
              </a:rPr>
              <a:t>(</a:t>
            </a:r>
            <a:r>
              <a:rPr lang="zh-CN" altLang="en-US" sz="2000" dirty="0">
                <a:solidFill>
                  <a:schemeClr val="tx1"/>
                </a:solidFill>
                <a:latin typeface="微软雅黑" pitchFamily="34" charset="-122"/>
                <a:ea typeface="微软雅黑" pitchFamily="34" charset="-122"/>
              </a:rPr>
              <a:t>留学生</a:t>
            </a:r>
            <a:r>
              <a:rPr lang="en-US" altLang="zh-CN" sz="2000" dirty="0">
                <a:solidFill>
                  <a:schemeClr val="tx1"/>
                </a:solidFill>
                <a:latin typeface="微软雅黑" pitchFamily="34" charset="-122"/>
                <a:ea typeface="微软雅黑" pitchFamily="34" charset="-122"/>
              </a:rPr>
              <a:t>800</a:t>
            </a:r>
            <a:r>
              <a:rPr lang="zh-CN" altLang="en-US" sz="2000" dirty="0">
                <a:solidFill>
                  <a:schemeClr val="tx1"/>
                </a:solidFill>
                <a:latin typeface="微软雅黑" pitchFamily="34" charset="-122"/>
                <a:ea typeface="微软雅黑" pitchFamily="34" charset="-122"/>
              </a:rPr>
              <a:t>元</a:t>
            </a:r>
            <a:r>
              <a:rPr lang="en-US" altLang="zh-CN" sz="2000" dirty="0">
                <a:solidFill>
                  <a:schemeClr val="tx1"/>
                </a:solidFill>
                <a:latin typeface="微软雅黑" pitchFamily="34" charset="-122"/>
                <a:ea typeface="微软雅黑" pitchFamily="34" charset="-122"/>
              </a:rPr>
              <a:t>)</a:t>
            </a:r>
            <a:endParaRPr lang="zh-CN" altLang="en-US" sz="2000" dirty="0">
              <a:solidFill>
                <a:schemeClr val="tx1"/>
              </a:solidFill>
            </a:endParaRPr>
          </a:p>
        </p:txBody>
      </p:sp>
      <p:grpSp>
        <p:nvGrpSpPr>
          <p:cNvPr id="7" name="组合 6"/>
          <p:cNvGrpSpPr/>
          <p:nvPr/>
        </p:nvGrpSpPr>
        <p:grpSpPr>
          <a:xfrm>
            <a:off x="0" y="778608"/>
            <a:ext cx="3311923" cy="71438"/>
            <a:chOff x="0" y="523875"/>
            <a:chExt cx="3311923" cy="71438"/>
          </a:xfrm>
        </p:grpSpPr>
        <p:cxnSp>
          <p:nvCxnSpPr>
            <p:cNvPr id="8" name="直接连接符 7"/>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Tree>
    <p:extLst>
      <p:ext uri="{BB962C8B-B14F-4D97-AF65-F5344CB8AC3E}">
        <p14:creationId xmlns:p14="http://schemas.microsoft.com/office/powerpoint/2010/main" val="25036047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十字星 38"/>
          <p:cNvSpPr/>
          <p:nvPr/>
        </p:nvSpPr>
        <p:spPr>
          <a:xfrm>
            <a:off x="1475656" y="1059582"/>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十字星 39"/>
          <p:cNvSpPr/>
          <p:nvPr/>
        </p:nvSpPr>
        <p:spPr>
          <a:xfrm>
            <a:off x="1475656" y="3291830"/>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27"/>
          <p:cNvGrpSpPr/>
          <p:nvPr/>
        </p:nvGrpSpPr>
        <p:grpSpPr>
          <a:xfrm>
            <a:off x="1419344" y="2139702"/>
            <a:ext cx="936104" cy="592512"/>
            <a:chOff x="1907704" y="3893205"/>
            <a:chExt cx="936104" cy="922385"/>
          </a:xfrm>
        </p:grpSpPr>
        <p:grpSp>
          <p:nvGrpSpPr>
            <p:cNvPr id="11" name="Group 12"/>
            <p:cNvGrpSpPr>
              <a:grpSpLocks/>
            </p:cNvGrpSpPr>
            <p:nvPr/>
          </p:nvGrpSpPr>
          <p:grpSpPr bwMode="auto">
            <a:xfrm>
              <a:off x="1907704" y="3893205"/>
              <a:ext cx="936104" cy="831938"/>
              <a:chOff x="0" y="28"/>
              <a:chExt cx="812" cy="802"/>
            </a:xfrm>
          </p:grpSpPr>
          <p:sp>
            <p:nvSpPr>
              <p:cNvPr id="13"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14" name="Picture 12" descr="cir_lighteffect0"/>
              <p:cNvPicPr>
                <a:picLocks noChangeAspect="1" noChangeArrowheads="1"/>
              </p:cNvPicPr>
              <p:nvPr/>
            </p:nvPicPr>
            <p:blipFill>
              <a:blip r:embed="rId2" cstate="print">
                <a:lum bright="18000" contrast="-12000"/>
              </a:blip>
              <a:srcRect/>
              <a:stretch>
                <a:fillRect/>
              </a:stretch>
            </p:blipFill>
            <p:spPr bwMode="auto">
              <a:xfrm>
                <a:off x="59" y="62"/>
                <a:ext cx="670" cy="670"/>
              </a:xfrm>
              <a:prstGeom prst="rect">
                <a:avLst/>
              </a:prstGeom>
              <a:noFill/>
              <a:ln w="9525">
                <a:noFill/>
                <a:miter lim="800000"/>
                <a:headEnd/>
                <a:tailEnd/>
              </a:ln>
            </p:spPr>
          </p:pic>
        </p:grpSp>
        <p:sp>
          <p:nvSpPr>
            <p:cNvPr id="12" name="TextBox 11"/>
            <p:cNvSpPr txBox="1"/>
            <p:nvPr/>
          </p:nvSpPr>
          <p:spPr>
            <a:xfrm>
              <a:off x="2143232" y="3905251"/>
              <a:ext cx="432048" cy="910339"/>
            </a:xfrm>
            <a:prstGeom prst="rect">
              <a:avLst/>
            </a:prstGeom>
            <a:noFill/>
          </p:spPr>
          <p:txBody>
            <a:bodyPr wrap="square" rtlCol="0">
              <a:spAutoFit/>
            </a:bodyPr>
            <a:lstStyle/>
            <a:p>
              <a:r>
                <a:rPr lang="en-US" altLang="zh-CN" sz="3200" b="1" dirty="0">
                  <a:latin typeface="Arial Black" pitchFamily="34" charset="0"/>
                </a:rPr>
                <a:t>2</a:t>
              </a:r>
              <a:endParaRPr lang="zh-CN" altLang="en-US" sz="3200" b="1" dirty="0">
                <a:latin typeface="Arial Black" pitchFamily="34" charset="0"/>
              </a:endParaRPr>
            </a:p>
          </p:txBody>
        </p:sp>
      </p:grpSp>
      <p:sp>
        <p:nvSpPr>
          <p:cNvPr id="15" name="矩形 8"/>
          <p:cNvSpPr>
            <a:spLocks noChangeArrowheads="1"/>
          </p:cNvSpPr>
          <p:nvPr/>
        </p:nvSpPr>
        <p:spPr bwMode="auto">
          <a:xfrm>
            <a:off x="2555777" y="2147440"/>
            <a:ext cx="5616624" cy="461665"/>
          </a:xfrm>
          <a:prstGeom prst="rect">
            <a:avLst/>
          </a:prstGeom>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b="1" dirty="0">
                <a:latin typeface="微软雅黑" pitchFamily="34" charset="-122"/>
                <a:ea typeface="微软雅黑" pitchFamily="34" charset="-122"/>
              </a:rPr>
              <a:t>保险理赔  </a:t>
            </a:r>
            <a:r>
              <a:rPr lang="en-US" altLang="zh-CN" sz="2400" b="1" dirty="0">
                <a:latin typeface="微软雅黑" pitchFamily="34" charset="-122"/>
                <a:ea typeface="微软雅黑" pitchFamily="34" charset="-122"/>
              </a:rPr>
              <a:t>Insurance Reimbursement</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6582585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07950" y="771550"/>
            <a:ext cx="3311923" cy="71438"/>
            <a:chOff x="0" y="523875"/>
            <a:chExt cx="3311923" cy="71438"/>
          </a:xfrm>
        </p:grpSpPr>
        <p:cxnSp>
          <p:nvCxnSpPr>
            <p:cNvPr id="15" name="直接连接符 14"/>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4" name="TextBox 3"/>
          <p:cNvSpPr txBox="1"/>
          <p:nvPr/>
        </p:nvSpPr>
        <p:spPr>
          <a:xfrm>
            <a:off x="1178507" y="2355713"/>
            <a:ext cx="1107996" cy="369332"/>
          </a:xfrm>
          <a:prstGeom prst="rect">
            <a:avLst/>
          </a:prstGeom>
          <a:noFill/>
        </p:spPr>
        <p:txBody>
          <a:bodyPr wrap="none" rtlCol="0">
            <a:spAutoFit/>
          </a:bodyPr>
          <a:lstStyle/>
          <a:p>
            <a:r>
              <a:rPr lang="zh-CN" altLang="en-US" b="1" i="1" dirty="0">
                <a:latin typeface="微软雅黑" pitchFamily="34" charset="-122"/>
                <a:ea typeface="微软雅黑" pitchFamily="34" charset="-122"/>
              </a:rPr>
              <a:t>赔付比例</a:t>
            </a:r>
          </a:p>
        </p:txBody>
      </p:sp>
      <p:sp>
        <p:nvSpPr>
          <p:cNvPr id="17" name="矩形 16"/>
          <p:cNvSpPr/>
          <p:nvPr/>
        </p:nvSpPr>
        <p:spPr>
          <a:xfrm>
            <a:off x="321915" y="2820592"/>
            <a:ext cx="8431889" cy="1785104"/>
          </a:xfrm>
          <a:prstGeom prst="rect">
            <a:avLst/>
          </a:prstGeom>
        </p:spPr>
        <p:txBody>
          <a:bodyPr wrap="square">
            <a:spAutoFit/>
          </a:bodyPr>
          <a:lstStyle/>
          <a:p>
            <a:pPr indent="531813">
              <a:spcAft>
                <a:spcPts val="1200"/>
              </a:spcAft>
              <a:defRPr/>
            </a:pPr>
            <a:r>
              <a:rPr lang="zh-CN" altLang="en-US" sz="1400" b="1" dirty="0">
                <a:solidFill>
                  <a:srgbClr val="000000"/>
                </a:solidFill>
                <a:latin typeface="微软雅黑" pitchFamily="34" charset="-122"/>
                <a:ea typeface="微软雅黑" pitchFamily="34" charset="-122"/>
              </a:rPr>
              <a:t>前提：</a:t>
            </a:r>
            <a:r>
              <a:rPr lang="zh-CN" altLang="en-US" sz="1400" u="sng" dirty="0">
                <a:solidFill>
                  <a:srgbClr val="000000"/>
                </a:solidFill>
                <a:latin typeface="微软雅黑" pitchFamily="34" charset="-122"/>
                <a:ea typeface="微软雅黑" pitchFamily="34" charset="-122"/>
              </a:rPr>
              <a:t>构成保险责任，公立医院普通科室就诊，公费医疗项目。</a:t>
            </a:r>
            <a:endParaRPr lang="en-US" altLang="zh-CN" sz="1400" u="sng" dirty="0">
              <a:solidFill>
                <a:srgbClr val="000000"/>
              </a:solidFill>
              <a:latin typeface="微软雅黑" pitchFamily="34" charset="-122"/>
              <a:ea typeface="微软雅黑" pitchFamily="34" charset="-122"/>
            </a:endParaRPr>
          </a:p>
          <a:p>
            <a:pPr indent="531813">
              <a:spcAft>
                <a:spcPts val="1200"/>
              </a:spcAft>
              <a:defRPr/>
            </a:pPr>
            <a:r>
              <a:rPr lang="zh-CN" altLang="en-US" sz="1400" b="1" dirty="0">
                <a:solidFill>
                  <a:srgbClr val="000000"/>
                </a:solidFill>
                <a:latin typeface="微软雅黑" pitchFamily="34" charset="-122"/>
                <a:ea typeface="微软雅黑" pitchFamily="34" charset="-122"/>
              </a:rPr>
              <a:t>住院医疗</a:t>
            </a:r>
            <a:r>
              <a:rPr lang="zh-CN" altLang="en-US" sz="1400" dirty="0">
                <a:solidFill>
                  <a:srgbClr val="000000"/>
                </a:solidFill>
                <a:latin typeface="微软雅黑" pitchFamily="34" charset="-122"/>
                <a:ea typeface="微软雅黑" pitchFamily="34" charset="-122"/>
              </a:rPr>
              <a:t>：自费费用不报销，剩余费用</a:t>
            </a:r>
            <a:r>
              <a:rPr lang="en-US" altLang="zh-CN" sz="1400" dirty="0">
                <a:solidFill>
                  <a:srgbClr val="000000"/>
                </a:solidFill>
                <a:latin typeface="微软雅黑" pitchFamily="34" charset="-122"/>
                <a:ea typeface="微软雅黑" pitchFamily="34" charset="-122"/>
              </a:rPr>
              <a:t>100%</a:t>
            </a:r>
            <a:r>
              <a:rPr lang="zh-CN" altLang="en-US" sz="1400" dirty="0">
                <a:solidFill>
                  <a:srgbClr val="000000"/>
                </a:solidFill>
                <a:latin typeface="微软雅黑" pitchFamily="34" charset="-122"/>
                <a:ea typeface="微软雅黑" pitchFamily="34" charset="-122"/>
              </a:rPr>
              <a:t>比例报销</a:t>
            </a:r>
            <a:endParaRPr lang="en-US" altLang="zh-CN" sz="1400" dirty="0">
              <a:solidFill>
                <a:srgbClr val="000000"/>
              </a:solidFill>
              <a:latin typeface="微软雅黑" pitchFamily="34" charset="-122"/>
              <a:ea typeface="微软雅黑" pitchFamily="34" charset="-122"/>
            </a:endParaRPr>
          </a:p>
          <a:p>
            <a:pPr indent="531813">
              <a:spcAft>
                <a:spcPts val="1200"/>
              </a:spcAft>
              <a:defRPr/>
            </a:pPr>
            <a:r>
              <a:rPr lang="zh-CN" altLang="en-US" sz="1400" b="1" dirty="0">
                <a:solidFill>
                  <a:srgbClr val="000000"/>
                </a:solidFill>
                <a:latin typeface="微软雅黑" pitchFamily="34" charset="-122"/>
                <a:ea typeface="微软雅黑" pitchFamily="34" charset="-122"/>
              </a:rPr>
              <a:t>意外医疗门诊</a:t>
            </a:r>
            <a:r>
              <a:rPr lang="en-US" altLang="zh-CN" sz="1400" dirty="0">
                <a:solidFill>
                  <a:srgbClr val="000000"/>
                </a:solidFill>
                <a:latin typeface="微软雅黑" pitchFamily="34" charset="-122"/>
                <a:ea typeface="微软雅黑" pitchFamily="34" charset="-122"/>
              </a:rPr>
              <a:t>: </a:t>
            </a:r>
            <a:r>
              <a:rPr lang="zh-CN" altLang="en-US" sz="1400" dirty="0">
                <a:solidFill>
                  <a:srgbClr val="000000"/>
                </a:solidFill>
                <a:latin typeface="微软雅黑" pitchFamily="34" charset="-122"/>
                <a:ea typeface="微软雅黑" pitchFamily="34" charset="-122"/>
              </a:rPr>
              <a:t>自费费用不报，剩余费用</a:t>
            </a:r>
            <a:r>
              <a:rPr lang="en-US" altLang="zh-CN" sz="1400" dirty="0">
                <a:solidFill>
                  <a:srgbClr val="000000"/>
                </a:solidFill>
                <a:latin typeface="微软雅黑" pitchFamily="34" charset="-122"/>
                <a:ea typeface="微软雅黑" pitchFamily="34" charset="-122"/>
              </a:rPr>
              <a:t>100%</a:t>
            </a:r>
            <a:r>
              <a:rPr lang="zh-CN" altLang="en-US" sz="1400" dirty="0">
                <a:solidFill>
                  <a:srgbClr val="000000"/>
                </a:solidFill>
                <a:latin typeface="微软雅黑" pitchFamily="34" charset="-122"/>
                <a:ea typeface="微软雅黑" pitchFamily="34" charset="-122"/>
              </a:rPr>
              <a:t>比例报销</a:t>
            </a:r>
            <a:endParaRPr lang="en-US" altLang="zh-CN" sz="1400" dirty="0">
              <a:solidFill>
                <a:srgbClr val="000000"/>
              </a:solidFill>
              <a:latin typeface="微软雅黑" pitchFamily="34" charset="-122"/>
              <a:ea typeface="微软雅黑" pitchFamily="34" charset="-122"/>
            </a:endParaRPr>
          </a:p>
          <a:p>
            <a:pPr marL="1438275" indent="-895350">
              <a:spcAft>
                <a:spcPts val="1200"/>
              </a:spcAft>
              <a:defRPr/>
            </a:pPr>
            <a:r>
              <a:rPr lang="zh-CN" altLang="en-US" sz="1400" b="1" dirty="0">
                <a:solidFill>
                  <a:srgbClr val="000000"/>
                </a:solidFill>
                <a:latin typeface="微软雅黑" pitchFamily="34" charset="-122"/>
                <a:ea typeface="微软雅黑" pitchFamily="34" charset="-122"/>
              </a:rPr>
              <a:t>疾病门诊</a:t>
            </a:r>
            <a:r>
              <a:rPr lang="en-US" altLang="zh-CN" sz="1400" b="1" dirty="0">
                <a:solidFill>
                  <a:srgbClr val="000000"/>
                </a:solidFill>
                <a:latin typeface="微软雅黑" pitchFamily="34" charset="-122"/>
                <a:ea typeface="微软雅黑" pitchFamily="34" charset="-122"/>
              </a:rPr>
              <a:t>: </a:t>
            </a:r>
            <a:r>
              <a:rPr lang="zh-CN" altLang="en-US" sz="1400" dirty="0">
                <a:solidFill>
                  <a:srgbClr val="000000"/>
                </a:solidFill>
                <a:latin typeface="微软雅黑" pitchFamily="34" charset="-122"/>
                <a:ea typeface="微软雅黑" pitchFamily="34" charset="-122"/>
              </a:rPr>
              <a:t>日限额</a:t>
            </a:r>
            <a:r>
              <a:rPr lang="en-US" altLang="zh-CN" sz="1400" dirty="0">
                <a:solidFill>
                  <a:srgbClr val="000000"/>
                </a:solidFill>
                <a:latin typeface="微软雅黑" pitchFamily="34" charset="-122"/>
                <a:ea typeface="微软雅黑" pitchFamily="34" charset="-122"/>
              </a:rPr>
              <a:t>600</a:t>
            </a:r>
            <a:r>
              <a:rPr lang="zh-CN" altLang="en-US" sz="1400" dirty="0">
                <a:solidFill>
                  <a:srgbClr val="000000"/>
                </a:solidFill>
                <a:latin typeface="微软雅黑" pitchFamily="34" charset="-122"/>
                <a:ea typeface="微软雅黑" pitchFamily="34" charset="-122"/>
              </a:rPr>
              <a:t>元，在</a:t>
            </a:r>
            <a:r>
              <a:rPr lang="en-US" altLang="zh-CN" sz="1400" dirty="0">
                <a:solidFill>
                  <a:srgbClr val="000000"/>
                </a:solidFill>
                <a:latin typeface="微软雅黑" pitchFamily="34" charset="-122"/>
                <a:ea typeface="微软雅黑" pitchFamily="34" charset="-122"/>
              </a:rPr>
              <a:t>600</a:t>
            </a:r>
            <a:r>
              <a:rPr lang="zh-CN" altLang="en-US" sz="1400" dirty="0">
                <a:solidFill>
                  <a:srgbClr val="000000"/>
                </a:solidFill>
                <a:latin typeface="微软雅黑" pitchFamily="34" charset="-122"/>
                <a:ea typeface="微软雅黑" pitchFamily="34" charset="-122"/>
              </a:rPr>
              <a:t>元基础上累计</a:t>
            </a:r>
            <a:r>
              <a:rPr lang="en-US" altLang="zh-CN" sz="1400" dirty="0">
                <a:solidFill>
                  <a:srgbClr val="FF0000"/>
                </a:solidFill>
                <a:latin typeface="微软雅黑" pitchFamily="34" charset="-122"/>
                <a:ea typeface="微软雅黑" pitchFamily="34" charset="-122"/>
              </a:rPr>
              <a:t>650</a:t>
            </a:r>
            <a:r>
              <a:rPr lang="zh-CN" altLang="en-US" sz="1400" dirty="0">
                <a:solidFill>
                  <a:srgbClr val="000000"/>
                </a:solidFill>
                <a:latin typeface="微软雅黑" pitchFamily="34" charset="-122"/>
                <a:ea typeface="微软雅黑" pitchFamily="34" charset="-122"/>
              </a:rPr>
              <a:t>元以上的部分</a:t>
            </a:r>
            <a:r>
              <a:rPr lang="en-US" altLang="zh-CN" sz="1400" dirty="0">
                <a:solidFill>
                  <a:srgbClr val="000000"/>
                </a:solidFill>
                <a:latin typeface="微软雅黑" pitchFamily="34" charset="-122"/>
                <a:ea typeface="微软雅黑" pitchFamily="34" charset="-122"/>
              </a:rPr>
              <a:t>85%</a:t>
            </a:r>
            <a:r>
              <a:rPr lang="zh-CN" altLang="en-US" sz="1400" dirty="0">
                <a:solidFill>
                  <a:srgbClr val="000000"/>
                </a:solidFill>
                <a:latin typeface="微软雅黑" pitchFamily="34" charset="-122"/>
                <a:ea typeface="微软雅黑" pitchFamily="34" charset="-122"/>
              </a:rPr>
              <a:t>报销。</a:t>
            </a:r>
            <a:r>
              <a:rPr lang="en-US" altLang="zh-CN" sz="1400" dirty="0">
                <a:solidFill>
                  <a:srgbClr val="000000"/>
                </a:solidFill>
                <a:latin typeface="微软雅黑" pitchFamily="34" charset="-122"/>
                <a:ea typeface="微软雅黑" pitchFamily="34" charset="-122"/>
              </a:rPr>
              <a:t>0-650</a:t>
            </a:r>
            <a:r>
              <a:rPr lang="zh-CN" altLang="en-US" sz="1400" dirty="0">
                <a:solidFill>
                  <a:srgbClr val="000000"/>
                </a:solidFill>
                <a:latin typeface="微软雅黑" pitchFamily="34" charset="-122"/>
                <a:ea typeface="微软雅黑" pitchFamily="34" charset="-122"/>
              </a:rPr>
              <a:t>元之间不报销。</a:t>
            </a:r>
            <a:endParaRPr lang="en-US" altLang="zh-CN" sz="1400" dirty="0">
              <a:solidFill>
                <a:srgbClr val="000000"/>
              </a:solidFill>
              <a:latin typeface="微软雅黑" pitchFamily="34" charset="-122"/>
              <a:ea typeface="微软雅黑" pitchFamily="34" charset="-122"/>
            </a:endParaRPr>
          </a:p>
          <a:p>
            <a:pPr indent="531813">
              <a:spcAft>
                <a:spcPts val="1200"/>
              </a:spcAft>
              <a:defRPr/>
            </a:pPr>
            <a:r>
              <a:rPr lang="zh-CN" altLang="en-US" sz="1400" b="1" dirty="0">
                <a:solidFill>
                  <a:srgbClr val="000000"/>
                </a:solidFill>
                <a:latin typeface="微软雅黑" pitchFamily="34" charset="-122"/>
                <a:ea typeface="微软雅黑" pitchFamily="34" charset="-122"/>
              </a:rPr>
              <a:t>身故保险</a:t>
            </a:r>
            <a:r>
              <a:rPr lang="en-US" altLang="zh-CN" sz="1400" dirty="0">
                <a:solidFill>
                  <a:srgbClr val="000000"/>
                </a:solidFill>
                <a:latin typeface="微软雅黑" pitchFamily="34" charset="-122"/>
                <a:ea typeface="微软雅黑" pitchFamily="34" charset="-122"/>
              </a:rPr>
              <a:t>:  </a:t>
            </a:r>
            <a:r>
              <a:rPr lang="zh-CN" altLang="en-US" sz="1400" dirty="0">
                <a:solidFill>
                  <a:srgbClr val="000000"/>
                </a:solidFill>
                <a:latin typeface="微软雅黑" pitchFamily="34" charset="-122"/>
                <a:ea typeface="微软雅黑" pitchFamily="34" charset="-122"/>
              </a:rPr>
              <a:t>构成保险责任，保险金</a:t>
            </a:r>
            <a:r>
              <a:rPr lang="en-US" altLang="zh-CN" sz="1400" dirty="0">
                <a:solidFill>
                  <a:srgbClr val="000000"/>
                </a:solidFill>
                <a:latin typeface="微软雅黑" pitchFamily="34" charset="-122"/>
                <a:ea typeface="微软雅黑" pitchFamily="34" charset="-122"/>
              </a:rPr>
              <a:t>10</a:t>
            </a:r>
            <a:r>
              <a:rPr lang="zh-CN" altLang="en-US" sz="1400" dirty="0">
                <a:solidFill>
                  <a:srgbClr val="000000"/>
                </a:solidFill>
                <a:latin typeface="微软雅黑" pitchFamily="34" charset="-122"/>
                <a:ea typeface="微软雅黑" pitchFamily="34" charset="-122"/>
              </a:rPr>
              <a:t>万元。</a:t>
            </a:r>
            <a:endParaRPr lang="en-US" altLang="zh-CN" sz="1400" dirty="0">
              <a:solidFill>
                <a:srgbClr val="000000"/>
              </a:solidFill>
              <a:latin typeface="微软雅黑" pitchFamily="34" charset="-122"/>
              <a:ea typeface="微软雅黑" pitchFamily="34" charset="-122"/>
            </a:endParaRPr>
          </a:p>
        </p:txBody>
      </p:sp>
      <p:grpSp>
        <p:nvGrpSpPr>
          <p:cNvPr id="30" name="组合 29"/>
          <p:cNvGrpSpPr/>
          <p:nvPr/>
        </p:nvGrpSpPr>
        <p:grpSpPr>
          <a:xfrm>
            <a:off x="1649189" y="1271444"/>
            <a:ext cx="765915" cy="805489"/>
            <a:chOff x="451828" y="922758"/>
            <a:chExt cx="4000498" cy="4000499"/>
          </a:xfrm>
          <a:effectLst>
            <a:outerShdw blurRad="444500" dist="254000" dir="8100000" algn="tr" rotWithShape="0">
              <a:prstClr val="black">
                <a:alpha val="50000"/>
              </a:prstClr>
            </a:outerShdw>
          </a:effectLst>
        </p:grpSpPr>
        <p:sp>
          <p:nvSpPr>
            <p:cNvPr id="32" name="同心圆 31"/>
            <p:cNvSpPr/>
            <p:nvPr/>
          </p:nvSpPr>
          <p:spPr>
            <a:xfrm>
              <a:off x="451828" y="922758"/>
              <a:ext cx="4000498" cy="4000499"/>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539124" y="1009991"/>
              <a:ext cx="3825871" cy="3793766"/>
            </a:xfrm>
            <a:prstGeom prst="ellipse">
              <a:avLst/>
            </a:prstGeom>
            <a:solidFill>
              <a:srgbClr val="FF99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7259971" y="1264965"/>
            <a:ext cx="727901" cy="759159"/>
            <a:chOff x="9098200" y="2905891"/>
            <a:chExt cx="1253667" cy="1254114"/>
          </a:xfrm>
          <a:effectLst>
            <a:outerShdw blurRad="50800" dist="38100" dir="10800000" algn="r" rotWithShape="0">
              <a:prstClr val="black">
                <a:alpha val="40000"/>
              </a:prstClr>
            </a:outerShdw>
          </a:effectLst>
        </p:grpSpPr>
        <p:grpSp>
          <p:nvGrpSpPr>
            <p:cNvPr id="35" name="组合 34"/>
            <p:cNvGrpSpPr/>
            <p:nvPr/>
          </p:nvGrpSpPr>
          <p:grpSpPr>
            <a:xfrm>
              <a:off x="9098200" y="2905891"/>
              <a:ext cx="1253667" cy="1254114"/>
              <a:chOff x="9098200" y="2905891"/>
              <a:chExt cx="1253667" cy="1254114"/>
            </a:xfrm>
          </p:grpSpPr>
          <p:sp>
            <p:nvSpPr>
              <p:cNvPr id="45" name="同心圆 44"/>
              <p:cNvSpPr/>
              <p:nvPr/>
            </p:nvSpPr>
            <p:spPr>
              <a:xfrm>
                <a:off x="9098200" y="2905891"/>
                <a:ext cx="1253667" cy="1254114"/>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6" name="椭圆 45"/>
              <p:cNvSpPr/>
              <p:nvPr/>
            </p:nvSpPr>
            <p:spPr>
              <a:xfrm>
                <a:off x="9125564" y="2933263"/>
                <a:ext cx="1199539" cy="1205351"/>
              </a:xfrm>
              <a:prstGeom prst="ellipse">
                <a:avLst/>
              </a:prstGeom>
              <a:solidFill>
                <a:srgbClr val="009D85"/>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Freeform 24"/>
            <p:cNvSpPr>
              <a:spLocks noEditPoints="1"/>
            </p:cNvSpPr>
            <p:nvPr/>
          </p:nvSpPr>
          <p:spPr bwMode="auto">
            <a:xfrm>
              <a:off x="9397251" y="3283755"/>
              <a:ext cx="537614" cy="414624"/>
            </a:xfrm>
            <a:custGeom>
              <a:avLst/>
              <a:gdLst>
                <a:gd name="T0" fmla="*/ 334 w 358"/>
                <a:gd name="T1" fmla="*/ 8 h 276"/>
                <a:gd name="T2" fmla="*/ 334 w 358"/>
                <a:gd name="T3" fmla="*/ 8 h 276"/>
                <a:gd name="T4" fmla="*/ 332 w 358"/>
                <a:gd name="T5" fmla="*/ 4 h 276"/>
                <a:gd name="T6" fmla="*/ 328 w 358"/>
                <a:gd name="T7" fmla="*/ 0 h 276"/>
                <a:gd name="T8" fmla="*/ 324 w 358"/>
                <a:gd name="T9" fmla="*/ 0 h 276"/>
                <a:gd name="T10" fmla="*/ 320 w 358"/>
                <a:gd name="T11" fmla="*/ 0 h 276"/>
                <a:gd name="T12" fmla="*/ 84 w 358"/>
                <a:gd name="T13" fmla="*/ 78 h 276"/>
                <a:gd name="T14" fmla="*/ 154 w 358"/>
                <a:gd name="T15" fmla="*/ 78 h 276"/>
                <a:gd name="T16" fmla="*/ 284 w 358"/>
                <a:gd name="T17" fmla="*/ 34 h 276"/>
                <a:gd name="T18" fmla="*/ 284 w 358"/>
                <a:gd name="T19" fmla="*/ 34 h 276"/>
                <a:gd name="T20" fmla="*/ 292 w 358"/>
                <a:gd name="T21" fmla="*/ 44 h 276"/>
                <a:gd name="T22" fmla="*/ 302 w 358"/>
                <a:gd name="T23" fmla="*/ 52 h 276"/>
                <a:gd name="T24" fmla="*/ 314 w 358"/>
                <a:gd name="T25" fmla="*/ 56 h 276"/>
                <a:gd name="T26" fmla="*/ 328 w 358"/>
                <a:gd name="T27" fmla="*/ 56 h 276"/>
                <a:gd name="T28" fmla="*/ 334 w 358"/>
                <a:gd name="T29" fmla="*/ 78 h 276"/>
                <a:gd name="T30" fmla="*/ 358 w 358"/>
                <a:gd name="T31" fmla="*/ 78 h 276"/>
                <a:gd name="T32" fmla="*/ 334 w 358"/>
                <a:gd name="T33" fmla="*/ 8 h 276"/>
                <a:gd name="T34" fmla="*/ 2 w 358"/>
                <a:gd name="T35" fmla="*/ 118 h 276"/>
                <a:gd name="T36" fmla="*/ 54 w 358"/>
                <a:gd name="T37" fmla="*/ 276 h 276"/>
                <a:gd name="T38" fmla="*/ 54 w 358"/>
                <a:gd name="T39" fmla="*/ 208 h 276"/>
                <a:gd name="T40" fmla="*/ 36 w 358"/>
                <a:gd name="T41" fmla="*/ 152 h 276"/>
                <a:gd name="T42" fmla="*/ 36 w 358"/>
                <a:gd name="T43" fmla="*/ 152 h 276"/>
                <a:gd name="T44" fmla="*/ 42 w 358"/>
                <a:gd name="T45" fmla="*/ 148 h 276"/>
                <a:gd name="T46" fmla="*/ 46 w 358"/>
                <a:gd name="T47" fmla="*/ 142 h 276"/>
                <a:gd name="T48" fmla="*/ 50 w 358"/>
                <a:gd name="T49" fmla="*/ 136 h 276"/>
                <a:gd name="T50" fmla="*/ 54 w 358"/>
                <a:gd name="T51" fmla="*/ 130 h 276"/>
                <a:gd name="T52" fmla="*/ 54 w 358"/>
                <a:gd name="T53" fmla="*/ 102 h 276"/>
                <a:gd name="T54" fmla="*/ 54 w 358"/>
                <a:gd name="T55" fmla="*/ 102 h 276"/>
                <a:gd name="T56" fmla="*/ 56 w 358"/>
                <a:gd name="T57" fmla="*/ 92 h 276"/>
                <a:gd name="T58" fmla="*/ 62 w 358"/>
                <a:gd name="T59" fmla="*/ 84 h 276"/>
                <a:gd name="T60" fmla="*/ 10 w 358"/>
                <a:gd name="T61" fmla="*/ 102 h 276"/>
                <a:gd name="T62" fmla="*/ 10 w 358"/>
                <a:gd name="T63" fmla="*/ 102 h 276"/>
                <a:gd name="T64" fmla="*/ 4 w 358"/>
                <a:gd name="T65" fmla="*/ 104 h 276"/>
                <a:gd name="T66" fmla="*/ 2 w 358"/>
                <a:gd name="T67" fmla="*/ 108 h 276"/>
                <a:gd name="T68" fmla="*/ 0 w 358"/>
                <a:gd name="T69" fmla="*/ 112 h 276"/>
                <a:gd name="T70" fmla="*/ 2 w 358"/>
                <a:gd name="T71" fmla="*/ 118 h 276"/>
                <a:gd name="T72" fmla="*/ 2 w 358"/>
                <a:gd name="T73" fmla="*/ 118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8" h="276">
                  <a:moveTo>
                    <a:pt x="334" y="8"/>
                  </a:moveTo>
                  <a:lnTo>
                    <a:pt x="334" y="8"/>
                  </a:lnTo>
                  <a:lnTo>
                    <a:pt x="332" y="4"/>
                  </a:lnTo>
                  <a:lnTo>
                    <a:pt x="328" y="0"/>
                  </a:lnTo>
                  <a:lnTo>
                    <a:pt x="324" y="0"/>
                  </a:lnTo>
                  <a:lnTo>
                    <a:pt x="320" y="0"/>
                  </a:lnTo>
                  <a:lnTo>
                    <a:pt x="84" y="78"/>
                  </a:lnTo>
                  <a:lnTo>
                    <a:pt x="154" y="78"/>
                  </a:lnTo>
                  <a:lnTo>
                    <a:pt x="284" y="34"/>
                  </a:lnTo>
                  <a:lnTo>
                    <a:pt x="284" y="34"/>
                  </a:lnTo>
                  <a:lnTo>
                    <a:pt x="292" y="44"/>
                  </a:lnTo>
                  <a:lnTo>
                    <a:pt x="302" y="52"/>
                  </a:lnTo>
                  <a:lnTo>
                    <a:pt x="314" y="56"/>
                  </a:lnTo>
                  <a:lnTo>
                    <a:pt x="328" y="56"/>
                  </a:lnTo>
                  <a:lnTo>
                    <a:pt x="334" y="78"/>
                  </a:lnTo>
                  <a:lnTo>
                    <a:pt x="358" y="78"/>
                  </a:lnTo>
                  <a:lnTo>
                    <a:pt x="334" y="8"/>
                  </a:lnTo>
                  <a:close/>
                  <a:moveTo>
                    <a:pt x="2" y="118"/>
                  </a:moveTo>
                  <a:lnTo>
                    <a:pt x="54" y="276"/>
                  </a:lnTo>
                  <a:lnTo>
                    <a:pt x="54" y="208"/>
                  </a:lnTo>
                  <a:lnTo>
                    <a:pt x="36" y="152"/>
                  </a:lnTo>
                  <a:lnTo>
                    <a:pt x="36" y="152"/>
                  </a:lnTo>
                  <a:lnTo>
                    <a:pt x="42" y="148"/>
                  </a:lnTo>
                  <a:lnTo>
                    <a:pt x="46" y="142"/>
                  </a:lnTo>
                  <a:lnTo>
                    <a:pt x="50" y="136"/>
                  </a:lnTo>
                  <a:lnTo>
                    <a:pt x="54" y="130"/>
                  </a:lnTo>
                  <a:lnTo>
                    <a:pt x="54" y="102"/>
                  </a:lnTo>
                  <a:lnTo>
                    <a:pt x="54" y="102"/>
                  </a:lnTo>
                  <a:lnTo>
                    <a:pt x="56" y="92"/>
                  </a:lnTo>
                  <a:lnTo>
                    <a:pt x="62" y="84"/>
                  </a:lnTo>
                  <a:lnTo>
                    <a:pt x="10" y="102"/>
                  </a:lnTo>
                  <a:lnTo>
                    <a:pt x="10" y="102"/>
                  </a:lnTo>
                  <a:lnTo>
                    <a:pt x="4" y="104"/>
                  </a:lnTo>
                  <a:lnTo>
                    <a:pt x="2" y="108"/>
                  </a:lnTo>
                  <a:lnTo>
                    <a:pt x="0" y="112"/>
                  </a:lnTo>
                  <a:lnTo>
                    <a:pt x="2" y="118"/>
                  </a:lnTo>
                  <a:lnTo>
                    <a:pt x="2" y="11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6"/>
            <p:cNvSpPr/>
            <p:nvPr/>
          </p:nvSpPr>
          <p:spPr bwMode="auto">
            <a:xfrm>
              <a:off x="9499368" y="3418956"/>
              <a:ext cx="525601" cy="339510"/>
            </a:xfrm>
            <a:custGeom>
              <a:avLst/>
              <a:gdLst>
                <a:gd name="T0" fmla="*/ 254 w 350"/>
                <a:gd name="T1" fmla="*/ 218 h 226"/>
                <a:gd name="T2" fmla="*/ 254 w 350"/>
                <a:gd name="T3" fmla="*/ 218 h 226"/>
                <a:gd name="T4" fmla="*/ 254 w 350"/>
                <a:gd name="T5" fmla="*/ 210 h 226"/>
                <a:gd name="T6" fmla="*/ 258 w 350"/>
                <a:gd name="T7" fmla="*/ 204 h 226"/>
                <a:gd name="T8" fmla="*/ 54 w 350"/>
                <a:gd name="T9" fmla="*/ 204 h 226"/>
                <a:gd name="T10" fmla="*/ 54 w 350"/>
                <a:gd name="T11" fmla="*/ 204 h 226"/>
                <a:gd name="T12" fmla="*/ 50 w 350"/>
                <a:gd name="T13" fmla="*/ 192 h 226"/>
                <a:gd name="T14" fmla="*/ 42 w 350"/>
                <a:gd name="T15" fmla="*/ 182 h 226"/>
                <a:gd name="T16" fmla="*/ 34 w 350"/>
                <a:gd name="T17" fmla="*/ 176 h 226"/>
                <a:gd name="T18" fmla="*/ 22 w 350"/>
                <a:gd name="T19" fmla="*/ 172 h 226"/>
                <a:gd name="T20" fmla="*/ 22 w 350"/>
                <a:gd name="T21" fmla="*/ 56 h 226"/>
                <a:gd name="T22" fmla="*/ 22 w 350"/>
                <a:gd name="T23" fmla="*/ 56 h 226"/>
                <a:gd name="T24" fmla="*/ 34 w 350"/>
                <a:gd name="T25" fmla="*/ 52 h 226"/>
                <a:gd name="T26" fmla="*/ 44 w 350"/>
                <a:gd name="T27" fmla="*/ 44 h 226"/>
                <a:gd name="T28" fmla="*/ 50 w 350"/>
                <a:gd name="T29" fmla="*/ 34 h 226"/>
                <a:gd name="T30" fmla="*/ 54 w 350"/>
                <a:gd name="T31" fmla="*/ 22 h 226"/>
                <a:gd name="T32" fmla="*/ 294 w 350"/>
                <a:gd name="T33" fmla="*/ 22 h 226"/>
                <a:gd name="T34" fmla="*/ 294 w 350"/>
                <a:gd name="T35" fmla="*/ 22 h 226"/>
                <a:gd name="T36" fmla="*/ 300 w 350"/>
                <a:gd name="T37" fmla="*/ 34 h 226"/>
                <a:gd name="T38" fmla="*/ 306 w 350"/>
                <a:gd name="T39" fmla="*/ 44 h 226"/>
                <a:gd name="T40" fmla="*/ 316 w 350"/>
                <a:gd name="T41" fmla="*/ 52 h 226"/>
                <a:gd name="T42" fmla="*/ 328 w 350"/>
                <a:gd name="T43" fmla="*/ 56 h 226"/>
                <a:gd name="T44" fmla="*/ 328 w 350"/>
                <a:gd name="T45" fmla="*/ 134 h 226"/>
                <a:gd name="T46" fmla="*/ 350 w 350"/>
                <a:gd name="T47" fmla="*/ 134 h 226"/>
                <a:gd name="T48" fmla="*/ 350 w 350"/>
                <a:gd name="T49" fmla="*/ 12 h 226"/>
                <a:gd name="T50" fmla="*/ 350 w 350"/>
                <a:gd name="T51" fmla="*/ 12 h 226"/>
                <a:gd name="T52" fmla="*/ 350 w 350"/>
                <a:gd name="T53" fmla="*/ 8 h 226"/>
                <a:gd name="T54" fmla="*/ 346 w 350"/>
                <a:gd name="T55" fmla="*/ 4 h 226"/>
                <a:gd name="T56" fmla="*/ 342 w 350"/>
                <a:gd name="T57" fmla="*/ 2 h 226"/>
                <a:gd name="T58" fmla="*/ 338 w 350"/>
                <a:gd name="T59" fmla="*/ 0 h 226"/>
                <a:gd name="T60" fmla="*/ 12 w 350"/>
                <a:gd name="T61" fmla="*/ 0 h 226"/>
                <a:gd name="T62" fmla="*/ 12 w 350"/>
                <a:gd name="T63" fmla="*/ 0 h 226"/>
                <a:gd name="T64" fmla="*/ 8 w 350"/>
                <a:gd name="T65" fmla="*/ 2 h 226"/>
                <a:gd name="T66" fmla="*/ 4 w 350"/>
                <a:gd name="T67" fmla="*/ 4 h 226"/>
                <a:gd name="T68" fmla="*/ 0 w 350"/>
                <a:gd name="T69" fmla="*/ 8 h 226"/>
                <a:gd name="T70" fmla="*/ 0 w 350"/>
                <a:gd name="T71" fmla="*/ 12 h 226"/>
                <a:gd name="T72" fmla="*/ 0 w 350"/>
                <a:gd name="T73" fmla="*/ 214 h 226"/>
                <a:gd name="T74" fmla="*/ 0 w 350"/>
                <a:gd name="T75" fmla="*/ 214 h 226"/>
                <a:gd name="T76" fmla="*/ 0 w 350"/>
                <a:gd name="T77" fmla="*/ 218 h 226"/>
                <a:gd name="T78" fmla="*/ 4 w 350"/>
                <a:gd name="T79" fmla="*/ 222 h 226"/>
                <a:gd name="T80" fmla="*/ 8 w 350"/>
                <a:gd name="T81" fmla="*/ 226 h 226"/>
                <a:gd name="T82" fmla="*/ 12 w 350"/>
                <a:gd name="T83" fmla="*/ 226 h 226"/>
                <a:gd name="T84" fmla="*/ 256 w 350"/>
                <a:gd name="T85" fmla="*/ 226 h 226"/>
                <a:gd name="T86" fmla="*/ 256 w 350"/>
                <a:gd name="T87" fmla="*/ 226 h 226"/>
                <a:gd name="T88" fmla="*/ 254 w 350"/>
                <a:gd name="T89" fmla="*/ 218 h 226"/>
                <a:gd name="T90" fmla="*/ 254 w 350"/>
                <a:gd name="T91" fmla="*/ 21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0" h="226">
                  <a:moveTo>
                    <a:pt x="254" y="218"/>
                  </a:moveTo>
                  <a:lnTo>
                    <a:pt x="254" y="218"/>
                  </a:lnTo>
                  <a:lnTo>
                    <a:pt x="254" y="210"/>
                  </a:lnTo>
                  <a:lnTo>
                    <a:pt x="258" y="204"/>
                  </a:lnTo>
                  <a:lnTo>
                    <a:pt x="54" y="204"/>
                  </a:lnTo>
                  <a:lnTo>
                    <a:pt x="54" y="204"/>
                  </a:lnTo>
                  <a:lnTo>
                    <a:pt x="50" y="192"/>
                  </a:lnTo>
                  <a:lnTo>
                    <a:pt x="42" y="182"/>
                  </a:lnTo>
                  <a:lnTo>
                    <a:pt x="34" y="176"/>
                  </a:lnTo>
                  <a:lnTo>
                    <a:pt x="22" y="172"/>
                  </a:lnTo>
                  <a:lnTo>
                    <a:pt x="22" y="56"/>
                  </a:lnTo>
                  <a:lnTo>
                    <a:pt x="22" y="56"/>
                  </a:lnTo>
                  <a:lnTo>
                    <a:pt x="34" y="52"/>
                  </a:lnTo>
                  <a:lnTo>
                    <a:pt x="44" y="44"/>
                  </a:lnTo>
                  <a:lnTo>
                    <a:pt x="50" y="34"/>
                  </a:lnTo>
                  <a:lnTo>
                    <a:pt x="54" y="22"/>
                  </a:lnTo>
                  <a:lnTo>
                    <a:pt x="294" y="22"/>
                  </a:lnTo>
                  <a:lnTo>
                    <a:pt x="294" y="22"/>
                  </a:lnTo>
                  <a:lnTo>
                    <a:pt x="300" y="34"/>
                  </a:lnTo>
                  <a:lnTo>
                    <a:pt x="306" y="44"/>
                  </a:lnTo>
                  <a:lnTo>
                    <a:pt x="316" y="52"/>
                  </a:lnTo>
                  <a:lnTo>
                    <a:pt x="328" y="56"/>
                  </a:lnTo>
                  <a:lnTo>
                    <a:pt x="328" y="134"/>
                  </a:lnTo>
                  <a:lnTo>
                    <a:pt x="350" y="134"/>
                  </a:lnTo>
                  <a:lnTo>
                    <a:pt x="350" y="12"/>
                  </a:lnTo>
                  <a:lnTo>
                    <a:pt x="350" y="12"/>
                  </a:lnTo>
                  <a:lnTo>
                    <a:pt x="350" y="8"/>
                  </a:lnTo>
                  <a:lnTo>
                    <a:pt x="346" y="4"/>
                  </a:lnTo>
                  <a:lnTo>
                    <a:pt x="342" y="2"/>
                  </a:lnTo>
                  <a:lnTo>
                    <a:pt x="338" y="0"/>
                  </a:lnTo>
                  <a:lnTo>
                    <a:pt x="12" y="0"/>
                  </a:lnTo>
                  <a:lnTo>
                    <a:pt x="12" y="0"/>
                  </a:lnTo>
                  <a:lnTo>
                    <a:pt x="8" y="2"/>
                  </a:lnTo>
                  <a:lnTo>
                    <a:pt x="4" y="4"/>
                  </a:lnTo>
                  <a:lnTo>
                    <a:pt x="0" y="8"/>
                  </a:lnTo>
                  <a:lnTo>
                    <a:pt x="0" y="12"/>
                  </a:lnTo>
                  <a:lnTo>
                    <a:pt x="0" y="214"/>
                  </a:lnTo>
                  <a:lnTo>
                    <a:pt x="0" y="214"/>
                  </a:lnTo>
                  <a:lnTo>
                    <a:pt x="0" y="218"/>
                  </a:lnTo>
                  <a:lnTo>
                    <a:pt x="4" y="222"/>
                  </a:lnTo>
                  <a:lnTo>
                    <a:pt x="8" y="226"/>
                  </a:lnTo>
                  <a:lnTo>
                    <a:pt x="12" y="226"/>
                  </a:lnTo>
                  <a:lnTo>
                    <a:pt x="256" y="226"/>
                  </a:lnTo>
                  <a:lnTo>
                    <a:pt x="256" y="226"/>
                  </a:lnTo>
                  <a:lnTo>
                    <a:pt x="254" y="218"/>
                  </a:lnTo>
                  <a:lnTo>
                    <a:pt x="254" y="21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7"/>
            <p:cNvSpPr/>
            <p:nvPr/>
          </p:nvSpPr>
          <p:spPr bwMode="auto">
            <a:xfrm>
              <a:off x="9889938" y="3641175"/>
              <a:ext cx="189216" cy="33049"/>
            </a:xfrm>
            <a:custGeom>
              <a:avLst/>
              <a:gdLst>
                <a:gd name="T0" fmla="*/ 12 w 126"/>
                <a:gd name="T1" fmla="*/ 22 h 22"/>
                <a:gd name="T2" fmla="*/ 12 w 126"/>
                <a:gd name="T3" fmla="*/ 22 h 22"/>
                <a:gd name="T4" fmla="*/ 8 w 126"/>
                <a:gd name="T5" fmla="*/ 20 h 22"/>
                <a:gd name="T6" fmla="*/ 4 w 126"/>
                <a:gd name="T7" fmla="*/ 18 h 22"/>
                <a:gd name="T8" fmla="*/ 2 w 126"/>
                <a:gd name="T9" fmla="*/ 16 h 22"/>
                <a:gd name="T10" fmla="*/ 0 w 126"/>
                <a:gd name="T11" fmla="*/ 10 h 22"/>
                <a:gd name="T12" fmla="*/ 0 w 126"/>
                <a:gd name="T13" fmla="*/ 10 h 22"/>
                <a:gd name="T14" fmla="*/ 0 w 126"/>
                <a:gd name="T15" fmla="*/ 10 h 22"/>
                <a:gd name="T16" fmla="*/ 2 w 126"/>
                <a:gd name="T17" fmla="*/ 6 h 22"/>
                <a:gd name="T18" fmla="*/ 4 w 126"/>
                <a:gd name="T19" fmla="*/ 4 h 22"/>
                <a:gd name="T20" fmla="*/ 8 w 126"/>
                <a:gd name="T21" fmla="*/ 2 h 22"/>
                <a:gd name="T22" fmla="*/ 12 w 126"/>
                <a:gd name="T23" fmla="*/ 0 h 22"/>
                <a:gd name="T24" fmla="*/ 12 w 126"/>
                <a:gd name="T25" fmla="*/ 0 h 22"/>
                <a:gd name="T26" fmla="*/ 116 w 126"/>
                <a:gd name="T27" fmla="*/ 0 h 22"/>
                <a:gd name="T28" fmla="*/ 116 w 126"/>
                <a:gd name="T29" fmla="*/ 0 h 22"/>
                <a:gd name="T30" fmla="*/ 120 w 126"/>
                <a:gd name="T31" fmla="*/ 2 h 22"/>
                <a:gd name="T32" fmla="*/ 124 w 126"/>
                <a:gd name="T33" fmla="*/ 4 h 22"/>
                <a:gd name="T34" fmla="*/ 126 w 126"/>
                <a:gd name="T35" fmla="*/ 6 h 22"/>
                <a:gd name="T36" fmla="*/ 126 w 126"/>
                <a:gd name="T37" fmla="*/ 10 h 22"/>
                <a:gd name="T38" fmla="*/ 126 w 126"/>
                <a:gd name="T39" fmla="*/ 10 h 22"/>
                <a:gd name="T40" fmla="*/ 126 w 126"/>
                <a:gd name="T41" fmla="*/ 10 h 22"/>
                <a:gd name="T42" fmla="*/ 126 w 126"/>
                <a:gd name="T43" fmla="*/ 16 h 22"/>
                <a:gd name="T44" fmla="*/ 124 w 126"/>
                <a:gd name="T45" fmla="*/ 18 h 22"/>
                <a:gd name="T46" fmla="*/ 120 w 126"/>
                <a:gd name="T47" fmla="*/ 20 h 22"/>
                <a:gd name="T48" fmla="*/ 116 w 126"/>
                <a:gd name="T49" fmla="*/ 22 h 22"/>
                <a:gd name="T50" fmla="*/ 116 w 126"/>
                <a:gd name="T51" fmla="*/ 22 h 22"/>
                <a:gd name="T52" fmla="*/ 12 w 126"/>
                <a:gd name="T53" fmla="*/ 22 h 22"/>
                <a:gd name="T54" fmla="*/ 12 w 126"/>
                <a:gd name="T5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 h="22">
                  <a:moveTo>
                    <a:pt x="12" y="22"/>
                  </a:moveTo>
                  <a:lnTo>
                    <a:pt x="12" y="22"/>
                  </a:lnTo>
                  <a:lnTo>
                    <a:pt x="8" y="20"/>
                  </a:lnTo>
                  <a:lnTo>
                    <a:pt x="4" y="18"/>
                  </a:lnTo>
                  <a:lnTo>
                    <a:pt x="2" y="16"/>
                  </a:lnTo>
                  <a:lnTo>
                    <a:pt x="0" y="10"/>
                  </a:lnTo>
                  <a:lnTo>
                    <a:pt x="0" y="10"/>
                  </a:lnTo>
                  <a:lnTo>
                    <a:pt x="0" y="10"/>
                  </a:lnTo>
                  <a:lnTo>
                    <a:pt x="2" y="6"/>
                  </a:lnTo>
                  <a:lnTo>
                    <a:pt x="4" y="4"/>
                  </a:lnTo>
                  <a:lnTo>
                    <a:pt x="8" y="2"/>
                  </a:lnTo>
                  <a:lnTo>
                    <a:pt x="12" y="0"/>
                  </a:lnTo>
                  <a:lnTo>
                    <a:pt x="12" y="0"/>
                  </a:lnTo>
                  <a:lnTo>
                    <a:pt x="116" y="0"/>
                  </a:lnTo>
                  <a:lnTo>
                    <a:pt x="116" y="0"/>
                  </a:lnTo>
                  <a:lnTo>
                    <a:pt x="120" y="2"/>
                  </a:lnTo>
                  <a:lnTo>
                    <a:pt x="124" y="4"/>
                  </a:lnTo>
                  <a:lnTo>
                    <a:pt x="126" y="6"/>
                  </a:lnTo>
                  <a:lnTo>
                    <a:pt x="126" y="10"/>
                  </a:lnTo>
                  <a:lnTo>
                    <a:pt x="126" y="10"/>
                  </a:lnTo>
                  <a:lnTo>
                    <a:pt x="126" y="10"/>
                  </a:lnTo>
                  <a:lnTo>
                    <a:pt x="126" y="16"/>
                  </a:lnTo>
                  <a:lnTo>
                    <a:pt x="124" y="18"/>
                  </a:lnTo>
                  <a:lnTo>
                    <a:pt x="120" y="20"/>
                  </a:lnTo>
                  <a:lnTo>
                    <a:pt x="116" y="22"/>
                  </a:lnTo>
                  <a:lnTo>
                    <a:pt x="116" y="22"/>
                  </a:lnTo>
                  <a:lnTo>
                    <a:pt x="12" y="22"/>
                  </a:lnTo>
                  <a:lnTo>
                    <a:pt x="12" y="2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8"/>
            <p:cNvSpPr/>
            <p:nvPr/>
          </p:nvSpPr>
          <p:spPr bwMode="auto">
            <a:xfrm>
              <a:off x="9897556" y="3686246"/>
              <a:ext cx="189216" cy="33049"/>
            </a:xfrm>
            <a:custGeom>
              <a:avLst/>
              <a:gdLst>
                <a:gd name="T0" fmla="*/ 10 w 126"/>
                <a:gd name="T1" fmla="*/ 22 h 22"/>
                <a:gd name="T2" fmla="*/ 10 w 126"/>
                <a:gd name="T3" fmla="*/ 22 h 22"/>
                <a:gd name="T4" fmla="*/ 6 w 126"/>
                <a:gd name="T5" fmla="*/ 20 h 22"/>
                <a:gd name="T6" fmla="*/ 4 w 126"/>
                <a:gd name="T7" fmla="*/ 18 h 22"/>
                <a:gd name="T8" fmla="*/ 0 w 126"/>
                <a:gd name="T9" fmla="*/ 16 h 22"/>
                <a:gd name="T10" fmla="*/ 0 w 126"/>
                <a:gd name="T11" fmla="*/ 12 h 22"/>
                <a:gd name="T12" fmla="*/ 0 w 126"/>
                <a:gd name="T13" fmla="*/ 12 h 22"/>
                <a:gd name="T14" fmla="*/ 0 w 126"/>
                <a:gd name="T15" fmla="*/ 12 h 22"/>
                <a:gd name="T16" fmla="*/ 0 w 126"/>
                <a:gd name="T17" fmla="*/ 6 h 22"/>
                <a:gd name="T18" fmla="*/ 4 w 126"/>
                <a:gd name="T19" fmla="*/ 4 h 22"/>
                <a:gd name="T20" fmla="*/ 6 w 126"/>
                <a:gd name="T21" fmla="*/ 2 h 22"/>
                <a:gd name="T22" fmla="*/ 10 w 126"/>
                <a:gd name="T23" fmla="*/ 0 h 22"/>
                <a:gd name="T24" fmla="*/ 10 w 126"/>
                <a:gd name="T25" fmla="*/ 0 h 22"/>
                <a:gd name="T26" fmla="*/ 116 w 126"/>
                <a:gd name="T27" fmla="*/ 0 h 22"/>
                <a:gd name="T28" fmla="*/ 116 w 126"/>
                <a:gd name="T29" fmla="*/ 0 h 22"/>
                <a:gd name="T30" fmla="*/ 120 w 126"/>
                <a:gd name="T31" fmla="*/ 2 h 22"/>
                <a:gd name="T32" fmla="*/ 122 w 126"/>
                <a:gd name="T33" fmla="*/ 4 h 22"/>
                <a:gd name="T34" fmla="*/ 124 w 126"/>
                <a:gd name="T35" fmla="*/ 6 h 22"/>
                <a:gd name="T36" fmla="*/ 126 w 126"/>
                <a:gd name="T37" fmla="*/ 12 h 22"/>
                <a:gd name="T38" fmla="*/ 126 w 126"/>
                <a:gd name="T39" fmla="*/ 12 h 22"/>
                <a:gd name="T40" fmla="*/ 126 w 126"/>
                <a:gd name="T41" fmla="*/ 12 h 22"/>
                <a:gd name="T42" fmla="*/ 124 w 126"/>
                <a:gd name="T43" fmla="*/ 16 h 22"/>
                <a:gd name="T44" fmla="*/ 122 w 126"/>
                <a:gd name="T45" fmla="*/ 18 h 22"/>
                <a:gd name="T46" fmla="*/ 120 w 126"/>
                <a:gd name="T47" fmla="*/ 20 h 22"/>
                <a:gd name="T48" fmla="*/ 116 w 126"/>
                <a:gd name="T49" fmla="*/ 22 h 22"/>
                <a:gd name="T50" fmla="*/ 116 w 126"/>
                <a:gd name="T51" fmla="*/ 22 h 22"/>
                <a:gd name="T52" fmla="*/ 10 w 126"/>
                <a:gd name="T53" fmla="*/ 22 h 22"/>
                <a:gd name="T54" fmla="*/ 10 w 126"/>
                <a:gd name="T5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 h="22">
                  <a:moveTo>
                    <a:pt x="10" y="22"/>
                  </a:moveTo>
                  <a:lnTo>
                    <a:pt x="10" y="22"/>
                  </a:lnTo>
                  <a:lnTo>
                    <a:pt x="6" y="20"/>
                  </a:lnTo>
                  <a:lnTo>
                    <a:pt x="4" y="18"/>
                  </a:lnTo>
                  <a:lnTo>
                    <a:pt x="0" y="16"/>
                  </a:lnTo>
                  <a:lnTo>
                    <a:pt x="0" y="12"/>
                  </a:lnTo>
                  <a:lnTo>
                    <a:pt x="0" y="12"/>
                  </a:lnTo>
                  <a:lnTo>
                    <a:pt x="0" y="12"/>
                  </a:lnTo>
                  <a:lnTo>
                    <a:pt x="0" y="6"/>
                  </a:lnTo>
                  <a:lnTo>
                    <a:pt x="4" y="4"/>
                  </a:lnTo>
                  <a:lnTo>
                    <a:pt x="6" y="2"/>
                  </a:lnTo>
                  <a:lnTo>
                    <a:pt x="10" y="0"/>
                  </a:lnTo>
                  <a:lnTo>
                    <a:pt x="10" y="0"/>
                  </a:lnTo>
                  <a:lnTo>
                    <a:pt x="116" y="0"/>
                  </a:lnTo>
                  <a:lnTo>
                    <a:pt x="116" y="0"/>
                  </a:lnTo>
                  <a:lnTo>
                    <a:pt x="120" y="2"/>
                  </a:lnTo>
                  <a:lnTo>
                    <a:pt x="122" y="4"/>
                  </a:lnTo>
                  <a:lnTo>
                    <a:pt x="124" y="6"/>
                  </a:lnTo>
                  <a:lnTo>
                    <a:pt x="126" y="12"/>
                  </a:lnTo>
                  <a:lnTo>
                    <a:pt x="126" y="12"/>
                  </a:lnTo>
                  <a:lnTo>
                    <a:pt x="126" y="12"/>
                  </a:lnTo>
                  <a:lnTo>
                    <a:pt x="124" y="16"/>
                  </a:lnTo>
                  <a:lnTo>
                    <a:pt x="122" y="18"/>
                  </a:lnTo>
                  <a:lnTo>
                    <a:pt x="120" y="20"/>
                  </a:lnTo>
                  <a:lnTo>
                    <a:pt x="116" y="22"/>
                  </a:lnTo>
                  <a:lnTo>
                    <a:pt x="116" y="22"/>
                  </a:lnTo>
                  <a:lnTo>
                    <a:pt x="10" y="22"/>
                  </a:lnTo>
                  <a:lnTo>
                    <a:pt x="10" y="2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9"/>
            <p:cNvSpPr/>
            <p:nvPr/>
          </p:nvSpPr>
          <p:spPr bwMode="auto">
            <a:xfrm>
              <a:off x="9898429" y="3730221"/>
              <a:ext cx="189216" cy="33049"/>
            </a:xfrm>
            <a:custGeom>
              <a:avLst/>
              <a:gdLst>
                <a:gd name="T0" fmla="*/ 12 w 126"/>
                <a:gd name="T1" fmla="*/ 22 h 22"/>
                <a:gd name="T2" fmla="*/ 12 w 126"/>
                <a:gd name="T3" fmla="*/ 22 h 22"/>
                <a:gd name="T4" fmla="*/ 8 w 126"/>
                <a:gd name="T5" fmla="*/ 20 h 22"/>
                <a:gd name="T6" fmla="*/ 4 w 126"/>
                <a:gd name="T7" fmla="*/ 18 h 22"/>
                <a:gd name="T8" fmla="*/ 2 w 126"/>
                <a:gd name="T9" fmla="*/ 16 h 22"/>
                <a:gd name="T10" fmla="*/ 0 w 126"/>
                <a:gd name="T11" fmla="*/ 12 h 22"/>
                <a:gd name="T12" fmla="*/ 0 w 126"/>
                <a:gd name="T13" fmla="*/ 12 h 22"/>
                <a:gd name="T14" fmla="*/ 0 w 126"/>
                <a:gd name="T15" fmla="*/ 12 h 22"/>
                <a:gd name="T16" fmla="*/ 2 w 126"/>
                <a:gd name="T17" fmla="*/ 8 h 22"/>
                <a:gd name="T18" fmla="*/ 4 w 126"/>
                <a:gd name="T19" fmla="*/ 4 h 22"/>
                <a:gd name="T20" fmla="*/ 8 w 126"/>
                <a:gd name="T21" fmla="*/ 2 h 22"/>
                <a:gd name="T22" fmla="*/ 12 w 126"/>
                <a:gd name="T23" fmla="*/ 0 h 22"/>
                <a:gd name="T24" fmla="*/ 12 w 126"/>
                <a:gd name="T25" fmla="*/ 0 h 22"/>
                <a:gd name="T26" fmla="*/ 116 w 126"/>
                <a:gd name="T27" fmla="*/ 0 h 22"/>
                <a:gd name="T28" fmla="*/ 116 w 126"/>
                <a:gd name="T29" fmla="*/ 0 h 22"/>
                <a:gd name="T30" fmla="*/ 120 w 126"/>
                <a:gd name="T31" fmla="*/ 2 h 22"/>
                <a:gd name="T32" fmla="*/ 124 w 126"/>
                <a:gd name="T33" fmla="*/ 4 h 22"/>
                <a:gd name="T34" fmla="*/ 126 w 126"/>
                <a:gd name="T35" fmla="*/ 8 h 22"/>
                <a:gd name="T36" fmla="*/ 126 w 126"/>
                <a:gd name="T37" fmla="*/ 12 h 22"/>
                <a:gd name="T38" fmla="*/ 126 w 126"/>
                <a:gd name="T39" fmla="*/ 12 h 22"/>
                <a:gd name="T40" fmla="*/ 126 w 126"/>
                <a:gd name="T41" fmla="*/ 12 h 22"/>
                <a:gd name="T42" fmla="*/ 126 w 126"/>
                <a:gd name="T43" fmla="*/ 16 h 22"/>
                <a:gd name="T44" fmla="*/ 124 w 126"/>
                <a:gd name="T45" fmla="*/ 18 h 22"/>
                <a:gd name="T46" fmla="*/ 120 w 126"/>
                <a:gd name="T47" fmla="*/ 20 h 22"/>
                <a:gd name="T48" fmla="*/ 116 w 126"/>
                <a:gd name="T49" fmla="*/ 22 h 22"/>
                <a:gd name="T50" fmla="*/ 116 w 126"/>
                <a:gd name="T51" fmla="*/ 22 h 22"/>
                <a:gd name="T52" fmla="*/ 12 w 126"/>
                <a:gd name="T53" fmla="*/ 22 h 22"/>
                <a:gd name="T54" fmla="*/ 12 w 126"/>
                <a:gd name="T5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 h="22">
                  <a:moveTo>
                    <a:pt x="12" y="22"/>
                  </a:moveTo>
                  <a:lnTo>
                    <a:pt x="12" y="22"/>
                  </a:lnTo>
                  <a:lnTo>
                    <a:pt x="8" y="20"/>
                  </a:lnTo>
                  <a:lnTo>
                    <a:pt x="4" y="18"/>
                  </a:lnTo>
                  <a:lnTo>
                    <a:pt x="2" y="16"/>
                  </a:lnTo>
                  <a:lnTo>
                    <a:pt x="0" y="12"/>
                  </a:lnTo>
                  <a:lnTo>
                    <a:pt x="0" y="12"/>
                  </a:lnTo>
                  <a:lnTo>
                    <a:pt x="0" y="12"/>
                  </a:lnTo>
                  <a:lnTo>
                    <a:pt x="2" y="8"/>
                  </a:lnTo>
                  <a:lnTo>
                    <a:pt x="4" y="4"/>
                  </a:lnTo>
                  <a:lnTo>
                    <a:pt x="8" y="2"/>
                  </a:lnTo>
                  <a:lnTo>
                    <a:pt x="12" y="0"/>
                  </a:lnTo>
                  <a:lnTo>
                    <a:pt x="12" y="0"/>
                  </a:lnTo>
                  <a:lnTo>
                    <a:pt x="116" y="0"/>
                  </a:lnTo>
                  <a:lnTo>
                    <a:pt x="116" y="0"/>
                  </a:lnTo>
                  <a:lnTo>
                    <a:pt x="120" y="2"/>
                  </a:lnTo>
                  <a:lnTo>
                    <a:pt x="124" y="4"/>
                  </a:lnTo>
                  <a:lnTo>
                    <a:pt x="126" y="8"/>
                  </a:lnTo>
                  <a:lnTo>
                    <a:pt x="126" y="12"/>
                  </a:lnTo>
                  <a:lnTo>
                    <a:pt x="126" y="12"/>
                  </a:lnTo>
                  <a:lnTo>
                    <a:pt x="126" y="12"/>
                  </a:lnTo>
                  <a:lnTo>
                    <a:pt x="126" y="16"/>
                  </a:lnTo>
                  <a:lnTo>
                    <a:pt x="124" y="18"/>
                  </a:lnTo>
                  <a:lnTo>
                    <a:pt x="120" y="20"/>
                  </a:lnTo>
                  <a:lnTo>
                    <a:pt x="116" y="22"/>
                  </a:lnTo>
                  <a:lnTo>
                    <a:pt x="116" y="22"/>
                  </a:lnTo>
                  <a:lnTo>
                    <a:pt x="12" y="22"/>
                  </a:lnTo>
                  <a:lnTo>
                    <a:pt x="12" y="2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8"/>
            <p:cNvSpPr/>
            <p:nvPr/>
          </p:nvSpPr>
          <p:spPr bwMode="auto">
            <a:xfrm>
              <a:off x="9615151" y="3678582"/>
              <a:ext cx="189216" cy="33049"/>
            </a:xfrm>
            <a:custGeom>
              <a:avLst/>
              <a:gdLst>
                <a:gd name="T0" fmla="*/ 10 w 126"/>
                <a:gd name="T1" fmla="*/ 22 h 22"/>
                <a:gd name="T2" fmla="*/ 10 w 126"/>
                <a:gd name="T3" fmla="*/ 22 h 22"/>
                <a:gd name="T4" fmla="*/ 6 w 126"/>
                <a:gd name="T5" fmla="*/ 20 h 22"/>
                <a:gd name="T6" fmla="*/ 4 w 126"/>
                <a:gd name="T7" fmla="*/ 18 h 22"/>
                <a:gd name="T8" fmla="*/ 0 w 126"/>
                <a:gd name="T9" fmla="*/ 16 h 22"/>
                <a:gd name="T10" fmla="*/ 0 w 126"/>
                <a:gd name="T11" fmla="*/ 12 h 22"/>
                <a:gd name="T12" fmla="*/ 0 w 126"/>
                <a:gd name="T13" fmla="*/ 12 h 22"/>
                <a:gd name="T14" fmla="*/ 0 w 126"/>
                <a:gd name="T15" fmla="*/ 12 h 22"/>
                <a:gd name="T16" fmla="*/ 0 w 126"/>
                <a:gd name="T17" fmla="*/ 6 h 22"/>
                <a:gd name="T18" fmla="*/ 4 w 126"/>
                <a:gd name="T19" fmla="*/ 4 h 22"/>
                <a:gd name="T20" fmla="*/ 6 w 126"/>
                <a:gd name="T21" fmla="*/ 2 h 22"/>
                <a:gd name="T22" fmla="*/ 10 w 126"/>
                <a:gd name="T23" fmla="*/ 0 h 22"/>
                <a:gd name="T24" fmla="*/ 10 w 126"/>
                <a:gd name="T25" fmla="*/ 0 h 22"/>
                <a:gd name="T26" fmla="*/ 116 w 126"/>
                <a:gd name="T27" fmla="*/ 0 h 22"/>
                <a:gd name="T28" fmla="*/ 116 w 126"/>
                <a:gd name="T29" fmla="*/ 0 h 22"/>
                <a:gd name="T30" fmla="*/ 120 w 126"/>
                <a:gd name="T31" fmla="*/ 2 h 22"/>
                <a:gd name="T32" fmla="*/ 122 w 126"/>
                <a:gd name="T33" fmla="*/ 4 h 22"/>
                <a:gd name="T34" fmla="*/ 124 w 126"/>
                <a:gd name="T35" fmla="*/ 6 h 22"/>
                <a:gd name="T36" fmla="*/ 126 w 126"/>
                <a:gd name="T37" fmla="*/ 12 h 22"/>
                <a:gd name="T38" fmla="*/ 126 w 126"/>
                <a:gd name="T39" fmla="*/ 12 h 22"/>
                <a:gd name="T40" fmla="*/ 126 w 126"/>
                <a:gd name="T41" fmla="*/ 12 h 22"/>
                <a:gd name="T42" fmla="*/ 124 w 126"/>
                <a:gd name="T43" fmla="*/ 16 h 22"/>
                <a:gd name="T44" fmla="*/ 122 w 126"/>
                <a:gd name="T45" fmla="*/ 18 h 22"/>
                <a:gd name="T46" fmla="*/ 120 w 126"/>
                <a:gd name="T47" fmla="*/ 20 h 22"/>
                <a:gd name="T48" fmla="*/ 116 w 126"/>
                <a:gd name="T49" fmla="*/ 22 h 22"/>
                <a:gd name="T50" fmla="*/ 116 w 126"/>
                <a:gd name="T51" fmla="*/ 22 h 22"/>
                <a:gd name="T52" fmla="*/ 10 w 126"/>
                <a:gd name="T53" fmla="*/ 22 h 22"/>
                <a:gd name="T54" fmla="*/ 10 w 126"/>
                <a:gd name="T5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 h="22">
                  <a:moveTo>
                    <a:pt x="10" y="22"/>
                  </a:moveTo>
                  <a:lnTo>
                    <a:pt x="10" y="22"/>
                  </a:lnTo>
                  <a:lnTo>
                    <a:pt x="6" y="20"/>
                  </a:lnTo>
                  <a:lnTo>
                    <a:pt x="4" y="18"/>
                  </a:lnTo>
                  <a:lnTo>
                    <a:pt x="0" y="16"/>
                  </a:lnTo>
                  <a:lnTo>
                    <a:pt x="0" y="12"/>
                  </a:lnTo>
                  <a:lnTo>
                    <a:pt x="0" y="12"/>
                  </a:lnTo>
                  <a:lnTo>
                    <a:pt x="0" y="12"/>
                  </a:lnTo>
                  <a:lnTo>
                    <a:pt x="0" y="6"/>
                  </a:lnTo>
                  <a:lnTo>
                    <a:pt x="4" y="4"/>
                  </a:lnTo>
                  <a:lnTo>
                    <a:pt x="6" y="2"/>
                  </a:lnTo>
                  <a:lnTo>
                    <a:pt x="10" y="0"/>
                  </a:lnTo>
                  <a:lnTo>
                    <a:pt x="10" y="0"/>
                  </a:lnTo>
                  <a:lnTo>
                    <a:pt x="116" y="0"/>
                  </a:lnTo>
                  <a:lnTo>
                    <a:pt x="116" y="0"/>
                  </a:lnTo>
                  <a:lnTo>
                    <a:pt x="120" y="2"/>
                  </a:lnTo>
                  <a:lnTo>
                    <a:pt x="122" y="4"/>
                  </a:lnTo>
                  <a:lnTo>
                    <a:pt x="124" y="6"/>
                  </a:lnTo>
                  <a:lnTo>
                    <a:pt x="126" y="12"/>
                  </a:lnTo>
                  <a:lnTo>
                    <a:pt x="126" y="12"/>
                  </a:lnTo>
                  <a:lnTo>
                    <a:pt x="126" y="12"/>
                  </a:lnTo>
                  <a:lnTo>
                    <a:pt x="124" y="16"/>
                  </a:lnTo>
                  <a:lnTo>
                    <a:pt x="122" y="18"/>
                  </a:lnTo>
                  <a:lnTo>
                    <a:pt x="120" y="20"/>
                  </a:lnTo>
                  <a:lnTo>
                    <a:pt x="116" y="22"/>
                  </a:lnTo>
                  <a:lnTo>
                    <a:pt x="116" y="22"/>
                  </a:lnTo>
                  <a:lnTo>
                    <a:pt x="10" y="22"/>
                  </a:lnTo>
                  <a:lnTo>
                    <a:pt x="10" y="2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8"/>
            <p:cNvSpPr/>
            <p:nvPr/>
          </p:nvSpPr>
          <p:spPr bwMode="auto">
            <a:xfrm>
              <a:off x="9615454" y="3626408"/>
              <a:ext cx="189216" cy="33049"/>
            </a:xfrm>
            <a:custGeom>
              <a:avLst/>
              <a:gdLst>
                <a:gd name="T0" fmla="*/ 10 w 126"/>
                <a:gd name="T1" fmla="*/ 22 h 22"/>
                <a:gd name="T2" fmla="*/ 10 w 126"/>
                <a:gd name="T3" fmla="*/ 22 h 22"/>
                <a:gd name="T4" fmla="*/ 6 w 126"/>
                <a:gd name="T5" fmla="*/ 20 h 22"/>
                <a:gd name="T6" fmla="*/ 4 w 126"/>
                <a:gd name="T7" fmla="*/ 18 h 22"/>
                <a:gd name="T8" fmla="*/ 0 w 126"/>
                <a:gd name="T9" fmla="*/ 16 h 22"/>
                <a:gd name="T10" fmla="*/ 0 w 126"/>
                <a:gd name="T11" fmla="*/ 12 h 22"/>
                <a:gd name="T12" fmla="*/ 0 w 126"/>
                <a:gd name="T13" fmla="*/ 12 h 22"/>
                <a:gd name="T14" fmla="*/ 0 w 126"/>
                <a:gd name="T15" fmla="*/ 12 h 22"/>
                <a:gd name="T16" fmla="*/ 0 w 126"/>
                <a:gd name="T17" fmla="*/ 6 h 22"/>
                <a:gd name="T18" fmla="*/ 4 w 126"/>
                <a:gd name="T19" fmla="*/ 4 h 22"/>
                <a:gd name="T20" fmla="*/ 6 w 126"/>
                <a:gd name="T21" fmla="*/ 2 h 22"/>
                <a:gd name="T22" fmla="*/ 10 w 126"/>
                <a:gd name="T23" fmla="*/ 0 h 22"/>
                <a:gd name="T24" fmla="*/ 10 w 126"/>
                <a:gd name="T25" fmla="*/ 0 h 22"/>
                <a:gd name="T26" fmla="*/ 116 w 126"/>
                <a:gd name="T27" fmla="*/ 0 h 22"/>
                <a:gd name="T28" fmla="*/ 116 w 126"/>
                <a:gd name="T29" fmla="*/ 0 h 22"/>
                <a:gd name="T30" fmla="*/ 120 w 126"/>
                <a:gd name="T31" fmla="*/ 2 h 22"/>
                <a:gd name="T32" fmla="*/ 122 w 126"/>
                <a:gd name="T33" fmla="*/ 4 h 22"/>
                <a:gd name="T34" fmla="*/ 124 w 126"/>
                <a:gd name="T35" fmla="*/ 6 h 22"/>
                <a:gd name="T36" fmla="*/ 126 w 126"/>
                <a:gd name="T37" fmla="*/ 12 h 22"/>
                <a:gd name="T38" fmla="*/ 126 w 126"/>
                <a:gd name="T39" fmla="*/ 12 h 22"/>
                <a:gd name="T40" fmla="*/ 126 w 126"/>
                <a:gd name="T41" fmla="*/ 12 h 22"/>
                <a:gd name="T42" fmla="*/ 124 w 126"/>
                <a:gd name="T43" fmla="*/ 16 h 22"/>
                <a:gd name="T44" fmla="*/ 122 w 126"/>
                <a:gd name="T45" fmla="*/ 18 h 22"/>
                <a:gd name="T46" fmla="*/ 120 w 126"/>
                <a:gd name="T47" fmla="*/ 20 h 22"/>
                <a:gd name="T48" fmla="*/ 116 w 126"/>
                <a:gd name="T49" fmla="*/ 22 h 22"/>
                <a:gd name="T50" fmla="*/ 116 w 126"/>
                <a:gd name="T51" fmla="*/ 22 h 22"/>
                <a:gd name="T52" fmla="*/ 10 w 126"/>
                <a:gd name="T53" fmla="*/ 22 h 22"/>
                <a:gd name="T54" fmla="*/ 10 w 126"/>
                <a:gd name="T5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 h="22">
                  <a:moveTo>
                    <a:pt x="10" y="22"/>
                  </a:moveTo>
                  <a:lnTo>
                    <a:pt x="10" y="22"/>
                  </a:lnTo>
                  <a:lnTo>
                    <a:pt x="6" y="20"/>
                  </a:lnTo>
                  <a:lnTo>
                    <a:pt x="4" y="18"/>
                  </a:lnTo>
                  <a:lnTo>
                    <a:pt x="0" y="16"/>
                  </a:lnTo>
                  <a:lnTo>
                    <a:pt x="0" y="12"/>
                  </a:lnTo>
                  <a:lnTo>
                    <a:pt x="0" y="12"/>
                  </a:lnTo>
                  <a:lnTo>
                    <a:pt x="0" y="12"/>
                  </a:lnTo>
                  <a:lnTo>
                    <a:pt x="0" y="6"/>
                  </a:lnTo>
                  <a:lnTo>
                    <a:pt x="4" y="4"/>
                  </a:lnTo>
                  <a:lnTo>
                    <a:pt x="6" y="2"/>
                  </a:lnTo>
                  <a:lnTo>
                    <a:pt x="10" y="0"/>
                  </a:lnTo>
                  <a:lnTo>
                    <a:pt x="10" y="0"/>
                  </a:lnTo>
                  <a:lnTo>
                    <a:pt x="116" y="0"/>
                  </a:lnTo>
                  <a:lnTo>
                    <a:pt x="116" y="0"/>
                  </a:lnTo>
                  <a:lnTo>
                    <a:pt x="120" y="2"/>
                  </a:lnTo>
                  <a:lnTo>
                    <a:pt x="122" y="4"/>
                  </a:lnTo>
                  <a:lnTo>
                    <a:pt x="124" y="6"/>
                  </a:lnTo>
                  <a:lnTo>
                    <a:pt x="126" y="12"/>
                  </a:lnTo>
                  <a:lnTo>
                    <a:pt x="126" y="12"/>
                  </a:lnTo>
                  <a:lnTo>
                    <a:pt x="126" y="12"/>
                  </a:lnTo>
                  <a:lnTo>
                    <a:pt x="124" y="16"/>
                  </a:lnTo>
                  <a:lnTo>
                    <a:pt x="122" y="18"/>
                  </a:lnTo>
                  <a:lnTo>
                    <a:pt x="120" y="20"/>
                  </a:lnTo>
                  <a:lnTo>
                    <a:pt x="116" y="22"/>
                  </a:lnTo>
                  <a:lnTo>
                    <a:pt x="116" y="22"/>
                  </a:lnTo>
                  <a:lnTo>
                    <a:pt x="10" y="22"/>
                  </a:lnTo>
                  <a:lnTo>
                    <a:pt x="10" y="2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8"/>
            <p:cNvSpPr/>
            <p:nvPr/>
          </p:nvSpPr>
          <p:spPr bwMode="auto">
            <a:xfrm>
              <a:off x="9609619" y="3572836"/>
              <a:ext cx="189216" cy="33049"/>
            </a:xfrm>
            <a:custGeom>
              <a:avLst/>
              <a:gdLst>
                <a:gd name="T0" fmla="*/ 10 w 126"/>
                <a:gd name="T1" fmla="*/ 22 h 22"/>
                <a:gd name="T2" fmla="*/ 10 w 126"/>
                <a:gd name="T3" fmla="*/ 22 h 22"/>
                <a:gd name="T4" fmla="*/ 6 w 126"/>
                <a:gd name="T5" fmla="*/ 20 h 22"/>
                <a:gd name="T6" fmla="*/ 4 w 126"/>
                <a:gd name="T7" fmla="*/ 18 h 22"/>
                <a:gd name="T8" fmla="*/ 0 w 126"/>
                <a:gd name="T9" fmla="*/ 16 h 22"/>
                <a:gd name="T10" fmla="*/ 0 w 126"/>
                <a:gd name="T11" fmla="*/ 12 h 22"/>
                <a:gd name="T12" fmla="*/ 0 w 126"/>
                <a:gd name="T13" fmla="*/ 12 h 22"/>
                <a:gd name="T14" fmla="*/ 0 w 126"/>
                <a:gd name="T15" fmla="*/ 12 h 22"/>
                <a:gd name="T16" fmla="*/ 0 w 126"/>
                <a:gd name="T17" fmla="*/ 6 h 22"/>
                <a:gd name="T18" fmla="*/ 4 w 126"/>
                <a:gd name="T19" fmla="*/ 4 h 22"/>
                <a:gd name="T20" fmla="*/ 6 w 126"/>
                <a:gd name="T21" fmla="*/ 2 h 22"/>
                <a:gd name="T22" fmla="*/ 10 w 126"/>
                <a:gd name="T23" fmla="*/ 0 h 22"/>
                <a:gd name="T24" fmla="*/ 10 w 126"/>
                <a:gd name="T25" fmla="*/ 0 h 22"/>
                <a:gd name="T26" fmla="*/ 116 w 126"/>
                <a:gd name="T27" fmla="*/ 0 h 22"/>
                <a:gd name="T28" fmla="*/ 116 w 126"/>
                <a:gd name="T29" fmla="*/ 0 h 22"/>
                <a:gd name="T30" fmla="*/ 120 w 126"/>
                <a:gd name="T31" fmla="*/ 2 h 22"/>
                <a:gd name="T32" fmla="*/ 122 w 126"/>
                <a:gd name="T33" fmla="*/ 4 h 22"/>
                <a:gd name="T34" fmla="*/ 124 w 126"/>
                <a:gd name="T35" fmla="*/ 6 h 22"/>
                <a:gd name="T36" fmla="*/ 126 w 126"/>
                <a:gd name="T37" fmla="*/ 12 h 22"/>
                <a:gd name="T38" fmla="*/ 126 w 126"/>
                <a:gd name="T39" fmla="*/ 12 h 22"/>
                <a:gd name="T40" fmla="*/ 126 w 126"/>
                <a:gd name="T41" fmla="*/ 12 h 22"/>
                <a:gd name="T42" fmla="*/ 124 w 126"/>
                <a:gd name="T43" fmla="*/ 16 h 22"/>
                <a:gd name="T44" fmla="*/ 122 w 126"/>
                <a:gd name="T45" fmla="*/ 18 h 22"/>
                <a:gd name="T46" fmla="*/ 120 w 126"/>
                <a:gd name="T47" fmla="*/ 20 h 22"/>
                <a:gd name="T48" fmla="*/ 116 w 126"/>
                <a:gd name="T49" fmla="*/ 22 h 22"/>
                <a:gd name="T50" fmla="*/ 116 w 126"/>
                <a:gd name="T51" fmla="*/ 22 h 22"/>
                <a:gd name="T52" fmla="*/ 10 w 126"/>
                <a:gd name="T53" fmla="*/ 22 h 22"/>
                <a:gd name="T54" fmla="*/ 10 w 126"/>
                <a:gd name="T5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 h="22">
                  <a:moveTo>
                    <a:pt x="10" y="22"/>
                  </a:moveTo>
                  <a:lnTo>
                    <a:pt x="10" y="22"/>
                  </a:lnTo>
                  <a:lnTo>
                    <a:pt x="6" y="20"/>
                  </a:lnTo>
                  <a:lnTo>
                    <a:pt x="4" y="18"/>
                  </a:lnTo>
                  <a:lnTo>
                    <a:pt x="0" y="16"/>
                  </a:lnTo>
                  <a:lnTo>
                    <a:pt x="0" y="12"/>
                  </a:lnTo>
                  <a:lnTo>
                    <a:pt x="0" y="12"/>
                  </a:lnTo>
                  <a:lnTo>
                    <a:pt x="0" y="12"/>
                  </a:lnTo>
                  <a:lnTo>
                    <a:pt x="0" y="6"/>
                  </a:lnTo>
                  <a:lnTo>
                    <a:pt x="4" y="4"/>
                  </a:lnTo>
                  <a:lnTo>
                    <a:pt x="6" y="2"/>
                  </a:lnTo>
                  <a:lnTo>
                    <a:pt x="10" y="0"/>
                  </a:lnTo>
                  <a:lnTo>
                    <a:pt x="10" y="0"/>
                  </a:lnTo>
                  <a:lnTo>
                    <a:pt x="116" y="0"/>
                  </a:lnTo>
                  <a:lnTo>
                    <a:pt x="116" y="0"/>
                  </a:lnTo>
                  <a:lnTo>
                    <a:pt x="120" y="2"/>
                  </a:lnTo>
                  <a:lnTo>
                    <a:pt x="122" y="4"/>
                  </a:lnTo>
                  <a:lnTo>
                    <a:pt x="124" y="6"/>
                  </a:lnTo>
                  <a:lnTo>
                    <a:pt x="126" y="12"/>
                  </a:lnTo>
                  <a:lnTo>
                    <a:pt x="126" y="12"/>
                  </a:lnTo>
                  <a:lnTo>
                    <a:pt x="126" y="12"/>
                  </a:lnTo>
                  <a:lnTo>
                    <a:pt x="124" y="16"/>
                  </a:lnTo>
                  <a:lnTo>
                    <a:pt x="122" y="18"/>
                  </a:lnTo>
                  <a:lnTo>
                    <a:pt x="120" y="20"/>
                  </a:lnTo>
                  <a:lnTo>
                    <a:pt x="116" y="22"/>
                  </a:lnTo>
                  <a:lnTo>
                    <a:pt x="116" y="22"/>
                  </a:lnTo>
                  <a:lnTo>
                    <a:pt x="10" y="22"/>
                  </a:lnTo>
                  <a:lnTo>
                    <a:pt x="10" y="2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8"/>
            <p:cNvSpPr/>
            <p:nvPr/>
          </p:nvSpPr>
          <p:spPr bwMode="auto">
            <a:xfrm>
              <a:off x="9609619" y="3521182"/>
              <a:ext cx="189216" cy="33049"/>
            </a:xfrm>
            <a:custGeom>
              <a:avLst/>
              <a:gdLst>
                <a:gd name="T0" fmla="*/ 10 w 126"/>
                <a:gd name="T1" fmla="*/ 22 h 22"/>
                <a:gd name="T2" fmla="*/ 10 w 126"/>
                <a:gd name="T3" fmla="*/ 22 h 22"/>
                <a:gd name="T4" fmla="*/ 6 w 126"/>
                <a:gd name="T5" fmla="*/ 20 h 22"/>
                <a:gd name="T6" fmla="*/ 4 w 126"/>
                <a:gd name="T7" fmla="*/ 18 h 22"/>
                <a:gd name="T8" fmla="*/ 0 w 126"/>
                <a:gd name="T9" fmla="*/ 16 h 22"/>
                <a:gd name="T10" fmla="*/ 0 w 126"/>
                <a:gd name="T11" fmla="*/ 12 h 22"/>
                <a:gd name="T12" fmla="*/ 0 w 126"/>
                <a:gd name="T13" fmla="*/ 12 h 22"/>
                <a:gd name="T14" fmla="*/ 0 w 126"/>
                <a:gd name="T15" fmla="*/ 12 h 22"/>
                <a:gd name="T16" fmla="*/ 0 w 126"/>
                <a:gd name="T17" fmla="*/ 6 h 22"/>
                <a:gd name="T18" fmla="*/ 4 w 126"/>
                <a:gd name="T19" fmla="*/ 4 h 22"/>
                <a:gd name="T20" fmla="*/ 6 w 126"/>
                <a:gd name="T21" fmla="*/ 2 h 22"/>
                <a:gd name="T22" fmla="*/ 10 w 126"/>
                <a:gd name="T23" fmla="*/ 0 h 22"/>
                <a:gd name="T24" fmla="*/ 10 w 126"/>
                <a:gd name="T25" fmla="*/ 0 h 22"/>
                <a:gd name="T26" fmla="*/ 116 w 126"/>
                <a:gd name="T27" fmla="*/ 0 h 22"/>
                <a:gd name="T28" fmla="*/ 116 w 126"/>
                <a:gd name="T29" fmla="*/ 0 h 22"/>
                <a:gd name="T30" fmla="*/ 120 w 126"/>
                <a:gd name="T31" fmla="*/ 2 h 22"/>
                <a:gd name="T32" fmla="*/ 122 w 126"/>
                <a:gd name="T33" fmla="*/ 4 h 22"/>
                <a:gd name="T34" fmla="*/ 124 w 126"/>
                <a:gd name="T35" fmla="*/ 6 h 22"/>
                <a:gd name="T36" fmla="*/ 126 w 126"/>
                <a:gd name="T37" fmla="*/ 12 h 22"/>
                <a:gd name="T38" fmla="*/ 126 w 126"/>
                <a:gd name="T39" fmla="*/ 12 h 22"/>
                <a:gd name="T40" fmla="*/ 126 w 126"/>
                <a:gd name="T41" fmla="*/ 12 h 22"/>
                <a:gd name="T42" fmla="*/ 124 w 126"/>
                <a:gd name="T43" fmla="*/ 16 h 22"/>
                <a:gd name="T44" fmla="*/ 122 w 126"/>
                <a:gd name="T45" fmla="*/ 18 h 22"/>
                <a:gd name="T46" fmla="*/ 120 w 126"/>
                <a:gd name="T47" fmla="*/ 20 h 22"/>
                <a:gd name="T48" fmla="*/ 116 w 126"/>
                <a:gd name="T49" fmla="*/ 22 h 22"/>
                <a:gd name="T50" fmla="*/ 116 w 126"/>
                <a:gd name="T51" fmla="*/ 22 h 22"/>
                <a:gd name="T52" fmla="*/ 10 w 126"/>
                <a:gd name="T53" fmla="*/ 22 h 22"/>
                <a:gd name="T54" fmla="*/ 10 w 126"/>
                <a:gd name="T5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 h="22">
                  <a:moveTo>
                    <a:pt x="10" y="22"/>
                  </a:moveTo>
                  <a:lnTo>
                    <a:pt x="10" y="22"/>
                  </a:lnTo>
                  <a:lnTo>
                    <a:pt x="6" y="20"/>
                  </a:lnTo>
                  <a:lnTo>
                    <a:pt x="4" y="18"/>
                  </a:lnTo>
                  <a:lnTo>
                    <a:pt x="0" y="16"/>
                  </a:lnTo>
                  <a:lnTo>
                    <a:pt x="0" y="12"/>
                  </a:lnTo>
                  <a:lnTo>
                    <a:pt x="0" y="12"/>
                  </a:lnTo>
                  <a:lnTo>
                    <a:pt x="0" y="12"/>
                  </a:lnTo>
                  <a:lnTo>
                    <a:pt x="0" y="6"/>
                  </a:lnTo>
                  <a:lnTo>
                    <a:pt x="4" y="4"/>
                  </a:lnTo>
                  <a:lnTo>
                    <a:pt x="6" y="2"/>
                  </a:lnTo>
                  <a:lnTo>
                    <a:pt x="10" y="0"/>
                  </a:lnTo>
                  <a:lnTo>
                    <a:pt x="10" y="0"/>
                  </a:lnTo>
                  <a:lnTo>
                    <a:pt x="116" y="0"/>
                  </a:lnTo>
                  <a:lnTo>
                    <a:pt x="116" y="0"/>
                  </a:lnTo>
                  <a:lnTo>
                    <a:pt x="120" y="2"/>
                  </a:lnTo>
                  <a:lnTo>
                    <a:pt x="122" y="4"/>
                  </a:lnTo>
                  <a:lnTo>
                    <a:pt x="124" y="6"/>
                  </a:lnTo>
                  <a:lnTo>
                    <a:pt x="126" y="12"/>
                  </a:lnTo>
                  <a:lnTo>
                    <a:pt x="126" y="12"/>
                  </a:lnTo>
                  <a:lnTo>
                    <a:pt x="126" y="12"/>
                  </a:lnTo>
                  <a:lnTo>
                    <a:pt x="124" y="16"/>
                  </a:lnTo>
                  <a:lnTo>
                    <a:pt x="122" y="18"/>
                  </a:lnTo>
                  <a:lnTo>
                    <a:pt x="120" y="20"/>
                  </a:lnTo>
                  <a:lnTo>
                    <a:pt x="116" y="22"/>
                  </a:lnTo>
                  <a:lnTo>
                    <a:pt x="116" y="22"/>
                  </a:lnTo>
                  <a:lnTo>
                    <a:pt x="10" y="22"/>
                  </a:lnTo>
                  <a:lnTo>
                    <a:pt x="10" y="2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65" name="矩形 64"/>
          <p:cNvSpPr/>
          <p:nvPr/>
        </p:nvSpPr>
        <p:spPr>
          <a:xfrm>
            <a:off x="1885144" y="1152404"/>
            <a:ext cx="1059906" cy="276999"/>
          </a:xfrm>
          <a:prstGeom prst="rect">
            <a:avLst/>
          </a:prstGeom>
          <a:noFill/>
        </p:spPr>
        <p:txBody>
          <a:bodyPr wrap="none" lIns="91440" tIns="45720" rIns="91440" bIns="45720">
            <a:spAutoFit/>
          </a:bodyPr>
          <a:lstStyle/>
          <a:p>
            <a:pPr algn="ctr"/>
            <a:r>
              <a:rPr lang="en-US" altLang="zh-CN" sz="1200" b="0" cap="none" spc="0" dirty="0">
                <a:ln w="0"/>
                <a:solidFill>
                  <a:srgbClr val="FF0000"/>
                </a:solidFill>
                <a:effectLst>
                  <a:outerShdw blurRad="38100" dist="19050" dir="2700000" algn="tl" rotWithShape="0">
                    <a:schemeClr val="dk1">
                      <a:alpha val="40000"/>
                    </a:schemeClr>
                  </a:outerShdw>
                </a:effectLst>
                <a:latin typeface="Segoe UI Black" panose="020B0A02040204020203" pitchFamily="34" charset="0"/>
                <a:ea typeface="Segoe UI Black" panose="020B0A02040204020203" pitchFamily="34" charset="0"/>
                <a:cs typeface="Segoe UI Black" panose="020B0A02040204020203" pitchFamily="34" charset="0"/>
              </a:rPr>
              <a:t>4008105119</a:t>
            </a:r>
            <a:endParaRPr lang="zh-CN" altLang="en-US" sz="1200" b="0" cap="none" spc="0" dirty="0">
              <a:ln w="0"/>
              <a:solidFill>
                <a:srgbClr val="FF0000"/>
              </a:solidFill>
              <a:effectLst>
                <a:outerShdw blurRad="38100" dist="19050" dir="2700000" algn="tl" rotWithShape="0">
                  <a:schemeClr val="dk1">
                    <a:alpha val="40000"/>
                  </a:schemeClr>
                </a:outerShdw>
              </a:effectLst>
              <a:latin typeface="Segoe UI Black" panose="020B0A02040204020203" pitchFamily="34" charset="0"/>
              <a:cs typeface="Segoe UI Black" panose="020B0A02040204020203" pitchFamily="34" charset="0"/>
            </a:endParaRPr>
          </a:p>
        </p:txBody>
      </p:sp>
      <p:grpSp>
        <p:nvGrpSpPr>
          <p:cNvPr id="97" name="组合 96"/>
          <p:cNvGrpSpPr/>
          <p:nvPr/>
        </p:nvGrpSpPr>
        <p:grpSpPr>
          <a:xfrm>
            <a:off x="5364088" y="1232036"/>
            <a:ext cx="765915" cy="805489"/>
            <a:chOff x="5868995" y="851689"/>
            <a:chExt cx="765915" cy="805489"/>
          </a:xfrm>
        </p:grpSpPr>
        <p:grpSp>
          <p:nvGrpSpPr>
            <p:cNvPr id="61" name="组合 60"/>
            <p:cNvGrpSpPr/>
            <p:nvPr/>
          </p:nvGrpSpPr>
          <p:grpSpPr>
            <a:xfrm>
              <a:off x="5868995" y="851689"/>
              <a:ext cx="765915" cy="805489"/>
              <a:chOff x="451828" y="922758"/>
              <a:chExt cx="4000498" cy="4000499"/>
            </a:xfrm>
            <a:effectLst>
              <a:outerShdw blurRad="444500" dist="254000" dir="8100000" algn="tr" rotWithShape="0">
                <a:prstClr val="black">
                  <a:alpha val="50000"/>
                </a:prstClr>
              </a:outerShdw>
            </a:effectLst>
          </p:grpSpPr>
          <p:sp>
            <p:nvSpPr>
              <p:cNvPr id="63" name="同心圆 62"/>
              <p:cNvSpPr/>
              <p:nvPr/>
            </p:nvSpPr>
            <p:spPr>
              <a:xfrm>
                <a:off x="451828" y="922758"/>
                <a:ext cx="4000498" cy="4000499"/>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椭圆 63"/>
              <p:cNvSpPr/>
              <p:nvPr/>
            </p:nvSpPr>
            <p:spPr>
              <a:xfrm>
                <a:off x="539144" y="1010005"/>
                <a:ext cx="3825872" cy="3793766"/>
              </a:xfrm>
              <a:prstGeom prst="ellipse">
                <a:avLst/>
              </a:prstGeom>
              <a:solidFill>
                <a:srgbClr val="FF99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7" name="Group 44"/>
            <p:cNvGrpSpPr/>
            <p:nvPr/>
          </p:nvGrpSpPr>
          <p:grpSpPr>
            <a:xfrm>
              <a:off x="6082749" y="1042269"/>
              <a:ext cx="361459" cy="387156"/>
              <a:chOff x="3789363" y="3787775"/>
              <a:chExt cx="357188" cy="407988"/>
            </a:xfrm>
            <a:solidFill>
              <a:schemeClr val="bg1"/>
            </a:solidFill>
          </p:grpSpPr>
          <p:sp>
            <p:nvSpPr>
              <p:cNvPr id="68" name="Freeform 40"/>
              <p:cNvSpPr>
                <a:spLocks noEditPoints="1"/>
              </p:cNvSpPr>
              <p:nvPr/>
            </p:nvSpPr>
            <p:spPr bwMode="auto">
              <a:xfrm>
                <a:off x="3789363" y="3787775"/>
                <a:ext cx="357188" cy="407988"/>
              </a:xfrm>
              <a:custGeom>
                <a:avLst/>
                <a:gdLst>
                  <a:gd name="T0" fmla="*/ 403 w 464"/>
                  <a:gd name="T1" fmla="*/ 0 h 532"/>
                  <a:gd name="T2" fmla="*/ 61 w 464"/>
                  <a:gd name="T3" fmla="*/ 0 h 532"/>
                  <a:gd name="T4" fmla="*/ 0 w 464"/>
                  <a:gd name="T5" fmla="*/ 62 h 532"/>
                  <a:gd name="T6" fmla="*/ 0 w 464"/>
                  <a:gd name="T7" fmla="*/ 470 h 532"/>
                  <a:gd name="T8" fmla="*/ 61 w 464"/>
                  <a:gd name="T9" fmla="*/ 532 h 532"/>
                  <a:gd name="T10" fmla="*/ 403 w 464"/>
                  <a:gd name="T11" fmla="*/ 532 h 532"/>
                  <a:gd name="T12" fmla="*/ 464 w 464"/>
                  <a:gd name="T13" fmla="*/ 470 h 532"/>
                  <a:gd name="T14" fmla="*/ 464 w 464"/>
                  <a:gd name="T15" fmla="*/ 62 h 532"/>
                  <a:gd name="T16" fmla="*/ 403 w 464"/>
                  <a:gd name="T17" fmla="*/ 0 h 532"/>
                  <a:gd name="T18" fmla="*/ 430 w 464"/>
                  <a:gd name="T19" fmla="*/ 470 h 532"/>
                  <a:gd name="T20" fmla="*/ 403 w 464"/>
                  <a:gd name="T21" fmla="*/ 498 h 532"/>
                  <a:gd name="T22" fmla="*/ 61 w 464"/>
                  <a:gd name="T23" fmla="*/ 498 h 532"/>
                  <a:gd name="T24" fmla="*/ 34 w 464"/>
                  <a:gd name="T25" fmla="*/ 470 h 532"/>
                  <a:gd name="T26" fmla="*/ 34 w 464"/>
                  <a:gd name="T27" fmla="*/ 62 h 532"/>
                  <a:gd name="T28" fmla="*/ 61 w 464"/>
                  <a:gd name="T29" fmla="*/ 34 h 532"/>
                  <a:gd name="T30" fmla="*/ 403 w 464"/>
                  <a:gd name="T31" fmla="*/ 34 h 532"/>
                  <a:gd name="T32" fmla="*/ 430 w 464"/>
                  <a:gd name="T33" fmla="*/ 62 h 532"/>
                  <a:gd name="T34" fmla="*/ 430 w 464"/>
                  <a:gd name="T35" fmla="*/ 47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4" h="532">
                    <a:moveTo>
                      <a:pt x="403" y="0"/>
                    </a:moveTo>
                    <a:cubicBezTo>
                      <a:pt x="61" y="0"/>
                      <a:pt x="61" y="0"/>
                      <a:pt x="61" y="0"/>
                    </a:cubicBezTo>
                    <a:cubicBezTo>
                      <a:pt x="27" y="1"/>
                      <a:pt x="0" y="28"/>
                      <a:pt x="0" y="62"/>
                    </a:cubicBezTo>
                    <a:cubicBezTo>
                      <a:pt x="0" y="470"/>
                      <a:pt x="0" y="470"/>
                      <a:pt x="0" y="470"/>
                    </a:cubicBezTo>
                    <a:cubicBezTo>
                      <a:pt x="0" y="504"/>
                      <a:pt x="27" y="531"/>
                      <a:pt x="61" y="532"/>
                    </a:cubicBezTo>
                    <a:cubicBezTo>
                      <a:pt x="403" y="532"/>
                      <a:pt x="403" y="532"/>
                      <a:pt x="403" y="532"/>
                    </a:cubicBezTo>
                    <a:cubicBezTo>
                      <a:pt x="437" y="531"/>
                      <a:pt x="464" y="504"/>
                      <a:pt x="464" y="470"/>
                    </a:cubicBezTo>
                    <a:cubicBezTo>
                      <a:pt x="464" y="62"/>
                      <a:pt x="464" y="62"/>
                      <a:pt x="464" y="62"/>
                    </a:cubicBezTo>
                    <a:cubicBezTo>
                      <a:pt x="464" y="28"/>
                      <a:pt x="437" y="1"/>
                      <a:pt x="403" y="0"/>
                    </a:cubicBezTo>
                    <a:close/>
                    <a:moveTo>
                      <a:pt x="430" y="470"/>
                    </a:moveTo>
                    <a:cubicBezTo>
                      <a:pt x="430" y="485"/>
                      <a:pt x="418" y="497"/>
                      <a:pt x="403" y="498"/>
                    </a:cubicBezTo>
                    <a:cubicBezTo>
                      <a:pt x="61" y="498"/>
                      <a:pt x="61" y="498"/>
                      <a:pt x="61" y="498"/>
                    </a:cubicBezTo>
                    <a:cubicBezTo>
                      <a:pt x="46" y="497"/>
                      <a:pt x="34" y="485"/>
                      <a:pt x="34" y="470"/>
                    </a:cubicBezTo>
                    <a:cubicBezTo>
                      <a:pt x="34" y="62"/>
                      <a:pt x="34" y="62"/>
                      <a:pt x="34" y="62"/>
                    </a:cubicBezTo>
                    <a:cubicBezTo>
                      <a:pt x="34" y="47"/>
                      <a:pt x="46" y="35"/>
                      <a:pt x="61" y="34"/>
                    </a:cubicBezTo>
                    <a:cubicBezTo>
                      <a:pt x="403" y="34"/>
                      <a:pt x="403" y="34"/>
                      <a:pt x="403" y="34"/>
                    </a:cubicBezTo>
                    <a:cubicBezTo>
                      <a:pt x="418" y="35"/>
                      <a:pt x="430" y="47"/>
                      <a:pt x="430" y="62"/>
                    </a:cubicBezTo>
                    <a:lnTo>
                      <a:pt x="430" y="470"/>
                    </a:ln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69" name="Freeform 41"/>
              <p:cNvSpPr/>
              <p:nvPr/>
            </p:nvSpPr>
            <p:spPr bwMode="auto">
              <a:xfrm>
                <a:off x="3916363" y="3997325"/>
                <a:ext cx="42863" cy="44450"/>
              </a:xfrm>
              <a:custGeom>
                <a:avLst/>
                <a:gdLst>
                  <a:gd name="T0" fmla="*/ 57 w 57"/>
                  <a:gd name="T1" fmla="*/ 12 h 57"/>
                  <a:gd name="T2" fmla="*/ 57 w 57"/>
                  <a:gd name="T3" fmla="*/ 44 h 57"/>
                  <a:gd name="T4" fmla="*/ 44 w 57"/>
                  <a:gd name="T5" fmla="*/ 57 h 57"/>
                  <a:gd name="T6" fmla="*/ 13 w 57"/>
                  <a:gd name="T7" fmla="*/ 57 h 57"/>
                  <a:gd name="T8" fmla="*/ 0 w 57"/>
                  <a:gd name="T9" fmla="*/ 44 h 57"/>
                  <a:gd name="T10" fmla="*/ 0 w 57"/>
                  <a:gd name="T11" fmla="*/ 12 h 57"/>
                  <a:gd name="T12" fmla="*/ 13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3" y="57"/>
                      <a:pt x="13" y="57"/>
                      <a:pt x="13" y="57"/>
                    </a:cubicBezTo>
                    <a:cubicBezTo>
                      <a:pt x="6" y="57"/>
                      <a:pt x="0" y="51"/>
                      <a:pt x="0" y="44"/>
                    </a:cubicBezTo>
                    <a:cubicBezTo>
                      <a:pt x="0" y="12"/>
                      <a:pt x="0" y="12"/>
                      <a:pt x="0" y="12"/>
                    </a:cubicBezTo>
                    <a:cubicBezTo>
                      <a:pt x="0" y="5"/>
                      <a:pt x="6" y="0"/>
                      <a:pt x="13"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0" name="Freeform 42"/>
              <p:cNvSpPr/>
              <p:nvPr/>
            </p:nvSpPr>
            <p:spPr bwMode="auto">
              <a:xfrm>
                <a:off x="3976688" y="4100513"/>
                <a:ext cx="42863" cy="44450"/>
              </a:xfrm>
              <a:custGeom>
                <a:avLst/>
                <a:gdLst>
                  <a:gd name="T0" fmla="*/ 57 w 57"/>
                  <a:gd name="T1" fmla="*/ 12 h 57"/>
                  <a:gd name="T2" fmla="*/ 57 w 57"/>
                  <a:gd name="T3" fmla="*/ 44 h 57"/>
                  <a:gd name="T4" fmla="*/ 44 w 57"/>
                  <a:gd name="T5" fmla="*/ 57 h 57"/>
                  <a:gd name="T6" fmla="*/ 13 w 57"/>
                  <a:gd name="T7" fmla="*/ 57 h 57"/>
                  <a:gd name="T8" fmla="*/ 0 w 57"/>
                  <a:gd name="T9" fmla="*/ 44 h 57"/>
                  <a:gd name="T10" fmla="*/ 0 w 57"/>
                  <a:gd name="T11" fmla="*/ 12 h 57"/>
                  <a:gd name="T12" fmla="*/ 13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3" y="57"/>
                      <a:pt x="13" y="57"/>
                      <a:pt x="13" y="57"/>
                    </a:cubicBezTo>
                    <a:cubicBezTo>
                      <a:pt x="6" y="57"/>
                      <a:pt x="0" y="51"/>
                      <a:pt x="0" y="44"/>
                    </a:cubicBezTo>
                    <a:cubicBezTo>
                      <a:pt x="0" y="12"/>
                      <a:pt x="0" y="12"/>
                      <a:pt x="0" y="12"/>
                    </a:cubicBezTo>
                    <a:cubicBezTo>
                      <a:pt x="0" y="5"/>
                      <a:pt x="6" y="0"/>
                      <a:pt x="13"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1" name="Freeform 43"/>
              <p:cNvSpPr/>
              <p:nvPr/>
            </p:nvSpPr>
            <p:spPr bwMode="auto">
              <a:xfrm>
                <a:off x="3916363" y="3946525"/>
                <a:ext cx="42863" cy="42863"/>
              </a:xfrm>
              <a:custGeom>
                <a:avLst/>
                <a:gdLst>
                  <a:gd name="T0" fmla="*/ 57 w 57"/>
                  <a:gd name="T1" fmla="*/ 12 h 57"/>
                  <a:gd name="T2" fmla="*/ 57 w 57"/>
                  <a:gd name="T3" fmla="*/ 44 h 57"/>
                  <a:gd name="T4" fmla="*/ 44 w 57"/>
                  <a:gd name="T5" fmla="*/ 57 h 57"/>
                  <a:gd name="T6" fmla="*/ 13 w 57"/>
                  <a:gd name="T7" fmla="*/ 57 h 57"/>
                  <a:gd name="T8" fmla="*/ 0 w 57"/>
                  <a:gd name="T9" fmla="*/ 44 h 57"/>
                  <a:gd name="T10" fmla="*/ 0 w 57"/>
                  <a:gd name="T11" fmla="*/ 12 h 57"/>
                  <a:gd name="T12" fmla="*/ 13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3" y="57"/>
                      <a:pt x="13" y="57"/>
                      <a:pt x="13" y="57"/>
                    </a:cubicBezTo>
                    <a:cubicBezTo>
                      <a:pt x="6" y="57"/>
                      <a:pt x="0" y="51"/>
                      <a:pt x="0" y="44"/>
                    </a:cubicBezTo>
                    <a:cubicBezTo>
                      <a:pt x="0" y="12"/>
                      <a:pt x="0" y="12"/>
                      <a:pt x="0" y="12"/>
                    </a:cubicBezTo>
                    <a:cubicBezTo>
                      <a:pt x="0" y="5"/>
                      <a:pt x="6" y="0"/>
                      <a:pt x="13"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2" name="Freeform 44"/>
              <p:cNvSpPr/>
              <p:nvPr/>
            </p:nvSpPr>
            <p:spPr bwMode="auto">
              <a:xfrm>
                <a:off x="3916363" y="4100513"/>
                <a:ext cx="42863" cy="44450"/>
              </a:xfrm>
              <a:custGeom>
                <a:avLst/>
                <a:gdLst>
                  <a:gd name="T0" fmla="*/ 57 w 57"/>
                  <a:gd name="T1" fmla="*/ 12 h 57"/>
                  <a:gd name="T2" fmla="*/ 57 w 57"/>
                  <a:gd name="T3" fmla="*/ 44 h 57"/>
                  <a:gd name="T4" fmla="*/ 44 w 57"/>
                  <a:gd name="T5" fmla="*/ 57 h 57"/>
                  <a:gd name="T6" fmla="*/ 13 w 57"/>
                  <a:gd name="T7" fmla="*/ 57 h 57"/>
                  <a:gd name="T8" fmla="*/ 0 w 57"/>
                  <a:gd name="T9" fmla="*/ 44 h 57"/>
                  <a:gd name="T10" fmla="*/ 0 w 57"/>
                  <a:gd name="T11" fmla="*/ 12 h 57"/>
                  <a:gd name="T12" fmla="*/ 13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3" y="57"/>
                      <a:pt x="13" y="57"/>
                      <a:pt x="13" y="57"/>
                    </a:cubicBezTo>
                    <a:cubicBezTo>
                      <a:pt x="6" y="57"/>
                      <a:pt x="0" y="51"/>
                      <a:pt x="0" y="44"/>
                    </a:cubicBezTo>
                    <a:cubicBezTo>
                      <a:pt x="0" y="12"/>
                      <a:pt x="0" y="12"/>
                      <a:pt x="0" y="12"/>
                    </a:cubicBezTo>
                    <a:cubicBezTo>
                      <a:pt x="0" y="5"/>
                      <a:pt x="6" y="0"/>
                      <a:pt x="13"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3" name="Freeform 45"/>
              <p:cNvSpPr/>
              <p:nvPr/>
            </p:nvSpPr>
            <p:spPr bwMode="auto">
              <a:xfrm>
                <a:off x="3916363" y="4049713"/>
                <a:ext cx="42863" cy="42863"/>
              </a:xfrm>
              <a:custGeom>
                <a:avLst/>
                <a:gdLst>
                  <a:gd name="T0" fmla="*/ 57 w 57"/>
                  <a:gd name="T1" fmla="*/ 12 h 57"/>
                  <a:gd name="T2" fmla="*/ 57 w 57"/>
                  <a:gd name="T3" fmla="*/ 44 h 57"/>
                  <a:gd name="T4" fmla="*/ 44 w 57"/>
                  <a:gd name="T5" fmla="*/ 57 h 57"/>
                  <a:gd name="T6" fmla="*/ 13 w 57"/>
                  <a:gd name="T7" fmla="*/ 57 h 57"/>
                  <a:gd name="T8" fmla="*/ 0 w 57"/>
                  <a:gd name="T9" fmla="*/ 44 h 57"/>
                  <a:gd name="T10" fmla="*/ 0 w 57"/>
                  <a:gd name="T11" fmla="*/ 12 h 57"/>
                  <a:gd name="T12" fmla="*/ 13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3" y="57"/>
                      <a:pt x="13" y="57"/>
                      <a:pt x="13" y="57"/>
                    </a:cubicBezTo>
                    <a:cubicBezTo>
                      <a:pt x="6" y="57"/>
                      <a:pt x="0" y="51"/>
                      <a:pt x="0" y="44"/>
                    </a:cubicBezTo>
                    <a:cubicBezTo>
                      <a:pt x="0" y="12"/>
                      <a:pt x="0" y="12"/>
                      <a:pt x="0" y="12"/>
                    </a:cubicBezTo>
                    <a:cubicBezTo>
                      <a:pt x="0" y="5"/>
                      <a:pt x="6" y="0"/>
                      <a:pt x="13"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4" name="Freeform 46"/>
              <p:cNvSpPr/>
              <p:nvPr/>
            </p:nvSpPr>
            <p:spPr bwMode="auto">
              <a:xfrm>
                <a:off x="3854450" y="4049713"/>
                <a:ext cx="44450" cy="42863"/>
              </a:xfrm>
              <a:custGeom>
                <a:avLst/>
                <a:gdLst>
                  <a:gd name="T0" fmla="*/ 57 w 57"/>
                  <a:gd name="T1" fmla="*/ 12 h 57"/>
                  <a:gd name="T2" fmla="*/ 57 w 57"/>
                  <a:gd name="T3" fmla="*/ 44 h 57"/>
                  <a:gd name="T4" fmla="*/ 44 w 57"/>
                  <a:gd name="T5" fmla="*/ 57 h 57"/>
                  <a:gd name="T6" fmla="*/ 12 w 57"/>
                  <a:gd name="T7" fmla="*/ 57 h 57"/>
                  <a:gd name="T8" fmla="*/ 0 w 57"/>
                  <a:gd name="T9" fmla="*/ 44 h 57"/>
                  <a:gd name="T10" fmla="*/ 0 w 57"/>
                  <a:gd name="T11" fmla="*/ 12 h 57"/>
                  <a:gd name="T12" fmla="*/ 12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2" y="57"/>
                      <a:pt x="12" y="57"/>
                      <a:pt x="12" y="57"/>
                    </a:cubicBezTo>
                    <a:cubicBezTo>
                      <a:pt x="6" y="57"/>
                      <a:pt x="0" y="51"/>
                      <a:pt x="0" y="44"/>
                    </a:cubicBezTo>
                    <a:cubicBezTo>
                      <a:pt x="0" y="12"/>
                      <a:pt x="0" y="12"/>
                      <a:pt x="0" y="12"/>
                    </a:cubicBezTo>
                    <a:cubicBezTo>
                      <a:pt x="0" y="5"/>
                      <a:pt x="6" y="0"/>
                      <a:pt x="12"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5" name="Freeform 47"/>
              <p:cNvSpPr/>
              <p:nvPr/>
            </p:nvSpPr>
            <p:spPr bwMode="auto">
              <a:xfrm>
                <a:off x="3854450" y="3946525"/>
                <a:ext cx="44450" cy="42863"/>
              </a:xfrm>
              <a:custGeom>
                <a:avLst/>
                <a:gdLst>
                  <a:gd name="T0" fmla="*/ 57 w 57"/>
                  <a:gd name="T1" fmla="*/ 12 h 57"/>
                  <a:gd name="T2" fmla="*/ 57 w 57"/>
                  <a:gd name="T3" fmla="*/ 44 h 57"/>
                  <a:gd name="T4" fmla="*/ 44 w 57"/>
                  <a:gd name="T5" fmla="*/ 57 h 57"/>
                  <a:gd name="T6" fmla="*/ 12 w 57"/>
                  <a:gd name="T7" fmla="*/ 57 h 57"/>
                  <a:gd name="T8" fmla="*/ 0 w 57"/>
                  <a:gd name="T9" fmla="*/ 44 h 57"/>
                  <a:gd name="T10" fmla="*/ 0 w 57"/>
                  <a:gd name="T11" fmla="*/ 12 h 57"/>
                  <a:gd name="T12" fmla="*/ 12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2" y="57"/>
                      <a:pt x="12" y="57"/>
                      <a:pt x="12" y="57"/>
                    </a:cubicBezTo>
                    <a:cubicBezTo>
                      <a:pt x="6" y="57"/>
                      <a:pt x="0" y="51"/>
                      <a:pt x="0" y="44"/>
                    </a:cubicBezTo>
                    <a:cubicBezTo>
                      <a:pt x="0" y="12"/>
                      <a:pt x="0" y="12"/>
                      <a:pt x="0" y="12"/>
                    </a:cubicBezTo>
                    <a:cubicBezTo>
                      <a:pt x="0" y="5"/>
                      <a:pt x="6" y="0"/>
                      <a:pt x="12"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6" name="Freeform 48"/>
              <p:cNvSpPr/>
              <p:nvPr/>
            </p:nvSpPr>
            <p:spPr bwMode="auto">
              <a:xfrm>
                <a:off x="3854450" y="3997325"/>
                <a:ext cx="44450" cy="44450"/>
              </a:xfrm>
              <a:custGeom>
                <a:avLst/>
                <a:gdLst>
                  <a:gd name="T0" fmla="*/ 57 w 57"/>
                  <a:gd name="T1" fmla="*/ 12 h 57"/>
                  <a:gd name="T2" fmla="*/ 57 w 57"/>
                  <a:gd name="T3" fmla="*/ 44 h 57"/>
                  <a:gd name="T4" fmla="*/ 44 w 57"/>
                  <a:gd name="T5" fmla="*/ 57 h 57"/>
                  <a:gd name="T6" fmla="*/ 12 w 57"/>
                  <a:gd name="T7" fmla="*/ 57 h 57"/>
                  <a:gd name="T8" fmla="*/ 0 w 57"/>
                  <a:gd name="T9" fmla="*/ 44 h 57"/>
                  <a:gd name="T10" fmla="*/ 0 w 57"/>
                  <a:gd name="T11" fmla="*/ 12 h 57"/>
                  <a:gd name="T12" fmla="*/ 12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2" y="57"/>
                      <a:pt x="12" y="57"/>
                      <a:pt x="12" y="57"/>
                    </a:cubicBezTo>
                    <a:cubicBezTo>
                      <a:pt x="6" y="57"/>
                      <a:pt x="0" y="51"/>
                      <a:pt x="0" y="44"/>
                    </a:cubicBezTo>
                    <a:cubicBezTo>
                      <a:pt x="0" y="12"/>
                      <a:pt x="0" y="12"/>
                      <a:pt x="0" y="12"/>
                    </a:cubicBezTo>
                    <a:cubicBezTo>
                      <a:pt x="0" y="5"/>
                      <a:pt x="6" y="0"/>
                      <a:pt x="12"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7" name="Freeform 49"/>
              <p:cNvSpPr/>
              <p:nvPr/>
            </p:nvSpPr>
            <p:spPr bwMode="auto">
              <a:xfrm>
                <a:off x="3854450" y="4100513"/>
                <a:ext cx="44450" cy="44450"/>
              </a:xfrm>
              <a:custGeom>
                <a:avLst/>
                <a:gdLst>
                  <a:gd name="T0" fmla="*/ 57 w 57"/>
                  <a:gd name="T1" fmla="*/ 12 h 57"/>
                  <a:gd name="T2" fmla="*/ 57 w 57"/>
                  <a:gd name="T3" fmla="*/ 44 h 57"/>
                  <a:gd name="T4" fmla="*/ 44 w 57"/>
                  <a:gd name="T5" fmla="*/ 57 h 57"/>
                  <a:gd name="T6" fmla="*/ 12 w 57"/>
                  <a:gd name="T7" fmla="*/ 57 h 57"/>
                  <a:gd name="T8" fmla="*/ 0 w 57"/>
                  <a:gd name="T9" fmla="*/ 44 h 57"/>
                  <a:gd name="T10" fmla="*/ 0 w 57"/>
                  <a:gd name="T11" fmla="*/ 12 h 57"/>
                  <a:gd name="T12" fmla="*/ 12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2" y="57"/>
                      <a:pt x="12" y="57"/>
                      <a:pt x="12" y="57"/>
                    </a:cubicBezTo>
                    <a:cubicBezTo>
                      <a:pt x="6" y="57"/>
                      <a:pt x="0" y="51"/>
                      <a:pt x="0" y="44"/>
                    </a:cubicBezTo>
                    <a:cubicBezTo>
                      <a:pt x="0" y="12"/>
                      <a:pt x="0" y="12"/>
                      <a:pt x="0" y="12"/>
                    </a:cubicBezTo>
                    <a:cubicBezTo>
                      <a:pt x="0" y="5"/>
                      <a:pt x="6" y="0"/>
                      <a:pt x="12"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8" name="Freeform 50"/>
              <p:cNvSpPr/>
              <p:nvPr/>
            </p:nvSpPr>
            <p:spPr bwMode="auto">
              <a:xfrm>
                <a:off x="4037013" y="3946525"/>
                <a:ext cx="44450" cy="42863"/>
              </a:xfrm>
              <a:custGeom>
                <a:avLst/>
                <a:gdLst>
                  <a:gd name="T0" fmla="*/ 57 w 57"/>
                  <a:gd name="T1" fmla="*/ 12 h 57"/>
                  <a:gd name="T2" fmla="*/ 57 w 57"/>
                  <a:gd name="T3" fmla="*/ 44 h 57"/>
                  <a:gd name="T4" fmla="*/ 45 w 57"/>
                  <a:gd name="T5" fmla="*/ 57 h 57"/>
                  <a:gd name="T6" fmla="*/ 13 w 57"/>
                  <a:gd name="T7" fmla="*/ 57 h 57"/>
                  <a:gd name="T8" fmla="*/ 0 w 57"/>
                  <a:gd name="T9" fmla="*/ 44 h 57"/>
                  <a:gd name="T10" fmla="*/ 0 w 57"/>
                  <a:gd name="T11" fmla="*/ 12 h 57"/>
                  <a:gd name="T12" fmla="*/ 13 w 57"/>
                  <a:gd name="T13" fmla="*/ 0 h 57"/>
                  <a:gd name="T14" fmla="*/ 45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5" y="57"/>
                    </a:cubicBezTo>
                    <a:cubicBezTo>
                      <a:pt x="13" y="57"/>
                      <a:pt x="13" y="57"/>
                      <a:pt x="13" y="57"/>
                    </a:cubicBezTo>
                    <a:cubicBezTo>
                      <a:pt x="6" y="57"/>
                      <a:pt x="0" y="51"/>
                      <a:pt x="0" y="44"/>
                    </a:cubicBezTo>
                    <a:cubicBezTo>
                      <a:pt x="0" y="12"/>
                      <a:pt x="0" y="12"/>
                      <a:pt x="0" y="12"/>
                    </a:cubicBezTo>
                    <a:cubicBezTo>
                      <a:pt x="0" y="5"/>
                      <a:pt x="6" y="0"/>
                      <a:pt x="13" y="0"/>
                    </a:cubicBezTo>
                    <a:cubicBezTo>
                      <a:pt x="45" y="0"/>
                      <a:pt x="45" y="0"/>
                      <a:pt x="45"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79" name="Freeform 51"/>
              <p:cNvSpPr/>
              <p:nvPr/>
            </p:nvSpPr>
            <p:spPr bwMode="auto">
              <a:xfrm>
                <a:off x="4037013" y="3997325"/>
                <a:ext cx="44450" cy="44450"/>
              </a:xfrm>
              <a:custGeom>
                <a:avLst/>
                <a:gdLst>
                  <a:gd name="T0" fmla="*/ 57 w 57"/>
                  <a:gd name="T1" fmla="*/ 12 h 57"/>
                  <a:gd name="T2" fmla="*/ 57 w 57"/>
                  <a:gd name="T3" fmla="*/ 44 h 57"/>
                  <a:gd name="T4" fmla="*/ 45 w 57"/>
                  <a:gd name="T5" fmla="*/ 57 h 57"/>
                  <a:gd name="T6" fmla="*/ 13 w 57"/>
                  <a:gd name="T7" fmla="*/ 57 h 57"/>
                  <a:gd name="T8" fmla="*/ 0 w 57"/>
                  <a:gd name="T9" fmla="*/ 44 h 57"/>
                  <a:gd name="T10" fmla="*/ 0 w 57"/>
                  <a:gd name="T11" fmla="*/ 12 h 57"/>
                  <a:gd name="T12" fmla="*/ 13 w 57"/>
                  <a:gd name="T13" fmla="*/ 0 h 57"/>
                  <a:gd name="T14" fmla="*/ 45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5" y="57"/>
                    </a:cubicBezTo>
                    <a:cubicBezTo>
                      <a:pt x="13" y="57"/>
                      <a:pt x="13" y="57"/>
                      <a:pt x="13" y="57"/>
                    </a:cubicBezTo>
                    <a:cubicBezTo>
                      <a:pt x="6" y="57"/>
                      <a:pt x="0" y="51"/>
                      <a:pt x="0" y="44"/>
                    </a:cubicBezTo>
                    <a:cubicBezTo>
                      <a:pt x="0" y="12"/>
                      <a:pt x="0" y="12"/>
                      <a:pt x="0" y="12"/>
                    </a:cubicBezTo>
                    <a:cubicBezTo>
                      <a:pt x="0" y="5"/>
                      <a:pt x="6" y="0"/>
                      <a:pt x="13" y="0"/>
                    </a:cubicBezTo>
                    <a:cubicBezTo>
                      <a:pt x="45" y="0"/>
                      <a:pt x="45" y="0"/>
                      <a:pt x="45"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0" name="Freeform 52"/>
              <p:cNvSpPr/>
              <p:nvPr/>
            </p:nvSpPr>
            <p:spPr bwMode="auto">
              <a:xfrm>
                <a:off x="3976688" y="3997325"/>
                <a:ext cx="42863" cy="44450"/>
              </a:xfrm>
              <a:custGeom>
                <a:avLst/>
                <a:gdLst>
                  <a:gd name="T0" fmla="*/ 57 w 57"/>
                  <a:gd name="T1" fmla="*/ 12 h 57"/>
                  <a:gd name="T2" fmla="*/ 57 w 57"/>
                  <a:gd name="T3" fmla="*/ 44 h 57"/>
                  <a:gd name="T4" fmla="*/ 44 w 57"/>
                  <a:gd name="T5" fmla="*/ 57 h 57"/>
                  <a:gd name="T6" fmla="*/ 13 w 57"/>
                  <a:gd name="T7" fmla="*/ 57 h 57"/>
                  <a:gd name="T8" fmla="*/ 0 w 57"/>
                  <a:gd name="T9" fmla="*/ 44 h 57"/>
                  <a:gd name="T10" fmla="*/ 0 w 57"/>
                  <a:gd name="T11" fmla="*/ 12 h 57"/>
                  <a:gd name="T12" fmla="*/ 13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3" y="57"/>
                      <a:pt x="13" y="57"/>
                      <a:pt x="13" y="57"/>
                    </a:cubicBezTo>
                    <a:cubicBezTo>
                      <a:pt x="6" y="57"/>
                      <a:pt x="0" y="51"/>
                      <a:pt x="0" y="44"/>
                    </a:cubicBezTo>
                    <a:cubicBezTo>
                      <a:pt x="0" y="12"/>
                      <a:pt x="0" y="12"/>
                      <a:pt x="0" y="12"/>
                    </a:cubicBezTo>
                    <a:cubicBezTo>
                      <a:pt x="0" y="5"/>
                      <a:pt x="6" y="0"/>
                      <a:pt x="13"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1" name="Freeform 53"/>
              <p:cNvSpPr/>
              <p:nvPr/>
            </p:nvSpPr>
            <p:spPr bwMode="auto">
              <a:xfrm>
                <a:off x="3976688" y="4049713"/>
                <a:ext cx="42863" cy="42863"/>
              </a:xfrm>
              <a:custGeom>
                <a:avLst/>
                <a:gdLst>
                  <a:gd name="T0" fmla="*/ 57 w 57"/>
                  <a:gd name="T1" fmla="*/ 12 h 57"/>
                  <a:gd name="T2" fmla="*/ 57 w 57"/>
                  <a:gd name="T3" fmla="*/ 44 h 57"/>
                  <a:gd name="T4" fmla="*/ 44 w 57"/>
                  <a:gd name="T5" fmla="*/ 57 h 57"/>
                  <a:gd name="T6" fmla="*/ 13 w 57"/>
                  <a:gd name="T7" fmla="*/ 57 h 57"/>
                  <a:gd name="T8" fmla="*/ 0 w 57"/>
                  <a:gd name="T9" fmla="*/ 44 h 57"/>
                  <a:gd name="T10" fmla="*/ 0 w 57"/>
                  <a:gd name="T11" fmla="*/ 12 h 57"/>
                  <a:gd name="T12" fmla="*/ 13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3" y="57"/>
                      <a:pt x="13" y="57"/>
                      <a:pt x="13" y="57"/>
                    </a:cubicBezTo>
                    <a:cubicBezTo>
                      <a:pt x="6" y="57"/>
                      <a:pt x="0" y="51"/>
                      <a:pt x="0" y="44"/>
                    </a:cubicBezTo>
                    <a:cubicBezTo>
                      <a:pt x="0" y="12"/>
                      <a:pt x="0" y="12"/>
                      <a:pt x="0" y="12"/>
                    </a:cubicBezTo>
                    <a:cubicBezTo>
                      <a:pt x="0" y="5"/>
                      <a:pt x="6" y="0"/>
                      <a:pt x="13"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2" name="Freeform 54"/>
              <p:cNvSpPr/>
              <p:nvPr/>
            </p:nvSpPr>
            <p:spPr bwMode="auto">
              <a:xfrm>
                <a:off x="4037013" y="4049713"/>
                <a:ext cx="44450" cy="42863"/>
              </a:xfrm>
              <a:custGeom>
                <a:avLst/>
                <a:gdLst>
                  <a:gd name="T0" fmla="*/ 57 w 57"/>
                  <a:gd name="T1" fmla="*/ 12 h 57"/>
                  <a:gd name="T2" fmla="*/ 57 w 57"/>
                  <a:gd name="T3" fmla="*/ 44 h 57"/>
                  <a:gd name="T4" fmla="*/ 45 w 57"/>
                  <a:gd name="T5" fmla="*/ 57 h 57"/>
                  <a:gd name="T6" fmla="*/ 13 w 57"/>
                  <a:gd name="T7" fmla="*/ 57 h 57"/>
                  <a:gd name="T8" fmla="*/ 0 w 57"/>
                  <a:gd name="T9" fmla="*/ 44 h 57"/>
                  <a:gd name="T10" fmla="*/ 0 w 57"/>
                  <a:gd name="T11" fmla="*/ 12 h 57"/>
                  <a:gd name="T12" fmla="*/ 13 w 57"/>
                  <a:gd name="T13" fmla="*/ 0 h 57"/>
                  <a:gd name="T14" fmla="*/ 45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5" y="57"/>
                    </a:cubicBezTo>
                    <a:cubicBezTo>
                      <a:pt x="13" y="57"/>
                      <a:pt x="13" y="57"/>
                      <a:pt x="13" y="57"/>
                    </a:cubicBezTo>
                    <a:cubicBezTo>
                      <a:pt x="6" y="57"/>
                      <a:pt x="0" y="51"/>
                      <a:pt x="0" y="44"/>
                    </a:cubicBezTo>
                    <a:cubicBezTo>
                      <a:pt x="0" y="12"/>
                      <a:pt x="0" y="12"/>
                      <a:pt x="0" y="12"/>
                    </a:cubicBezTo>
                    <a:cubicBezTo>
                      <a:pt x="0" y="5"/>
                      <a:pt x="6" y="0"/>
                      <a:pt x="13" y="0"/>
                    </a:cubicBezTo>
                    <a:cubicBezTo>
                      <a:pt x="45" y="0"/>
                      <a:pt x="45" y="0"/>
                      <a:pt x="45"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3" name="Freeform 55"/>
              <p:cNvSpPr/>
              <p:nvPr/>
            </p:nvSpPr>
            <p:spPr bwMode="auto">
              <a:xfrm>
                <a:off x="3976688" y="3946525"/>
                <a:ext cx="42863" cy="42863"/>
              </a:xfrm>
              <a:custGeom>
                <a:avLst/>
                <a:gdLst>
                  <a:gd name="T0" fmla="*/ 57 w 57"/>
                  <a:gd name="T1" fmla="*/ 12 h 57"/>
                  <a:gd name="T2" fmla="*/ 57 w 57"/>
                  <a:gd name="T3" fmla="*/ 44 h 57"/>
                  <a:gd name="T4" fmla="*/ 44 w 57"/>
                  <a:gd name="T5" fmla="*/ 57 h 57"/>
                  <a:gd name="T6" fmla="*/ 13 w 57"/>
                  <a:gd name="T7" fmla="*/ 57 h 57"/>
                  <a:gd name="T8" fmla="*/ 0 w 57"/>
                  <a:gd name="T9" fmla="*/ 44 h 57"/>
                  <a:gd name="T10" fmla="*/ 0 w 57"/>
                  <a:gd name="T11" fmla="*/ 12 h 57"/>
                  <a:gd name="T12" fmla="*/ 13 w 57"/>
                  <a:gd name="T13" fmla="*/ 0 h 57"/>
                  <a:gd name="T14" fmla="*/ 44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4" y="57"/>
                    </a:cubicBezTo>
                    <a:cubicBezTo>
                      <a:pt x="13" y="57"/>
                      <a:pt x="13" y="57"/>
                      <a:pt x="13" y="57"/>
                    </a:cubicBezTo>
                    <a:cubicBezTo>
                      <a:pt x="6" y="57"/>
                      <a:pt x="0" y="51"/>
                      <a:pt x="0" y="44"/>
                    </a:cubicBezTo>
                    <a:cubicBezTo>
                      <a:pt x="0" y="12"/>
                      <a:pt x="0" y="12"/>
                      <a:pt x="0" y="12"/>
                    </a:cubicBezTo>
                    <a:cubicBezTo>
                      <a:pt x="0" y="5"/>
                      <a:pt x="6" y="0"/>
                      <a:pt x="13" y="0"/>
                    </a:cubicBezTo>
                    <a:cubicBezTo>
                      <a:pt x="44" y="0"/>
                      <a:pt x="44" y="0"/>
                      <a:pt x="44"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4" name="Freeform 56"/>
              <p:cNvSpPr/>
              <p:nvPr/>
            </p:nvSpPr>
            <p:spPr bwMode="auto">
              <a:xfrm>
                <a:off x="4037013" y="4100513"/>
                <a:ext cx="44450" cy="44450"/>
              </a:xfrm>
              <a:custGeom>
                <a:avLst/>
                <a:gdLst>
                  <a:gd name="T0" fmla="*/ 57 w 57"/>
                  <a:gd name="T1" fmla="*/ 12 h 57"/>
                  <a:gd name="T2" fmla="*/ 57 w 57"/>
                  <a:gd name="T3" fmla="*/ 44 h 57"/>
                  <a:gd name="T4" fmla="*/ 45 w 57"/>
                  <a:gd name="T5" fmla="*/ 57 h 57"/>
                  <a:gd name="T6" fmla="*/ 13 w 57"/>
                  <a:gd name="T7" fmla="*/ 57 h 57"/>
                  <a:gd name="T8" fmla="*/ 0 w 57"/>
                  <a:gd name="T9" fmla="*/ 44 h 57"/>
                  <a:gd name="T10" fmla="*/ 0 w 57"/>
                  <a:gd name="T11" fmla="*/ 12 h 57"/>
                  <a:gd name="T12" fmla="*/ 13 w 57"/>
                  <a:gd name="T13" fmla="*/ 0 h 57"/>
                  <a:gd name="T14" fmla="*/ 45 w 57"/>
                  <a:gd name="T15" fmla="*/ 0 h 57"/>
                  <a:gd name="T16" fmla="*/ 57 w 57"/>
                  <a:gd name="T1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57" y="12"/>
                    </a:moveTo>
                    <a:cubicBezTo>
                      <a:pt x="57" y="44"/>
                      <a:pt x="57" y="44"/>
                      <a:pt x="57" y="44"/>
                    </a:cubicBezTo>
                    <a:cubicBezTo>
                      <a:pt x="57" y="51"/>
                      <a:pt x="51" y="57"/>
                      <a:pt x="45" y="57"/>
                    </a:cubicBezTo>
                    <a:cubicBezTo>
                      <a:pt x="13" y="57"/>
                      <a:pt x="13" y="57"/>
                      <a:pt x="13" y="57"/>
                    </a:cubicBezTo>
                    <a:cubicBezTo>
                      <a:pt x="6" y="57"/>
                      <a:pt x="0" y="51"/>
                      <a:pt x="0" y="44"/>
                    </a:cubicBezTo>
                    <a:cubicBezTo>
                      <a:pt x="0" y="12"/>
                      <a:pt x="0" y="12"/>
                      <a:pt x="0" y="12"/>
                    </a:cubicBezTo>
                    <a:cubicBezTo>
                      <a:pt x="0" y="5"/>
                      <a:pt x="6" y="0"/>
                      <a:pt x="13" y="0"/>
                    </a:cubicBezTo>
                    <a:cubicBezTo>
                      <a:pt x="45" y="0"/>
                      <a:pt x="45" y="0"/>
                      <a:pt x="45" y="0"/>
                    </a:cubicBezTo>
                    <a:cubicBezTo>
                      <a:pt x="51" y="0"/>
                      <a:pt x="57" y="5"/>
                      <a:pt x="57" y="12"/>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5" name="Freeform 57"/>
              <p:cNvSpPr/>
              <p:nvPr/>
            </p:nvSpPr>
            <p:spPr bwMode="auto">
              <a:xfrm>
                <a:off x="3849688" y="3840163"/>
                <a:ext cx="236538" cy="79375"/>
              </a:xfrm>
              <a:custGeom>
                <a:avLst/>
                <a:gdLst>
                  <a:gd name="T0" fmla="*/ 287 w 308"/>
                  <a:gd name="T1" fmla="*/ 0 h 105"/>
                  <a:gd name="T2" fmla="*/ 21 w 308"/>
                  <a:gd name="T3" fmla="*/ 0 h 105"/>
                  <a:gd name="T4" fmla="*/ 0 w 308"/>
                  <a:gd name="T5" fmla="*/ 26 h 105"/>
                  <a:gd name="T6" fmla="*/ 0 w 308"/>
                  <a:gd name="T7" fmla="*/ 79 h 105"/>
                  <a:gd name="T8" fmla="*/ 21 w 308"/>
                  <a:gd name="T9" fmla="*/ 105 h 105"/>
                  <a:gd name="T10" fmla="*/ 287 w 308"/>
                  <a:gd name="T11" fmla="*/ 105 h 105"/>
                  <a:gd name="T12" fmla="*/ 308 w 308"/>
                  <a:gd name="T13" fmla="*/ 79 h 105"/>
                  <a:gd name="T14" fmla="*/ 308 w 308"/>
                  <a:gd name="T15" fmla="*/ 26 h 105"/>
                  <a:gd name="T16" fmla="*/ 287 w 308"/>
                  <a:gd name="T17"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105">
                    <a:moveTo>
                      <a:pt x="287" y="0"/>
                    </a:moveTo>
                    <a:cubicBezTo>
                      <a:pt x="21" y="0"/>
                      <a:pt x="21" y="0"/>
                      <a:pt x="21" y="0"/>
                    </a:cubicBezTo>
                    <a:cubicBezTo>
                      <a:pt x="10" y="0"/>
                      <a:pt x="0" y="11"/>
                      <a:pt x="0" y="26"/>
                    </a:cubicBezTo>
                    <a:cubicBezTo>
                      <a:pt x="0" y="79"/>
                      <a:pt x="0" y="79"/>
                      <a:pt x="0" y="79"/>
                    </a:cubicBezTo>
                    <a:cubicBezTo>
                      <a:pt x="0" y="94"/>
                      <a:pt x="10" y="105"/>
                      <a:pt x="21" y="105"/>
                    </a:cubicBezTo>
                    <a:cubicBezTo>
                      <a:pt x="287" y="105"/>
                      <a:pt x="287" y="105"/>
                      <a:pt x="287" y="105"/>
                    </a:cubicBezTo>
                    <a:cubicBezTo>
                      <a:pt x="298" y="105"/>
                      <a:pt x="308" y="94"/>
                      <a:pt x="308" y="79"/>
                    </a:cubicBezTo>
                    <a:cubicBezTo>
                      <a:pt x="308" y="26"/>
                      <a:pt x="308" y="26"/>
                      <a:pt x="308" y="26"/>
                    </a:cubicBezTo>
                    <a:cubicBezTo>
                      <a:pt x="308" y="11"/>
                      <a:pt x="298" y="0"/>
                      <a:pt x="287" y="0"/>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6" name="Freeform 58"/>
              <p:cNvSpPr/>
              <p:nvPr/>
            </p:nvSpPr>
            <p:spPr bwMode="auto">
              <a:xfrm>
                <a:off x="3921125" y="3862388"/>
                <a:ext cx="15875" cy="34925"/>
              </a:xfrm>
              <a:custGeom>
                <a:avLst/>
                <a:gdLst>
                  <a:gd name="T0" fmla="*/ 5 w 10"/>
                  <a:gd name="T1" fmla="*/ 4 h 22"/>
                  <a:gd name="T2" fmla="*/ 5 w 10"/>
                  <a:gd name="T3" fmla="*/ 4 h 22"/>
                  <a:gd name="T4" fmla="*/ 1 w 10"/>
                  <a:gd name="T5" fmla="*/ 6 h 22"/>
                  <a:gd name="T6" fmla="*/ 0 w 10"/>
                  <a:gd name="T7" fmla="*/ 2 h 22"/>
                  <a:gd name="T8" fmla="*/ 5 w 10"/>
                  <a:gd name="T9" fmla="*/ 0 h 22"/>
                  <a:gd name="T10" fmla="*/ 10 w 10"/>
                  <a:gd name="T11" fmla="*/ 0 h 22"/>
                  <a:gd name="T12" fmla="*/ 10 w 10"/>
                  <a:gd name="T13" fmla="*/ 22 h 22"/>
                  <a:gd name="T14" fmla="*/ 5 w 10"/>
                  <a:gd name="T15" fmla="*/ 22 h 22"/>
                  <a:gd name="T16" fmla="*/ 5 w 10"/>
                  <a:gd name="T17"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22">
                    <a:moveTo>
                      <a:pt x="5" y="4"/>
                    </a:moveTo>
                    <a:lnTo>
                      <a:pt x="5" y="4"/>
                    </a:lnTo>
                    <a:lnTo>
                      <a:pt x="1" y="6"/>
                    </a:lnTo>
                    <a:lnTo>
                      <a:pt x="0" y="2"/>
                    </a:lnTo>
                    <a:lnTo>
                      <a:pt x="5" y="0"/>
                    </a:lnTo>
                    <a:lnTo>
                      <a:pt x="10" y="0"/>
                    </a:lnTo>
                    <a:lnTo>
                      <a:pt x="10" y="22"/>
                    </a:lnTo>
                    <a:lnTo>
                      <a:pt x="5" y="22"/>
                    </a:lnTo>
                    <a:lnTo>
                      <a:pt x="5" y="4"/>
                    </a:ln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7" name="Freeform 59"/>
              <p:cNvSpPr/>
              <p:nvPr/>
            </p:nvSpPr>
            <p:spPr bwMode="auto">
              <a:xfrm>
                <a:off x="3944938" y="3860800"/>
                <a:ext cx="20638" cy="36513"/>
              </a:xfrm>
              <a:custGeom>
                <a:avLst/>
                <a:gdLst>
                  <a:gd name="T0" fmla="*/ 0 w 27"/>
                  <a:gd name="T1" fmla="*/ 48 h 48"/>
                  <a:gd name="T2" fmla="*/ 0 w 27"/>
                  <a:gd name="T3" fmla="*/ 41 h 48"/>
                  <a:gd name="T4" fmla="*/ 5 w 27"/>
                  <a:gd name="T5" fmla="*/ 34 h 48"/>
                  <a:gd name="T6" fmla="*/ 16 w 27"/>
                  <a:gd name="T7" fmla="*/ 15 h 48"/>
                  <a:gd name="T8" fmla="*/ 10 w 27"/>
                  <a:gd name="T9" fmla="*/ 9 h 48"/>
                  <a:gd name="T10" fmla="*/ 3 w 27"/>
                  <a:gd name="T11" fmla="*/ 12 h 48"/>
                  <a:gd name="T12" fmla="*/ 1 w 27"/>
                  <a:gd name="T13" fmla="*/ 3 h 48"/>
                  <a:gd name="T14" fmla="*/ 12 w 27"/>
                  <a:gd name="T15" fmla="*/ 0 h 48"/>
                  <a:gd name="T16" fmla="*/ 27 w 27"/>
                  <a:gd name="T17" fmla="*/ 14 h 48"/>
                  <a:gd name="T18" fmla="*/ 16 w 27"/>
                  <a:gd name="T19" fmla="*/ 35 h 48"/>
                  <a:gd name="T20" fmla="*/ 14 w 27"/>
                  <a:gd name="T21" fmla="*/ 38 h 48"/>
                  <a:gd name="T22" fmla="*/ 14 w 27"/>
                  <a:gd name="T23" fmla="*/ 38 h 48"/>
                  <a:gd name="T24" fmla="*/ 27 w 27"/>
                  <a:gd name="T25" fmla="*/ 38 h 48"/>
                  <a:gd name="T26" fmla="*/ 27 w 27"/>
                  <a:gd name="T27" fmla="*/ 48 h 48"/>
                  <a:gd name="T28" fmla="*/ 0 w 27"/>
                  <a:gd name="T2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48">
                    <a:moveTo>
                      <a:pt x="0" y="48"/>
                    </a:moveTo>
                    <a:cubicBezTo>
                      <a:pt x="0" y="41"/>
                      <a:pt x="0" y="41"/>
                      <a:pt x="0" y="41"/>
                    </a:cubicBezTo>
                    <a:cubicBezTo>
                      <a:pt x="5" y="34"/>
                      <a:pt x="5" y="34"/>
                      <a:pt x="5" y="34"/>
                    </a:cubicBezTo>
                    <a:cubicBezTo>
                      <a:pt x="12" y="26"/>
                      <a:pt x="16" y="21"/>
                      <a:pt x="16" y="15"/>
                    </a:cubicBezTo>
                    <a:cubicBezTo>
                      <a:pt x="16" y="12"/>
                      <a:pt x="14" y="9"/>
                      <a:pt x="10" y="9"/>
                    </a:cubicBezTo>
                    <a:cubicBezTo>
                      <a:pt x="7" y="9"/>
                      <a:pt x="5" y="11"/>
                      <a:pt x="3" y="12"/>
                    </a:cubicBezTo>
                    <a:cubicBezTo>
                      <a:pt x="1" y="3"/>
                      <a:pt x="1" y="3"/>
                      <a:pt x="1" y="3"/>
                    </a:cubicBezTo>
                    <a:cubicBezTo>
                      <a:pt x="3" y="1"/>
                      <a:pt x="8" y="0"/>
                      <a:pt x="12" y="0"/>
                    </a:cubicBezTo>
                    <a:cubicBezTo>
                      <a:pt x="24" y="0"/>
                      <a:pt x="27" y="8"/>
                      <a:pt x="27" y="14"/>
                    </a:cubicBezTo>
                    <a:cubicBezTo>
                      <a:pt x="27" y="23"/>
                      <a:pt x="21" y="30"/>
                      <a:pt x="16" y="35"/>
                    </a:cubicBezTo>
                    <a:cubicBezTo>
                      <a:pt x="14" y="38"/>
                      <a:pt x="14" y="38"/>
                      <a:pt x="14" y="38"/>
                    </a:cubicBezTo>
                    <a:cubicBezTo>
                      <a:pt x="14" y="38"/>
                      <a:pt x="14" y="38"/>
                      <a:pt x="14" y="38"/>
                    </a:cubicBezTo>
                    <a:cubicBezTo>
                      <a:pt x="27" y="38"/>
                      <a:pt x="27" y="38"/>
                      <a:pt x="27" y="38"/>
                    </a:cubicBezTo>
                    <a:cubicBezTo>
                      <a:pt x="27" y="48"/>
                      <a:pt x="27" y="48"/>
                      <a:pt x="27" y="48"/>
                    </a:cubicBezTo>
                    <a:lnTo>
                      <a:pt x="0" y="48"/>
                    </a:ln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8" name="Freeform 60"/>
              <p:cNvSpPr/>
              <p:nvPr/>
            </p:nvSpPr>
            <p:spPr bwMode="auto">
              <a:xfrm>
                <a:off x="3970338" y="3860800"/>
                <a:ext cx="19050" cy="38100"/>
              </a:xfrm>
              <a:custGeom>
                <a:avLst/>
                <a:gdLst>
                  <a:gd name="T0" fmla="*/ 1 w 26"/>
                  <a:gd name="T1" fmla="*/ 38 h 49"/>
                  <a:gd name="T2" fmla="*/ 8 w 26"/>
                  <a:gd name="T3" fmla="*/ 40 h 49"/>
                  <a:gd name="T4" fmla="*/ 15 w 26"/>
                  <a:gd name="T5" fmla="*/ 34 h 49"/>
                  <a:gd name="T6" fmla="*/ 7 w 26"/>
                  <a:gd name="T7" fmla="*/ 27 h 49"/>
                  <a:gd name="T8" fmla="*/ 5 w 26"/>
                  <a:gd name="T9" fmla="*/ 27 h 49"/>
                  <a:gd name="T10" fmla="*/ 5 w 26"/>
                  <a:gd name="T11" fmla="*/ 19 h 49"/>
                  <a:gd name="T12" fmla="*/ 6 w 26"/>
                  <a:gd name="T13" fmla="*/ 19 h 49"/>
                  <a:gd name="T14" fmla="*/ 14 w 26"/>
                  <a:gd name="T15" fmla="*/ 14 h 49"/>
                  <a:gd name="T16" fmla="*/ 9 w 26"/>
                  <a:gd name="T17" fmla="*/ 9 h 49"/>
                  <a:gd name="T18" fmla="*/ 3 w 26"/>
                  <a:gd name="T19" fmla="*/ 11 h 49"/>
                  <a:gd name="T20" fmla="*/ 1 w 26"/>
                  <a:gd name="T21" fmla="*/ 2 h 49"/>
                  <a:gd name="T22" fmla="*/ 12 w 26"/>
                  <a:gd name="T23" fmla="*/ 0 h 49"/>
                  <a:gd name="T24" fmla="*/ 25 w 26"/>
                  <a:gd name="T25" fmla="*/ 12 h 49"/>
                  <a:gd name="T26" fmla="*/ 18 w 26"/>
                  <a:gd name="T27" fmla="*/ 22 h 49"/>
                  <a:gd name="T28" fmla="*/ 18 w 26"/>
                  <a:gd name="T29" fmla="*/ 22 h 49"/>
                  <a:gd name="T30" fmla="*/ 26 w 26"/>
                  <a:gd name="T31" fmla="*/ 34 h 49"/>
                  <a:gd name="T32" fmla="*/ 10 w 26"/>
                  <a:gd name="T33" fmla="*/ 49 h 49"/>
                  <a:gd name="T34" fmla="*/ 0 w 26"/>
                  <a:gd name="T35" fmla="*/ 47 h 49"/>
                  <a:gd name="T36" fmla="*/ 1 w 26"/>
                  <a:gd name="T37" fmla="*/ 3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49">
                    <a:moveTo>
                      <a:pt x="1" y="38"/>
                    </a:moveTo>
                    <a:cubicBezTo>
                      <a:pt x="3" y="39"/>
                      <a:pt x="6" y="40"/>
                      <a:pt x="8" y="40"/>
                    </a:cubicBezTo>
                    <a:cubicBezTo>
                      <a:pt x="13" y="40"/>
                      <a:pt x="15" y="37"/>
                      <a:pt x="15" y="34"/>
                    </a:cubicBezTo>
                    <a:cubicBezTo>
                      <a:pt x="15" y="29"/>
                      <a:pt x="11" y="27"/>
                      <a:pt x="7" y="27"/>
                    </a:cubicBezTo>
                    <a:cubicBezTo>
                      <a:pt x="5" y="27"/>
                      <a:pt x="5" y="27"/>
                      <a:pt x="5" y="27"/>
                    </a:cubicBezTo>
                    <a:cubicBezTo>
                      <a:pt x="5" y="19"/>
                      <a:pt x="5" y="19"/>
                      <a:pt x="5" y="19"/>
                    </a:cubicBezTo>
                    <a:cubicBezTo>
                      <a:pt x="6" y="19"/>
                      <a:pt x="6" y="19"/>
                      <a:pt x="6" y="19"/>
                    </a:cubicBezTo>
                    <a:cubicBezTo>
                      <a:pt x="10" y="19"/>
                      <a:pt x="14" y="18"/>
                      <a:pt x="14" y="14"/>
                    </a:cubicBezTo>
                    <a:cubicBezTo>
                      <a:pt x="14" y="11"/>
                      <a:pt x="12" y="9"/>
                      <a:pt x="9" y="9"/>
                    </a:cubicBezTo>
                    <a:cubicBezTo>
                      <a:pt x="7" y="9"/>
                      <a:pt x="4" y="10"/>
                      <a:pt x="3" y="11"/>
                    </a:cubicBezTo>
                    <a:cubicBezTo>
                      <a:pt x="1" y="2"/>
                      <a:pt x="1" y="2"/>
                      <a:pt x="1" y="2"/>
                    </a:cubicBezTo>
                    <a:cubicBezTo>
                      <a:pt x="3" y="1"/>
                      <a:pt x="8" y="0"/>
                      <a:pt x="12" y="0"/>
                    </a:cubicBezTo>
                    <a:cubicBezTo>
                      <a:pt x="21" y="0"/>
                      <a:pt x="25" y="6"/>
                      <a:pt x="25" y="12"/>
                    </a:cubicBezTo>
                    <a:cubicBezTo>
                      <a:pt x="25" y="17"/>
                      <a:pt x="22" y="20"/>
                      <a:pt x="18" y="22"/>
                    </a:cubicBezTo>
                    <a:cubicBezTo>
                      <a:pt x="18" y="22"/>
                      <a:pt x="18" y="22"/>
                      <a:pt x="18" y="22"/>
                    </a:cubicBezTo>
                    <a:cubicBezTo>
                      <a:pt x="23" y="24"/>
                      <a:pt x="26" y="28"/>
                      <a:pt x="26" y="34"/>
                    </a:cubicBezTo>
                    <a:cubicBezTo>
                      <a:pt x="26" y="41"/>
                      <a:pt x="21" y="49"/>
                      <a:pt x="10" y="49"/>
                    </a:cubicBezTo>
                    <a:cubicBezTo>
                      <a:pt x="5" y="49"/>
                      <a:pt x="2" y="48"/>
                      <a:pt x="0" y="47"/>
                    </a:cubicBezTo>
                    <a:lnTo>
                      <a:pt x="1" y="38"/>
                    </a:ln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89" name="Freeform 61"/>
              <p:cNvSpPr>
                <a:spLocks noEditPoints="1"/>
              </p:cNvSpPr>
              <p:nvPr/>
            </p:nvSpPr>
            <p:spPr bwMode="auto">
              <a:xfrm>
                <a:off x="3994150" y="3862388"/>
                <a:ext cx="23813" cy="34925"/>
              </a:xfrm>
              <a:custGeom>
                <a:avLst/>
                <a:gdLst>
                  <a:gd name="T0" fmla="*/ 17 w 31"/>
                  <a:gd name="T1" fmla="*/ 47 h 47"/>
                  <a:gd name="T2" fmla="*/ 17 w 31"/>
                  <a:gd name="T3" fmla="*/ 37 h 47"/>
                  <a:gd name="T4" fmla="*/ 0 w 31"/>
                  <a:gd name="T5" fmla="*/ 37 h 47"/>
                  <a:gd name="T6" fmla="*/ 0 w 31"/>
                  <a:gd name="T7" fmla="*/ 29 h 47"/>
                  <a:gd name="T8" fmla="*/ 16 w 31"/>
                  <a:gd name="T9" fmla="*/ 0 h 47"/>
                  <a:gd name="T10" fmla="*/ 27 w 31"/>
                  <a:gd name="T11" fmla="*/ 0 h 47"/>
                  <a:gd name="T12" fmla="*/ 27 w 31"/>
                  <a:gd name="T13" fmla="*/ 28 h 47"/>
                  <a:gd name="T14" fmla="*/ 31 w 31"/>
                  <a:gd name="T15" fmla="*/ 28 h 47"/>
                  <a:gd name="T16" fmla="*/ 31 w 31"/>
                  <a:gd name="T17" fmla="*/ 37 h 47"/>
                  <a:gd name="T18" fmla="*/ 27 w 31"/>
                  <a:gd name="T19" fmla="*/ 37 h 47"/>
                  <a:gd name="T20" fmla="*/ 27 w 31"/>
                  <a:gd name="T21" fmla="*/ 47 h 47"/>
                  <a:gd name="T22" fmla="*/ 17 w 31"/>
                  <a:gd name="T23" fmla="*/ 47 h 47"/>
                  <a:gd name="T24" fmla="*/ 17 w 31"/>
                  <a:gd name="T25" fmla="*/ 28 h 47"/>
                  <a:gd name="T26" fmla="*/ 17 w 31"/>
                  <a:gd name="T27" fmla="*/ 19 h 47"/>
                  <a:gd name="T28" fmla="*/ 17 w 31"/>
                  <a:gd name="T29" fmla="*/ 12 h 47"/>
                  <a:gd name="T30" fmla="*/ 17 w 31"/>
                  <a:gd name="T31" fmla="*/ 12 h 47"/>
                  <a:gd name="T32" fmla="*/ 14 w 31"/>
                  <a:gd name="T33" fmla="*/ 19 h 47"/>
                  <a:gd name="T34" fmla="*/ 10 w 31"/>
                  <a:gd name="T35" fmla="*/ 27 h 47"/>
                  <a:gd name="T36" fmla="*/ 10 w 31"/>
                  <a:gd name="T37" fmla="*/ 28 h 47"/>
                  <a:gd name="T38" fmla="*/ 17 w 31"/>
                  <a:gd name="T39" fmla="*/ 2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 h="47">
                    <a:moveTo>
                      <a:pt x="17" y="47"/>
                    </a:moveTo>
                    <a:cubicBezTo>
                      <a:pt x="17" y="37"/>
                      <a:pt x="17" y="37"/>
                      <a:pt x="17" y="37"/>
                    </a:cubicBezTo>
                    <a:cubicBezTo>
                      <a:pt x="0" y="37"/>
                      <a:pt x="0" y="37"/>
                      <a:pt x="0" y="37"/>
                    </a:cubicBezTo>
                    <a:cubicBezTo>
                      <a:pt x="0" y="29"/>
                      <a:pt x="0" y="29"/>
                      <a:pt x="0" y="29"/>
                    </a:cubicBezTo>
                    <a:cubicBezTo>
                      <a:pt x="16" y="0"/>
                      <a:pt x="16" y="0"/>
                      <a:pt x="16" y="0"/>
                    </a:cubicBezTo>
                    <a:cubicBezTo>
                      <a:pt x="27" y="0"/>
                      <a:pt x="27" y="0"/>
                      <a:pt x="27" y="0"/>
                    </a:cubicBezTo>
                    <a:cubicBezTo>
                      <a:pt x="27" y="28"/>
                      <a:pt x="27" y="28"/>
                      <a:pt x="27" y="28"/>
                    </a:cubicBezTo>
                    <a:cubicBezTo>
                      <a:pt x="31" y="28"/>
                      <a:pt x="31" y="28"/>
                      <a:pt x="31" y="28"/>
                    </a:cubicBezTo>
                    <a:cubicBezTo>
                      <a:pt x="31" y="37"/>
                      <a:pt x="31" y="37"/>
                      <a:pt x="31" y="37"/>
                    </a:cubicBezTo>
                    <a:cubicBezTo>
                      <a:pt x="27" y="37"/>
                      <a:pt x="27" y="37"/>
                      <a:pt x="27" y="37"/>
                    </a:cubicBezTo>
                    <a:cubicBezTo>
                      <a:pt x="27" y="47"/>
                      <a:pt x="27" y="47"/>
                      <a:pt x="27" y="47"/>
                    </a:cubicBezTo>
                    <a:lnTo>
                      <a:pt x="17" y="47"/>
                    </a:lnTo>
                    <a:close/>
                    <a:moveTo>
                      <a:pt x="17" y="28"/>
                    </a:moveTo>
                    <a:cubicBezTo>
                      <a:pt x="17" y="19"/>
                      <a:pt x="17" y="19"/>
                      <a:pt x="17" y="19"/>
                    </a:cubicBezTo>
                    <a:cubicBezTo>
                      <a:pt x="17" y="17"/>
                      <a:pt x="17" y="15"/>
                      <a:pt x="17" y="12"/>
                    </a:cubicBezTo>
                    <a:cubicBezTo>
                      <a:pt x="17" y="12"/>
                      <a:pt x="17" y="12"/>
                      <a:pt x="17" y="12"/>
                    </a:cubicBezTo>
                    <a:cubicBezTo>
                      <a:pt x="16" y="14"/>
                      <a:pt x="15" y="17"/>
                      <a:pt x="14" y="19"/>
                    </a:cubicBezTo>
                    <a:cubicBezTo>
                      <a:pt x="10" y="27"/>
                      <a:pt x="10" y="27"/>
                      <a:pt x="10" y="27"/>
                    </a:cubicBezTo>
                    <a:cubicBezTo>
                      <a:pt x="10" y="28"/>
                      <a:pt x="10" y="28"/>
                      <a:pt x="10" y="28"/>
                    </a:cubicBezTo>
                    <a:lnTo>
                      <a:pt x="17" y="28"/>
                    </a:ln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90" name="Freeform 62"/>
              <p:cNvSpPr/>
              <p:nvPr/>
            </p:nvSpPr>
            <p:spPr bwMode="auto">
              <a:xfrm>
                <a:off x="4019550" y="3862388"/>
                <a:ext cx="20638" cy="36513"/>
              </a:xfrm>
              <a:custGeom>
                <a:avLst/>
                <a:gdLst>
                  <a:gd name="T0" fmla="*/ 26 w 27"/>
                  <a:gd name="T1" fmla="*/ 9 h 48"/>
                  <a:gd name="T2" fmla="*/ 13 w 27"/>
                  <a:gd name="T3" fmla="*/ 9 h 48"/>
                  <a:gd name="T4" fmla="*/ 13 w 27"/>
                  <a:gd name="T5" fmla="*/ 16 h 48"/>
                  <a:gd name="T6" fmla="*/ 14 w 27"/>
                  <a:gd name="T7" fmla="*/ 16 h 48"/>
                  <a:gd name="T8" fmla="*/ 23 w 27"/>
                  <a:gd name="T9" fmla="*/ 20 h 48"/>
                  <a:gd name="T10" fmla="*/ 27 w 27"/>
                  <a:gd name="T11" fmla="*/ 31 h 48"/>
                  <a:gd name="T12" fmla="*/ 10 w 27"/>
                  <a:gd name="T13" fmla="*/ 48 h 48"/>
                  <a:gd name="T14" fmla="*/ 0 w 27"/>
                  <a:gd name="T15" fmla="*/ 46 h 48"/>
                  <a:gd name="T16" fmla="*/ 2 w 27"/>
                  <a:gd name="T17" fmla="*/ 37 h 48"/>
                  <a:gd name="T18" fmla="*/ 9 w 27"/>
                  <a:gd name="T19" fmla="*/ 39 h 48"/>
                  <a:gd name="T20" fmla="*/ 16 w 27"/>
                  <a:gd name="T21" fmla="*/ 32 h 48"/>
                  <a:gd name="T22" fmla="*/ 6 w 27"/>
                  <a:gd name="T23" fmla="*/ 24 h 48"/>
                  <a:gd name="T24" fmla="*/ 3 w 27"/>
                  <a:gd name="T25" fmla="*/ 24 h 48"/>
                  <a:gd name="T26" fmla="*/ 5 w 27"/>
                  <a:gd name="T27" fmla="*/ 0 h 48"/>
                  <a:gd name="T28" fmla="*/ 26 w 27"/>
                  <a:gd name="T29" fmla="*/ 0 h 48"/>
                  <a:gd name="T30" fmla="*/ 26 w 27"/>
                  <a:gd name="T31" fmla="*/ 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48">
                    <a:moveTo>
                      <a:pt x="26" y="9"/>
                    </a:moveTo>
                    <a:cubicBezTo>
                      <a:pt x="13" y="9"/>
                      <a:pt x="13" y="9"/>
                      <a:pt x="13" y="9"/>
                    </a:cubicBezTo>
                    <a:cubicBezTo>
                      <a:pt x="13" y="16"/>
                      <a:pt x="13" y="16"/>
                      <a:pt x="13" y="16"/>
                    </a:cubicBezTo>
                    <a:cubicBezTo>
                      <a:pt x="13" y="16"/>
                      <a:pt x="14" y="16"/>
                      <a:pt x="14" y="16"/>
                    </a:cubicBezTo>
                    <a:cubicBezTo>
                      <a:pt x="16" y="16"/>
                      <a:pt x="20" y="17"/>
                      <a:pt x="23" y="20"/>
                    </a:cubicBezTo>
                    <a:cubicBezTo>
                      <a:pt x="26" y="22"/>
                      <a:pt x="27" y="26"/>
                      <a:pt x="27" y="31"/>
                    </a:cubicBezTo>
                    <a:cubicBezTo>
                      <a:pt x="27" y="40"/>
                      <a:pt x="21" y="48"/>
                      <a:pt x="10" y="48"/>
                    </a:cubicBezTo>
                    <a:cubicBezTo>
                      <a:pt x="6" y="48"/>
                      <a:pt x="2" y="47"/>
                      <a:pt x="0" y="46"/>
                    </a:cubicBezTo>
                    <a:cubicBezTo>
                      <a:pt x="2" y="37"/>
                      <a:pt x="2" y="37"/>
                      <a:pt x="2" y="37"/>
                    </a:cubicBezTo>
                    <a:cubicBezTo>
                      <a:pt x="4" y="38"/>
                      <a:pt x="6" y="39"/>
                      <a:pt x="9" y="39"/>
                    </a:cubicBezTo>
                    <a:cubicBezTo>
                      <a:pt x="13" y="39"/>
                      <a:pt x="16" y="36"/>
                      <a:pt x="16" y="32"/>
                    </a:cubicBezTo>
                    <a:cubicBezTo>
                      <a:pt x="16" y="26"/>
                      <a:pt x="11" y="24"/>
                      <a:pt x="6" y="24"/>
                    </a:cubicBezTo>
                    <a:cubicBezTo>
                      <a:pt x="5" y="24"/>
                      <a:pt x="4" y="24"/>
                      <a:pt x="3" y="24"/>
                    </a:cubicBezTo>
                    <a:cubicBezTo>
                      <a:pt x="5" y="0"/>
                      <a:pt x="5" y="0"/>
                      <a:pt x="5" y="0"/>
                    </a:cubicBezTo>
                    <a:cubicBezTo>
                      <a:pt x="26" y="0"/>
                      <a:pt x="26" y="0"/>
                      <a:pt x="26" y="0"/>
                    </a:cubicBezTo>
                    <a:lnTo>
                      <a:pt x="26" y="9"/>
                    </a:ln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sp>
            <p:nvSpPr>
              <p:cNvPr id="91" name="Freeform 63"/>
              <p:cNvSpPr>
                <a:spLocks noEditPoints="1"/>
              </p:cNvSpPr>
              <p:nvPr/>
            </p:nvSpPr>
            <p:spPr bwMode="auto">
              <a:xfrm>
                <a:off x="4044950" y="3860800"/>
                <a:ext cx="22225" cy="38100"/>
              </a:xfrm>
              <a:custGeom>
                <a:avLst/>
                <a:gdLst>
                  <a:gd name="T0" fmla="*/ 26 w 30"/>
                  <a:gd name="T1" fmla="*/ 9 h 49"/>
                  <a:gd name="T2" fmla="*/ 22 w 30"/>
                  <a:gd name="T3" fmla="*/ 10 h 49"/>
                  <a:gd name="T4" fmla="*/ 12 w 30"/>
                  <a:gd name="T5" fmla="*/ 20 h 49"/>
                  <a:gd name="T6" fmla="*/ 12 w 30"/>
                  <a:gd name="T7" fmla="*/ 20 h 49"/>
                  <a:gd name="T8" fmla="*/ 19 w 30"/>
                  <a:gd name="T9" fmla="*/ 17 h 49"/>
                  <a:gd name="T10" fmla="*/ 30 w 30"/>
                  <a:gd name="T11" fmla="*/ 32 h 49"/>
                  <a:gd name="T12" fmla="*/ 16 w 30"/>
                  <a:gd name="T13" fmla="*/ 49 h 49"/>
                  <a:gd name="T14" fmla="*/ 0 w 30"/>
                  <a:gd name="T15" fmla="*/ 29 h 49"/>
                  <a:gd name="T16" fmla="*/ 9 w 30"/>
                  <a:gd name="T17" fmla="*/ 7 h 49"/>
                  <a:gd name="T18" fmla="*/ 20 w 30"/>
                  <a:gd name="T19" fmla="*/ 1 h 49"/>
                  <a:gd name="T20" fmla="*/ 26 w 30"/>
                  <a:gd name="T21" fmla="*/ 0 h 49"/>
                  <a:gd name="T22" fmla="*/ 26 w 30"/>
                  <a:gd name="T23" fmla="*/ 9 h 49"/>
                  <a:gd name="T24" fmla="*/ 19 w 30"/>
                  <a:gd name="T25" fmla="*/ 31 h 49"/>
                  <a:gd name="T26" fmla="*/ 15 w 30"/>
                  <a:gd name="T27" fmla="*/ 25 h 49"/>
                  <a:gd name="T28" fmla="*/ 12 w 30"/>
                  <a:gd name="T29" fmla="*/ 27 h 49"/>
                  <a:gd name="T30" fmla="*/ 12 w 30"/>
                  <a:gd name="T31" fmla="*/ 32 h 49"/>
                  <a:gd name="T32" fmla="*/ 15 w 30"/>
                  <a:gd name="T33" fmla="*/ 41 h 49"/>
                  <a:gd name="T34" fmla="*/ 19 w 30"/>
                  <a:gd name="T35" fmla="*/ 3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49">
                    <a:moveTo>
                      <a:pt x="26" y="9"/>
                    </a:moveTo>
                    <a:cubicBezTo>
                      <a:pt x="25" y="9"/>
                      <a:pt x="23" y="9"/>
                      <a:pt x="22" y="10"/>
                    </a:cubicBezTo>
                    <a:cubicBezTo>
                      <a:pt x="16" y="11"/>
                      <a:pt x="13" y="15"/>
                      <a:pt x="12" y="20"/>
                    </a:cubicBezTo>
                    <a:cubicBezTo>
                      <a:pt x="12" y="20"/>
                      <a:pt x="12" y="20"/>
                      <a:pt x="12" y="20"/>
                    </a:cubicBezTo>
                    <a:cubicBezTo>
                      <a:pt x="14" y="18"/>
                      <a:pt x="16" y="17"/>
                      <a:pt x="19" y="17"/>
                    </a:cubicBezTo>
                    <a:cubicBezTo>
                      <a:pt x="26" y="17"/>
                      <a:pt x="30" y="23"/>
                      <a:pt x="30" y="32"/>
                    </a:cubicBezTo>
                    <a:cubicBezTo>
                      <a:pt x="30" y="40"/>
                      <a:pt x="26" y="49"/>
                      <a:pt x="16" y="49"/>
                    </a:cubicBezTo>
                    <a:cubicBezTo>
                      <a:pt x="6" y="49"/>
                      <a:pt x="0" y="41"/>
                      <a:pt x="0" y="29"/>
                    </a:cubicBezTo>
                    <a:cubicBezTo>
                      <a:pt x="0" y="18"/>
                      <a:pt x="4" y="11"/>
                      <a:pt x="9" y="7"/>
                    </a:cubicBezTo>
                    <a:cubicBezTo>
                      <a:pt x="12" y="3"/>
                      <a:pt x="17" y="1"/>
                      <a:pt x="20" y="1"/>
                    </a:cubicBezTo>
                    <a:cubicBezTo>
                      <a:pt x="23" y="0"/>
                      <a:pt x="25" y="0"/>
                      <a:pt x="26" y="0"/>
                    </a:cubicBezTo>
                    <a:lnTo>
                      <a:pt x="26" y="9"/>
                    </a:lnTo>
                    <a:close/>
                    <a:moveTo>
                      <a:pt x="19" y="31"/>
                    </a:moveTo>
                    <a:cubicBezTo>
                      <a:pt x="19" y="29"/>
                      <a:pt x="18" y="25"/>
                      <a:pt x="15" y="25"/>
                    </a:cubicBezTo>
                    <a:cubicBezTo>
                      <a:pt x="14" y="25"/>
                      <a:pt x="13" y="26"/>
                      <a:pt x="12" y="27"/>
                    </a:cubicBezTo>
                    <a:cubicBezTo>
                      <a:pt x="12" y="28"/>
                      <a:pt x="12" y="29"/>
                      <a:pt x="12" y="32"/>
                    </a:cubicBezTo>
                    <a:cubicBezTo>
                      <a:pt x="12" y="37"/>
                      <a:pt x="13" y="41"/>
                      <a:pt x="15" y="41"/>
                    </a:cubicBezTo>
                    <a:cubicBezTo>
                      <a:pt x="19" y="41"/>
                      <a:pt x="19" y="36"/>
                      <a:pt x="19" y="31"/>
                    </a:cubicBezTo>
                    <a:close/>
                  </a:path>
                </a:pathLst>
              </a:custGeom>
              <a:grpFill/>
              <a:ln>
                <a:noFill/>
              </a:ln>
            </p:spPr>
            <p:txBody>
              <a:bodyPr/>
              <a:lstStyle/>
              <a:p>
                <a:pPr defTabSz="914400">
                  <a:defRPr/>
                </a:pPr>
                <a:endParaRPr lang="en-AU" sz="1800" kern="0">
                  <a:ln w="0"/>
                  <a:effectLst>
                    <a:outerShdw blurRad="38100" dist="19050" dir="2700000" algn="tl" rotWithShape="0">
                      <a:schemeClr val="dk1">
                        <a:alpha val="40000"/>
                      </a:schemeClr>
                    </a:outerShdw>
                  </a:effectLst>
                  <a:latin typeface="微软雅黑" panose="020B0503020204020204" pitchFamily="34" charset="-122"/>
                  <a:ea typeface="Microsoft YaHei UI" panose="020B0503020204020204" charset="-122"/>
                </a:endParaRPr>
              </a:p>
            </p:txBody>
          </p:sp>
        </p:grpSp>
      </p:grpSp>
      <p:grpSp>
        <p:nvGrpSpPr>
          <p:cNvPr id="95" name="组合 94"/>
          <p:cNvGrpSpPr/>
          <p:nvPr/>
        </p:nvGrpSpPr>
        <p:grpSpPr>
          <a:xfrm>
            <a:off x="3507734" y="1234081"/>
            <a:ext cx="727901" cy="759159"/>
            <a:chOff x="3798696" y="1025700"/>
            <a:chExt cx="727901" cy="759159"/>
          </a:xfrm>
        </p:grpSpPr>
        <p:grpSp>
          <p:nvGrpSpPr>
            <p:cNvPr id="48" name="组合 47"/>
            <p:cNvGrpSpPr/>
            <p:nvPr/>
          </p:nvGrpSpPr>
          <p:grpSpPr>
            <a:xfrm>
              <a:off x="3798696" y="1025700"/>
              <a:ext cx="727901" cy="759159"/>
              <a:chOff x="9098200" y="2905891"/>
              <a:chExt cx="1253667" cy="1254114"/>
            </a:xfrm>
          </p:grpSpPr>
          <p:sp>
            <p:nvSpPr>
              <p:cNvPr id="58" name="同心圆 57"/>
              <p:cNvSpPr/>
              <p:nvPr/>
            </p:nvSpPr>
            <p:spPr>
              <a:xfrm>
                <a:off x="9098200" y="2905891"/>
                <a:ext cx="1253667" cy="1254114"/>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椭圆 58"/>
              <p:cNvSpPr/>
              <p:nvPr/>
            </p:nvSpPr>
            <p:spPr>
              <a:xfrm>
                <a:off x="9125562" y="2933263"/>
                <a:ext cx="1199538" cy="1205351"/>
              </a:xfrm>
              <a:prstGeom prst="ellipse">
                <a:avLst/>
              </a:prstGeom>
              <a:solidFill>
                <a:srgbClr val="009D85"/>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4" name="图片 93"/>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3859986" y="1105544"/>
              <a:ext cx="611251" cy="611251"/>
            </a:xfrm>
            <a:prstGeom prst="rect">
              <a:avLst/>
            </a:prstGeom>
          </p:spPr>
        </p:pic>
      </p:grpSp>
      <p:sp>
        <p:nvSpPr>
          <p:cNvPr id="98" name="矩形 97"/>
          <p:cNvSpPr/>
          <p:nvPr/>
        </p:nvSpPr>
        <p:spPr>
          <a:xfrm>
            <a:off x="3810005" y="1103866"/>
            <a:ext cx="807358" cy="276999"/>
          </a:xfrm>
          <a:prstGeom prst="rect">
            <a:avLst/>
          </a:prstGeom>
          <a:noFill/>
        </p:spPr>
        <p:txBody>
          <a:bodyPr wrap="square" lIns="91440" tIns="45720" rIns="91440" bIns="45720">
            <a:spAutoFit/>
          </a:bodyPr>
          <a:lstStyle/>
          <a:p>
            <a:pPr algn="ctr"/>
            <a:r>
              <a:rPr lang="zh-CN" altLang="en-US" sz="1200" b="1"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Segoe UI Black" panose="020B0A02040204020203" pitchFamily="34" charset="0"/>
              </a:rPr>
              <a:t>快递资料</a:t>
            </a:r>
            <a:endParaRPr lang="zh-CN" altLang="en-US" sz="1200" b="1" cap="none" spc="0"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99" name="矩形 98"/>
          <p:cNvSpPr/>
          <p:nvPr/>
        </p:nvSpPr>
        <p:spPr>
          <a:xfrm>
            <a:off x="5745719" y="1138512"/>
            <a:ext cx="819776" cy="276999"/>
          </a:xfrm>
          <a:prstGeom prst="rect">
            <a:avLst/>
          </a:prstGeom>
          <a:noFill/>
        </p:spPr>
        <p:txBody>
          <a:bodyPr wrap="none" lIns="91440" tIns="45720" rIns="91440" bIns="45720">
            <a:spAutoFit/>
          </a:bodyPr>
          <a:lstStyle/>
          <a:p>
            <a:pPr algn="ctr"/>
            <a:r>
              <a:rPr lang="zh-CN" altLang="en-US" sz="1200" b="1" cap="none" spc="0"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Segoe UI Black" panose="020B0A02040204020203" pitchFamily="34" charset="0"/>
              </a:rPr>
              <a:t>审核核算</a:t>
            </a:r>
          </a:p>
        </p:txBody>
      </p:sp>
      <p:sp>
        <p:nvSpPr>
          <p:cNvPr id="100" name="矩形 99"/>
          <p:cNvSpPr/>
          <p:nvPr/>
        </p:nvSpPr>
        <p:spPr>
          <a:xfrm>
            <a:off x="7543384" y="1819133"/>
            <a:ext cx="1066646" cy="276999"/>
          </a:xfrm>
          <a:prstGeom prst="rect">
            <a:avLst/>
          </a:prstGeom>
          <a:noFill/>
        </p:spPr>
        <p:txBody>
          <a:bodyPr wrap="square" lIns="91440" tIns="45720" rIns="91440" bIns="45720">
            <a:spAutoFit/>
          </a:bodyPr>
          <a:lstStyle/>
          <a:p>
            <a:pPr algn="ctr"/>
            <a:r>
              <a:rPr lang="zh-CN" altLang="en-US" sz="1200" b="1" cap="none" spc="0"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Segoe UI Black" panose="020B0A02040204020203" pitchFamily="34" charset="0"/>
              </a:rPr>
              <a:t>汇款至账户</a:t>
            </a:r>
          </a:p>
        </p:txBody>
      </p:sp>
      <p:sp>
        <p:nvSpPr>
          <p:cNvPr id="101" name="右箭头 100"/>
          <p:cNvSpPr/>
          <p:nvPr/>
        </p:nvSpPr>
        <p:spPr>
          <a:xfrm>
            <a:off x="662822" y="1419945"/>
            <a:ext cx="817090" cy="557985"/>
          </a:xfrm>
          <a:prstGeom prst="rightArrow">
            <a:avLst>
              <a:gd name="adj1" fmla="val 50000"/>
              <a:gd name="adj2" fmla="val 32930"/>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流程</a:t>
            </a:r>
          </a:p>
        </p:txBody>
      </p:sp>
      <p:cxnSp>
        <p:nvCxnSpPr>
          <p:cNvPr id="108" name="Straight Connector 26"/>
          <p:cNvCxnSpPr>
            <a:stCxn id="33" idx="6"/>
          </p:cNvCxnSpPr>
          <p:nvPr/>
        </p:nvCxnSpPr>
        <p:spPr>
          <a:xfrm flipV="1">
            <a:off x="2398384" y="1666292"/>
            <a:ext cx="1125237" cy="4648"/>
          </a:xfrm>
          <a:prstGeom prst="line">
            <a:avLst/>
          </a:prstGeom>
          <a:ln w="9525">
            <a:solidFill>
              <a:srgbClr val="FF0000"/>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 name="Straight Connector 26"/>
          <p:cNvCxnSpPr/>
          <p:nvPr/>
        </p:nvCxnSpPr>
        <p:spPr>
          <a:xfrm flipV="1">
            <a:off x="4220378" y="1661643"/>
            <a:ext cx="1125237" cy="4648"/>
          </a:xfrm>
          <a:prstGeom prst="line">
            <a:avLst/>
          </a:prstGeom>
          <a:ln w="9525">
            <a:solidFill>
              <a:srgbClr val="FF0000"/>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6" name="Straight Connector 26"/>
          <p:cNvCxnSpPr/>
          <p:nvPr/>
        </p:nvCxnSpPr>
        <p:spPr>
          <a:xfrm flipV="1">
            <a:off x="6140308" y="1657352"/>
            <a:ext cx="1125237" cy="4648"/>
          </a:xfrm>
          <a:prstGeom prst="line">
            <a:avLst/>
          </a:prstGeom>
          <a:ln w="9525">
            <a:solidFill>
              <a:srgbClr val="FF0000"/>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8241" y="1409565"/>
            <a:ext cx="558262" cy="558262"/>
          </a:xfrm>
          <a:prstGeom prst="rect">
            <a:avLst/>
          </a:prstGeom>
        </p:spPr>
      </p:pic>
      <p:sp>
        <p:nvSpPr>
          <p:cNvPr id="6" name="文本框 5">
            <a:extLst>
              <a:ext uri="{FF2B5EF4-FFF2-40B4-BE49-F238E27FC236}">
                <a16:creationId xmlns:a16="http://schemas.microsoft.com/office/drawing/2014/main" id="{3964FDC7-650F-0D68-AED9-76F7A4C92FA0}"/>
              </a:ext>
            </a:extLst>
          </p:cNvPr>
          <p:cNvSpPr txBox="1"/>
          <p:nvPr/>
        </p:nvSpPr>
        <p:spPr>
          <a:xfrm>
            <a:off x="251520" y="299173"/>
            <a:ext cx="4582632" cy="369332"/>
          </a:xfrm>
          <a:prstGeom prst="rect">
            <a:avLst/>
          </a:prstGeom>
          <a:noFill/>
        </p:spPr>
        <p:txBody>
          <a:bodyPr wrap="square">
            <a:spAutoFit/>
          </a:bodyPr>
          <a:lstStyle/>
          <a:p>
            <a:r>
              <a:rPr lang="zh-CN" altLang="en-US" sz="1800" b="1" cap="small" dirty="0">
                <a:solidFill>
                  <a:schemeClr val="tx1"/>
                </a:solidFill>
                <a:latin typeface="微软雅黑" pitchFamily="34" charset="-122"/>
                <a:ea typeface="微软雅黑" pitchFamily="34" charset="-122"/>
              </a:rPr>
              <a:t>保险报销</a:t>
            </a:r>
            <a:r>
              <a:rPr lang="en-US" altLang="zh-CN" sz="1800" b="1" cap="small" dirty="0">
                <a:solidFill>
                  <a:schemeClr val="tx1"/>
                </a:solidFill>
                <a:latin typeface="微软雅黑" pitchFamily="34" charset="-122"/>
                <a:ea typeface="微软雅黑" pitchFamily="34" charset="-122"/>
              </a:rPr>
              <a:t>--</a:t>
            </a:r>
            <a:r>
              <a:rPr lang="zh-CN" altLang="en-US" sz="1800" b="1" cap="small" dirty="0">
                <a:solidFill>
                  <a:schemeClr val="tx1"/>
                </a:solidFill>
                <a:latin typeface="微软雅黑" pitchFamily="34" charset="-122"/>
                <a:ea typeface="微软雅黑" pitchFamily="34" charset="-122"/>
              </a:rPr>
              <a:t>须知</a:t>
            </a:r>
            <a:endParaRPr lang="zh-CN" altLang="en-US" dirty="0"/>
          </a:p>
        </p:txBody>
      </p:sp>
    </p:spTree>
    <p:extLst>
      <p:ext uri="{BB962C8B-B14F-4D97-AF65-F5344CB8AC3E}">
        <p14:creationId xmlns:p14="http://schemas.microsoft.com/office/powerpoint/2010/main" val="37220316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p:cTn id="7" dur="500" fill="hold"/>
                                        <p:tgtEl>
                                          <p:spTgt spid="101"/>
                                        </p:tgtEl>
                                        <p:attrNameLst>
                                          <p:attrName>ppt_x</p:attrName>
                                        </p:attrNameLst>
                                      </p:cBhvr>
                                      <p:tavLst>
                                        <p:tav tm="0">
                                          <p:val>
                                            <p:strVal val="#ppt_x-#ppt_w/2"/>
                                          </p:val>
                                        </p:tav>
                                        <p:tav tm="100000">
                                          <p:val>
                                            <p:strVal val="#ppt_x"/>
                                          </p:val>
                                        </p:tav>
                                      </p:tavLst>
                                    </p:anim>
                                    <p:anim calcmode="lin" valueType="num">
                                      <p:cBhvr>
                                        <p:cTn id="8" dur="500" fill="hold"/>
                                        <p:tgtEl>
                                          <p:spTgt spid="101"/>
                                        </p:tgtEl>
                                        <p:attrNameLst>
                                          <p:attrName>ppt_y</p:attrName>
                                        </p:attrNameLst>
                                      </p:cBhvr>
                                      <p:tavLst>
                                        <p:tav tm="0">
                                          <p:val>
                                            <p:strVal val="#ppt_y"/>
                                          </p:val>
                                        </p:tav>
                                        <p:tav tm="100000">
                                          <p:val>
                                            <p:strVal val="#ppt_y"/>
                                          </p:val>
                                        </p:tav>
                                      </p:tavLst>
                                    </p:anim>
                                    <p:anim calcmode="lin" valueType="num">
                                      <p:cBhvr>
                                        <p:cTn id="9" dur="500" fill="hold"/>
                                        <p:tgtEl>
                                          <p:spTgt spid="101"/>
                                        </p:tgtEl>
                                        <p:attrNameLst>
                                          <p:attrName>ppt_w</p:attrName>
                                        </p:attrNameLst>
                                      </p:cBhvr>
                                      <p:tavLst>
                                        <p:tav tm="0">
                                          <p:val>
                                            <p:fltVal val="0"/>
                                          </p:val>
                                        </p:tav>
                                        <p:tav tm="100000">
                                          <p:val>
                                            <p:strVal val="#ppt_w"/>
                                          </p:val>
                                        </p:tav>
                                      </p:tavLst>
                                    </p:anim>
                                    <p:anim calcmode="lin" valueType="num">
                                      <p:cBhvr>
                                        <p:cTn id="10" dur="500" fill="hold"/>
                                        <p:tgtEl>
                                          <p:spTgt spid="101"/>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down)">
                                      <p:cBhvr>
                                        <p:cTn id="14" dur="500"/>
                                        <p:tgtEl>
                                          <p:spTgt spid="65"/>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08"/>
                                        </p:tgtEl>
                                        <p:attrNameLst>
                                          <p:attrName>style.visibility</p:attrName>
                                        </p:attrNameLst>
                                      </p:cBhvr>
                                      <p:to>
                                        <p:strVal val="visible"/>
                                      </p:to>
                                    </p:set>
                                    <p:animEffect transition="in" filter="wipe(left)">
                                      <p:cBhvr>
                                        <p:cTn id="18" dur="500"/>
                                        <p:tgtEl>
                                          <p:spTgt spid="108"/>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95"/>
                                        </p:tgtEl>
                                        <p:attrNameLst>
                                          <p:attrName>style.visibility</p:attrName>
                                        </p:attrNameLst>
                                      </p:cBhvr>
                                      <p:to>
                                        <p:strVal val="visible"/>
                                      </p:to>
                                    </p:set>
                                    <p:animEffect transition="in" filter="wipe(down)">
                                      <p:cBhvr>
                                        <p:cTn id="22" dur="500"/>
                                        <p:tgtEl>
                                          <p:spTgt spid="95"/>
                                        </p:tgtEl>
                                      </p:cBhvr>
                                    </p:animEffect>
                                  </p:childTnLst>
                                </p:cTn>
                              </p:par>
                            </p:childTnLst>
                          </p:cTn>
                        </p:par>
                        <p:par>
                          <p:cTn id="23" fill="hold">
                            <p:stCondLst>
                              <p:cond delay="2000"/>
                            </p:stCondLst>
                            <p:childTnLst>
                              <p:par>
                                <p:cTn id="24" presetID="6" presetClass="entr" presetSubtype="16" fill="hold" grpId="0" nodeType="afterEffect">
                                  <p:stCondLst>
                                    <p:cond delay="0"/>
                                  </p:stCondLst>
                                  <p:childTnLst>
                                    <p:set>
                                      <p:cBhvr>
                                        <p:cTn id="25" dur="1" fill="hold">
                                          <p:stCondLst>
                                            <p:cond delay="0"/>
                                          </p:stCondLst>
                                        </p:cTn>
                                        <p:tgtEl>
                                          <p:spTgt spid="98"/>
                                        </p:tgtEl>
                                        <p:attrNameLst>
                                          <p:attrName>style.visibility</p:attrName>
                                        </p:attrNameLst>
                                      </p:cBhvr>
                                      <p:to>
                                        <p:strVal val="visible"/>
                                      </p:to>
                                    </p:set>
                                    <p:animEffect transition="in" filter="circle(in)">
                                      <p:cBhvr>
                                        <p:cTn id="26" dur="1000"/>
                                        <p:tgtEl>
                                          <p:spTgt spid="98"/>
                                        </p:tgtEl>
                                      </p:cBhvr>
                                    </p:animEffect>
                                  </p:childTnLst>
                                </p:cTn>
                              </p:par>
                            </p:childTnLst>
                          </p:cTn>
                        </p:par>
                        <p:par>
                          <p:cTn id="27" fill="hold">
                            <p:stCondLst>
                              <p:cond delay="3000"/>
                            </p:stCondLst>
                            <p:childTnLst>
                              <p:par>
                                <p:cTn id="28" presetID="22" presetClass="entr" presetSubtype="8" fill="hold" nodeType="afterEffect">
                                  <p:stCondLst>
                                    <p:cond delay="0"/>
                                  </p:stCondLst>
                                  <p:childTnLst>
                                    <p:set>
                                      <p:cBhvr>
                                        <p:cTn id="29" dur="1" fill="hold">
                                          <p:stCondLst>
                                            <p:cond delay="0"/>
                                          </p:stCondLst>
                                        </p:cTn>
                                        <p:tgtEl>
                                          <p:spTgt spid="115"/>
                                        </p:tgtEl>
                                        <p:attrNameLst>
                                          <p:attrName>style.visibility</p:attrName>
                                        </p:attrNameLst>
                                      </p:cBhvr>
                                      <p:to>
                                        <p:strVal val="visible"/>
                                      </p:to>
                                    </p:set>
                                    <p:animEffect transition="in" filter="wipe(left)">
                                      <p:cBhvr>
                                        <p:cTn id="30" dur="500"/>
                                        <p:tgtEl>
                                          <p:spTgt spid="115"/>
                                        </p:tgtEl>
                                      </p:cBhvr>
                                    </p:animEffect>
                                  </p:childTnLst>
                                </p:cTn>
                              </p:par>
                            </p:childTnLst>
                          </p:cTn>
                        </p:par>
                        <p:par>
                          <p:cTn id="31" fill="hold">
                            <p:stCondLst>
                              <p:cond delay="3500"/>
                            </p:stCondLst>
                            <p:childTnLst>
                              <p:par>
                                <p:cTn id="32" presetID="22" presetClass="entr" presetSubtype="4" fill="hold" nodeType="afterEffect">
                                  <p:stCondLst>
                                    <p:cond delay="0"/>
                                  </p:stCondLst>
                                  <p:childTnLst>
                                    <p:set>
                                      <p:cBhvr>
                                        <p:cTn id="33" dur="1" fill="hold">
                                          <p:stCondLst>
                                            <p:cond delay="0"/>
                                          </p:stCondLst>
                                        </p:cTn>
                                        <p:tgtEl>
                                          <p:spTgt spid="97"/>
                                        </p:tgtEl>
                                        <p:attrNameLst>
                                          <p:attrName>style.visibility</p:attrName>
                                        </p:attrNameLst>
                                      </p:cBhvr>
                                      <p:to>
                                        <p:strVal val="visible"/>
                                      </p:to>
                                    </p:set>
                                    <p:animEffect transition="in" filter="wipe(down)">
                                      <p:cBhvr>
                                        <p:cTn id="34" dur="500"/>
                                        <p:tgtEl>
                                          <p:spTgt spid="97"/>
                                        </p:tgtEl>
                                      </p:cBhvr>
                                    </p:animEffect>
                                  </p:childTnLst>
                                </p:cTn>
                              </p:par>
                            </p:childTnLst>
                          </p:cTn>
                        </p:par>
                        <p:par>
                          <p:cTn id="35" fill="hold">
                            <p:stCondLst>
                              <p:cond delay="4000"/>
                            </p:stCondLst>
                            <p:childTnLst>
                              <p:par>
                                <p:cTn id="36" presetID="6" presetClass="entr" presetSubtype="16" fill="hold" grpId="0" nodeType="afterEffect">
                                  <p:stCondLst>
                                    <p:cond delay="0"/>
                                  </p:stCondLst>
                                  <p:childTnLst>
                                    <p:set>
                                      <p:cBhvr>
                                        <p:cTn id="37" dur="1" fill="hold">
                                          <p:stCondLst>
                                            <p:cond delay="0"/>
                                          </p:stCondLst>
                                        </p:cTn>
                                        <p:tgtEl>
                                          <p:spTgt spid="99"/>
                                        </p:tgtEl>
                                        <p:attrNameLst>
                                          <p:attrName>style.visibility</p:attrName>
                                        </p:attrNameLst>
                                      </p:cBhvr>
                                      <p:to>
                                        <p:strVal val="visible"/>
                                      </p:to>
                                    </p:set>
                                    <p:animEffect transition="in" filter="circle(in)">
                                      <p:cBhvr>
                                        <p:cTn id="38" dur="1000"/>
                                        <p:tgtEl>
                                          <p:spTgt spid="99"/>
                                        </p:tgtEl>
                                      </p:cBhvr>
                                    </p:animEffect>
                                  </p:childTnLst>
                                </p:cTn>
                              </p:par>
                            </p:childTnLst>
                          </p:cTn>
                        </p:par>
                        <p:par>
                          <p:cTn id="39" fill="hold">
                            <p:stCondLst>
                              <p:cond delay="5000"/>
                            </p:stCondLst>
                            <p:childTnLst>
                              <p:par>
                                <p:cTn id="40" presetID="22" presetClass="entr" presetSubtype="8" fill="hold" nodeType="afterEffect">
                                  <p:stCondLst>
                                    <p:cond delay="0"/>
                                  </p:stCondLst>
                                  <p:childTnLst>
                                    <p:set>
                                      <p:cBhvr>
                                        <p:cTn id="41" dur="1" fill="hold">
                                          <p:stCondLst>
                                            <p:cond delay="0"/>
                                          </p:stCondLst>
                                        </p:cTn>
                                        <p:tgtEl>
                                          <p:spTgt spid="116"/>
                                        </p:tgtEl>
                                        <p:attrNameLst>
                                          <p:attrName>style.visibility</p:attrName>
                                        </p:attrNameLst>
                                      </p:cBhvr>
                                      <p:to>
                                        <p:strVal val="visible"/>
                                      </p:to>
                                    </p:set>
                                    <p:animEffect transition="in" filter="wipe(left)">
                                      <p:cBhvr>
                                        <p:cTn id="42" dur="500"/>
                                        <p:tgtEl>
                                          <p:spTgt spid="116"/>
                                        </p:tgtEl>
                                      </p:cBhvr>
                                    </p:animEffect>
                                  </p:childTnLst>
                                </p:cTn>
                              </p:par>
                            </p:childTnLst>
                          </p:cTn>
                        </p:par>
                        <p:par>
                          <p:cTn id="43" fill="hold">
                            <p:stCondLst>
                              <p:cond delay="5500"/>
                            </p:stCondLst>
                            <p:childTnLst>
                              <p:par>
                                <p:cTn id="44" presetID="22" presetClass="entr" presetSubtype="4" fill="hold" nodeType="after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wipe(down)">
                                      <p:cBhvr>
                                        <p:cTn id="46" dur="500"/>
                                        <p:tgtEl>
                                          <p:spTgt spid="34"/>
                                        </p:tgtEl>
                                      </p:cBhvr>
                                    </p:animEffect>
                                  </p:childTnLst>
                                </p:cTn>
                              </p:par>
                            </p:childTnLst>
                          </p:cTn>
                        </p:par>
                        <p:par>
                          <p:cTn id="47" fill="hold">
                            <p:stCondLst>
                              <p:cond delay="6000"/>
                            </p:stCondLst>
                            <p:childTnLst>
                              <p:par>
                                <p:cTn id="48" presetID="6" presetClass="entr" presetSubtype="16" fill="hold" grpId="0" nodeType="afterEffect">
                                  <p:stCondLst>
                                    <p:cond delay="0"/>
                                  </p:stCondLst>
                                  <p:childTnLst>
                                    <p:set>
                                      <p:cBhvr>
                                        <p:cTn id="49" dur="1" fill="hold">
                                          <p:stCondLst>
                                            <p:cond delay="0"/>
                                          </p:stCondLst>
                                        </p:cTn>
                                        <p:tgtEl>
                                          <p:spTgt spid="100"/>
                                        </p:tgtEl>
                                        <p:attrNameLst>
                                          <p:attrName>style.visibility</p:attrName>
                                        </p:attrNameLst>
                                      </p:cBhvr>
                                      <p:to>
                                        <p:strVal val="visible"/>
                                      </p:to>
                                    </p:set>
                                    <p:animEffect transition="in" filter="circle(in)">
                                      <p:cBhvr>
                                        <p:cTn id="50" dur="1000"/>
                                        <p:tgtEl>
                                          <p:spTgt spid="100"/>
                                        </p:tgtEl>
                                      </p:cBhvr>
                                    </p:animEffect>
                                  </p:childTnLst>
                                </p:cTn>
                              </p:par>
                            </p:childTnLst>
                          </p:cTn>
                        </p:par>
                        <p:par>
                          <p:cTn id="51" fill="hold">
                            <p:stCondLst>
                              <p:cond delay="7000"/>
                            </p:stCondLst>
                            <p:childTnLst>
                              <p:par>
                                <p:cTn id="52" presetID="1" presetClass="entr" presetSubtype="0" fill="hold" grpId="0" nodeType="afterEffect">
                                  <p:stCondLst>
                                    <p:cond delay="0"/>
                                  </p:stCondLst>
                                  <p:childTnLst>
                                    <p:set>
                                      <p:cBhvr>
                                        <p:cTn id="53" dur="1" fill="hold">
                                          <p:stCondLst>
                                            <p:cond delay="0"/>
                                          </p:stCondLst>
                                        </p:cTn>
                                        <p:tgtEl>
                                          <p:spTgt spid="4"/>
                                        </p:tgtEl>
                                        <p:attrNameLst>
                                          <p:attrName>style.visibility</p:attrName>
                                        </p:attrNameLst>
                                      </p:cBhvr>
                                      <p:to>
                                        <p:strVal val="visible"/>
                                      </p:to>
                                    </p:set>
                                  </p:childTnLst>
                                </p:cTn>
                              </p:par>
                            </p:childTnLst>
                          </p:cTn>
                        </p:par>
                        <p:par>
                          <p:cTn id="54" fill="hold">
                            <p:stCondLst>
                              <p:cond delay="7000"/>
                            </p:stCondLst>
                            <p:childTnLst>
                              <p:par>
                                <p:cTn id="55" presetID="1" presetClass="entr" presetSubtype="0" fill="hold" grpId="0" nodeType="afterEffect">
                                  <p:stCondLst>
                                    <p:cond delay="0"/>
                                  </p:stCondLst>
                                  <p:childTnLst>
                                    <p:set>
                                      <p:cBhvr>
                                        <p:cTn id="56" dur="1" fill="hold">
                                          <p:stCondLst>
                                            <p:cond delay="24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p:bldP spid="65" grpId="0"/>
      <p:bldP spid="98" grpId="0"/>
      <p:bldP spid="99" grpId="0"/>
      <p:bldP spid="100" grpId="0"/>
      <p:bldP spid="10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0207" y="777365"/>
            <a:ext cx="3311923" cy="71438"/>
            <a:chOff x="0" y="523875"/>
            <a:chExt cx="3311923" cy="71438"/>
          </a:xfrm>
        </p:grpSpPr>
        <p:cxnSp>
          <p:nvCxnSpPr>
            <p:cNvPr id="15" name="直接连接符 14"/>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17" name="矩形 16"/>
          <p:cNvSpPr/>
          <p:nvPr/>
        </p:nvSpPr>
        <p:spPr>
          <a:xfrm>
            <a:off x="523228" y="1447030"/>
            <a:ext cx="8191748" cy="3208571"/>
          </a:xfrm>
          <a:prstGeom prst="rect">
            <a:avLst/>
          </a:prstGeom>
        </p:spPr>
        <p:txBody>
          <a:bodyPr wrap="square">
            <a:spAutoFit/>
          </a:bodyPr>
          <a:lstStyle/>
          <a:p>
            <a:pPr indent="531813">
              <a:lnSpc>
                <a:spcPts val="1500"/>
              </a:lnSpc>
              <a:spcAft>
                <a:spcPts val="1200"/>
              </a:spcAft>
              <a:defRPr/>
            </a:pPr>
            <a:r>
              <a:rPr lang="en-US" altLang="zh-CN" sz="2000" b="1" dirty="0">
                <a:latin typeface="Microsoft Himalaya" panose="01010100010101010101" pitchFamily="2" charset="0"/>
                <a:ea typeface="Microsoft Himalaya" panose="01010100010101010101" pitchFamily="2" charset="0"/>
                <a:cs typeface="Microsoft Himalaya" panose="01010100010101010101" pitchFamily="2" charset="0"/>
              </a:rPr>
              <a:t>Notice: Only the medical expense happens in normal department of public hospital while insurance liability constituted can be covered. Self-paid or partly self-paid items and expenses are exceptional. </a:t>
            </a:r>
          </a:p>
          <a:p>
            <a:pPr indent="531813">
              <a:lnSpc>
                <a:spcPts val="1500"/>
              </a:lnSpc>
              <a:spcAft>
                <a:spcPts val="1200"/>
              </a:spcAft>
              <a:defRPr/>
            </a:pP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For hospitalization: Self-paid or partly self-paid items and expenses are exceptional. The rest of expenses will be valued as reasonable expenditure, which can be reimbursed at a percentage of 100%.</a:t>
            </a:r>
            <a:endParaRPr lang="zh-CN" altLang="zh-CN" sz="2000" dirty="0">
              <a:latin typeface="Microsoft Himalaya" panose="01010100010101010101" pitchFamily="2" charset="0"/>
              <a:cs typeface="Microsoft Himalaya" panose="01010100010101010101" pitchFamily="2" charset="0"/>
            </a:endParaRPr>
          </a:p>
          <a:p>
            <a:pPr indent="531813">
              <a:lnSpc>
                <a:spcPts val="1500"/>
              </a:lnSpc>
              <a:spcAft>
                <a:spcPts val="1200"/>
              </a:spcAft>
              <a:defRPr/>
            </a:pP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For Accidental Medical: Self-paid or partly self-paid items and expenses are exceptional. The rest of expenses will be valued as reasonable expenditure, which can be reimbursed at a percentage of 100%.</a:t>
            </a:r>
          </a:p>
          <a:p>
            <a:pPr indent="531813">
              <a:lnSpc>
                <a:spcPts val="1500"/>
              </a:lnSpc>
              <a:spcAft>
                <a:spcPts val="1200"/>
              </a:spcAft>
              <a:defRPr/>
            </a:pPr>
            <a:r>
              <a:rPr lang="en-US" altLang="zh-CN" sz="2000" dirty="0">
                <a:solidFill>
                  <a:srgbClr val="FF0000"/>
                </a:solidFill>
                <a:latin typeface="Microsoft Himalaya" panose="01010100010101010101" pitchFamily="2" charset="0"/>
                <a:ea typeface="Microsoft Himalaya" panose="01010100010101010101" pitchFamily="2" charset="0"/>
                <a:cs typeface="Microsoft Himalaya" panose="01010100010101010101" pitchFamily="2" charset="0"/>
              </a:rPr>
              <a:t>800RMB/year: </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For Outpatient and Emergency disease: The daily limitation is 600 yuan and deductible is </a:t>
            </a:r>
            <a:r>
              <a:rPr lang="en-US" altLang="zh-CN" sz="2000" dirty="0">
                <a:solidFill>
                  <a:srgbClr val="FF0000"/>
                </a:solidFill>
                <a:latin typeface="Microsoft Himalaya" panose="01010100010101010101" pitchFamily="2" charset="0"/>
                <a:ea typeface="Microsoft Himalaya" panose="01010100010101010101" pitchFamily="2" charset="0"/>
                <a:cs typeface="Microsoft Himalaya" panose="01010100010101010101" pitchFamily="2" charset="0"/>
              </a:rPr>
              <a:t>650</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We will subtract </a:t>
            </a:r>
            <a:r>
              <a:rPr lang="en-US" altLang="zh-CN" sz="2000" dirty="0">
                <a:solidFill>
                  <a:srgbClr val="FF0000"/>
                </a:solidFill>
                <a:latin typeface="Microsoft Himalaya" panose="01010100010101010101" pitchFamily="2" charset="0"/>
                <a:ea typeface="Microsoft Himalaya" panose="01010100010101010101" pitchFamily="2" charset="0"/>
                <a:cs typeface="Microsoft Himalaya" panose="01010100010101010101" pitchFamily="2" charset="0"/>
              </a:rPr>
              <a:t>650</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yuan once per period of insurance. The rest of expense can be reimbursed at a percentage of 85%.</a:t>
            </a:r>
            <a:endParaRPr lang="zh-CN" altLang="zh-CN" sz="2000" dirty="0">
              <a:latin typeface="Microsoft Himalaya" panose="01010100010101010101" pitchFamily="2" charset="0"/>
              <a:cs typeface="Microsoft Himalaya" panose="01010100010101010101" pitchFamily="2" charset="0"/>
            </a:endParaRPr>
          </a:p>
          <a:p>
            <a:pPr>
              <a:lnSpc>
                <a:spcPts val="1500"/>
              </a:lnSpc>
            </a:pP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For Accidental Disability: When insurance liability is constituted, the accidental disability insurance money will be paid. The amount of the insurance money will be calculating based on real situation. </a:t>
            </a:r>
            <a:endParaRPr lang="zh-CN" altLang="zh-CN" sz="2000" dirty="0">
              <a:latin typeface="Microsoft Himalaya" panose="01010100010101010101" pitchFamily="2" charset="0"/>
              <a:cs typeface="Microsoft Himalaya" panose="01010100010101010101" pitchFamily="2" charset="0"/>
            </a:endParaRPr>
          </a:p>
          <a:p>
            <a:pPr>
              <a:lnSpc>
                <a:spcPts val="1500"/>
              </a:lnSpc>
            </a:pP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For Death: When insurance liability is constituted, 100,000 </a:t>
            </a:r>
            <a:r>
              <a:rPr lang="en-US" altLang="zh-CN" sz="2000" dirty="0" err="1">
                <a:latin typeface="Microsoft Himalaya" panose="01010100010101010101" pitchFamily="2" charset="0"/>
                <a:ea typeface="Microsoft Himalaya" panose="01010100010101010101" pitchFamily="2" charset="0"/>
                <a:cs typeface="Microsoft Himalaya" panose="01010100010101010101" pitchFamily="2" charset="0"/>
              </a:rPr>
              <a:t>yuan</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of death compensation will be paid. (The sum of accidental disability and death insurance money shall not exceed RMB 100,000)</a:t>
            </a:r>
            <a:endParaRPr lang="en-US" altLang="zh-CN" sz="2000" u="sng" dirty="0">
              <a:solidFill>
                <a:srgbClr val="000000"/>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4" name="TextBox 3"/>
          <p:cNvSpPr txBox="1"/>
          <p:nvPr/>
        </p:nvSpPr>
        <p:spPr>
          <a:xfrm>
            <a:off x="813593" y="956107"/>
            <a:ext cx="1919115" cy="461665"/>
          </a:xfrm>
          <a:prstGeom prst="rect">
            <a:avLst/>
          </a:prstGeom>
          <a:noFill/>
        </p:spPr>
        <p:txBody>
          <a:bodyPr wrap="none" rtlCol="0">
            <a:spAutoFit/>
          </a:bodyPr>
          <a:lstStyle/>
          <a:p>
            <a:r>
              <a:rPr lang="en-US" altLang="zh-CN" sz="2400" b="1" i="1" dirty="0">
                <a:latin typeface="Microsoft Himalaya" panose="01010100010101010101" pitchFamily="2" charset="0"/>
                <a:ea typeface="Microsoft Himalaya" panose="01010100010101010101" pitchFamily="2" charset="0"/>
                <a:cs typeface="Microsoft Himalaya" panose="01010100010101010101" pitchFamily="2" charset="0"/>
              </a:rPr>
              <a:t>Reimbursement ratio</a:t>
            </a:r>
            <a:endParaRPr lang="zh-CN" altLang="en-US" sz="2400" b="1" i="1" dirty="0">
              <a:latin typeface="微软雅黑" pitchFamily="34" charset="-122"/>
              <a:ea typeface="微软雅黑" pitchFamily="34" charset="-122"/>
            </a:endParaRPr>
          </a:p>
        </p:txBody>
      </p:sp>
      <p:sp>
        <p:nvSpPr>
          <p:cNvPr id="5" name="文本框 4">
            <a:extLst>
              <a:ext uri="{FF2B5EF4-FFF2-40B4-BE49-F238E27FC236}">
                <a16:creationId xmlns:a16="http://schemas.microsoft.com/office/drawing/2014/main" id="{B16CE0CB-4FB8-0D53-DE13-DB93B443ED7A}"/>
              </a:ext>
            </a:extLst>
          </p:cNvPr>
          <p:cNvSpPr txBox="1"/>
          <p:nvPr/>
        </p:nvSpPr>
        <p:spPr>
          <a:xfrm>
            <a:off x="441810" y="303233"/>
            <a:ext cx="5760640" cy="369332"/>
          </a:xfrm>
          <a:prstGeom prst="rect">
            <a:avLst/>
          </a:prstGeom>
          <a:noFill/>
        </p:spPr>
        <p:txBody>
          <a:bodyPr wrap="square">
            <a:spAutoFit/>
          </a:bodyPr>
          <a:lstStyle/>
          <a:p>
            <a:r>
              <a:rPr lang="en-US" altLang="zh-CN" sz="1800" dirty="0">
                <a:effectLst/>
              </a:rPr>
              <a:t>Insurance Reimbursement--Terms and conditions </a:t>
            </a:r>
            <a:endParaRPr lang="zh-CN" altLang="en-US" dirty="0"/>
          </a:p>
        </p:txBody>
      </p:sp>
    </p:spTree>
    <p:extLst>
      <p:ext uri="{BB962C8B-B14F-4D97-AF65-F5344CB8AC3E}">
        <p14:creationId xmlns:p14="http://schemas.microsoft.com/office/powerpoint/2010/main" val="41416675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0207" y="777365"/>
            <a:ext cx="3311923" cy="71438"/>
            <a:chOff x="0" y="523875"/>
            <a:chExt cx="3311923" cy="71438"/>
          </a:xfrm>
        </p:grpSpPr>
        <p:cxnSp>
          <p:nvCxnSpPr>
            <p:cNvPr id="15" name="直接连接符 14"/>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8" name="标题 2"/>
          <p:cNvSpPr txBox="1">
            <a:spLocks/>
          </p:cNvSpPr>
          <p:nvPr/>
        </p:nvSpPr>
        <p:spPr>
          <a:xfrm>
            <a:off x="-72008" y="313558"/>
            <a:ext cx="4355976" cy="500633"/>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fontAlgn="auto">
              <a:spcAft>
                <a:spcPts val="0"/>
              </a:spcAft>
            </a:pPr>
            <a:r>
              <a:rPr lang="zh-CN" altLang="en-US" sz="2600" b="1" cap="small" dirty="0">
                <a:solidFill>
                  <a:schemeClr val="tx1"/>
                </a:solidFill>
                <a:latin typeface="微软雅黑" pitchFamily="34" charset="-122"/>
                <a:ea typeface="微软雅黑" pitchFamily="34" charset="-122"/>
              </a:rPr>
              <a:t>保险报销</a:t>
            </a:r>
            <a:r>
              <a:rPr lang="en-US" altLang="zh-CN" sz="2600" b="1" cap="small" dirty="0">
                <a:solidFill>
                  <a:schemeClr val="tx1"/>
                </a:solidFill>
                <a:latin typeface="微软雅黑" pitchFamily="34" charset="-122"/>
                <a:ea typeface="微软雅黑" pitchFamily="34" charset="-122"/>
              </a:rPr>
              <a:t>—</a:t>
            </a:r>
            <a:r>
              <a:rPr lang="en-US" altLang="zh-CN" sz="2600" b="1" cap="small" dirty="0">
                <a:solidFill>
                  <a:srgbClr val="FF0000"/>
                </a:solidFill>
                <a:latin typeface="微软雅黑" pitchFamily="34" charset="-122"/>
                <a:ea typeface="微软雅黑" pitchFamily="34" charset="-122"/>
              </a:rPr>
              <a:t>800</a:t>
            </a:r>
            <a:r>
              <a:rPr lang="zh-CN" altLang="en-US" sz="2600" b="1" cap="small" dirty="0">
                <a:solidFill>
                  <a:srgbClr val="FF0000"/>
                </a:solidFill>
                <a:latin typeface="微软雅黑" pitchFamily="34" charset="-122"/>
                <a:ea typeface="微软雅黑" pitchFamily="34" charset="-122"/>
              </a:rPr>
              <a:t>方案为例</a:t>
            </a:r>
          </a:p>
        </p:txBody>
      </p:sp>
      <p:sp>
        <p:nvSpPr>
          <p:cNvPr id="9" name="矩形 8"/>
          <p:cNvSpPr/>
          <p:nvPr/>
        </p:nvSpPr>
        <p:spPr>
          <a:xfrm>
            <a:off x="611560" y="1059582"/>
            <a:ext cx="7920880" cy="3298339"/>
          </a:xfrm>
          <a:prstGeom prst="rect">
            <a:avLst/>
          </a:prstGeom>
        </p:spPr>
        <p:txBody>
          <a:bodyPr wrap="square">
            <a:spAutoFit/>
          </a:bodyPr>
          <a:lstStyle/>
          <a:p>
            <a:pPr>
              <a:lnSpc>
                <a:spcPts val="2500"/>
              </a:lnSpc>
            </a:pPr>
            <a:r>
              <a:rPr lang="zh-CN" altLang="en-US" sz="1600" b="1" dirty="0">
                <a:latin typeface="微软雅黑" panose="020B0503020204020204" pitchFamily="34" charset="-122"/>
                <a:ea typeface="微软雅黑" panose="020B0503020204020204" pitchFamily="34" charset="-122"/>
              </a:rPr>
              <a:t>疾病门诊</a:t>
            </a:r>
            <a:r>
              <a:rPr lang="zh-CN" altLang="en-US"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被保险人因疾病在门诊进行治疗所发生的合理且必要的医疗费用，在一个保险期间内，就诊</a:t>
            </a:r>
            <a:r>
              <a:rPr lang="zh-CN" altLang="zh-CN" sz="1600" b="1" dirty="0">
                <a:latin typeface="微软雅黑" panose="020B0503020204020204" pitchFamily="34" charset="-122"/>
                <a:ea typeface="微软雅黑" panose="020B0503020204020204" pitchFamily="34" charset="-122"/>
              </a:rPr>
              <a:t>日费用限额为</a:t>
            </a:r>
            <a:r>
              <a:rPr lang="en-US" altLang="zh-CN" sz="1600" b="1" dirty="0">
                <a:solidFill>
                  <a:srgbClr val="FF0000"/>
                </a:solidFill>
                <a:latin typeface="微软雅黑" panose="020B0503020204020204" pitchFamily="34" charset="-122"/>
                <a:ea typeface="微软雅黑" panose="020B0503020204020204" pitchFamily="34" charset="-122"/>
              </a:rPr>
              <a:t>600</a:t>
            </a:r>
            <a:r>
              <a:rPr lang="zh-CN" altLang="zh-CN" sz="1600" b="1" dirty="0">
                <a:latin typeface="微软雅黑" panose="020B0503020204020204" pitchFamily="34" charset="-122"/>
                <a:ea typeface="微软雅黑" panose="020B0503020204020204" pitchFamily="34" charset="-122"/>
              </a:rPr>
              <a:t>元（即：若当日医疗费用超日限额的只能按</a:t>
            </a:r>
            <a:r>
              <a:rPr lang="en-US" altLang="zh-CN" sz="1600" b="1" dirty="0">
                <a:latin typeface="微软雅黑" panose="020B0503020204020204" pitchFamily="34" charset="-122"/>
                <a:ea typeface="微软雅黑" panose="020B0503020204020204" pitchFamily="34" charset="-122"/>
              </a:rPr>
              <a:t>600</a:t>
            </a:r>
            <a:r>
              <a:rPr lang="zh-CN" altLang="zh-CN" sz="1600" b="1" dirty="0">
                <a:latin typeface="微软雅黑" panose="020B0503020204020204" pitchFamily="34" charset="-122"/>
                <a:ea typeface="微软雅黑" panose="020B0503020204020204" pitchFamily="34" charset="-122"/>
              </a:rPr>
              <a:t>元计算，当日医疗费用未超</a:t>
            </a:r>
            <a:r>
              <a:rPr lang="en-US" altLang="zh-CN" sz="1600" b="1" dirty="0">
                <a:latin typeface="微软雅黑" panose="020B0503020204020204" pitchFamily="34" charset="-122"/>
                <a:ea typeface="微软雅黑" panose="020B0503020204020204" pitchFamily="34" charset="-122"/>
              </a:rPr>
              <a:t>600</a:t>
            </a:r>
            <a:r>
              <a:rPr lang="zh-CN" altLang="zh-CN" sz="1600" b="1" dirty="0">
                <a:latin typeface="微软雅黑" panose="020B0503020204020204" pitchFamily="34" charset="-122"/>
                <a:ea typeface="微软雅黑" panose="020B0503020204020204" pitchFamily="34" charset="-122"/>
              </a:rPr>
              <a:t>元限额的按实际发生金额计算），在日限额的基础上累计达到</a:t>
            </a:r>
            <a:r>
              <a:rPr lang="en-US" altLang="zh-CN" sz="1600" b="1" dirty="0">
                <a:latin typeface="微软雅黑" panose="020B0503020204020204" pitchFamily="34" charset="-122"/>
                <a:ea typeface="微软雅黑" panose="020B0503020204020204" pitchFamily="34" charset="-122"/>
              </a:rPr>
              <a:t>650</a:t>
            </a:r>
            <a:r>
              <a:rPr lang="zh-CN" altLang="zh-CN" sz="1600" b="1" dirty="0">
                <a:latin typeface="微软雅黑" panose="020B0503020204020204" pitchFamily="34" charset="-122"/>
                <a:ea typeface="微软雅黑" panose="020B0503020204020204" pitchFamily="34" charset="-122"/>
              </a:rPr>
              <a:t>元（</a:t>
            </a:r>
            <a:r>
              <a:rPr lang="zh-CN" altLang="en-US" sz="1600" b="1" dirty="0">
                <a:latin typeface="微软雅黑" panose="020B0503020204020204" pitchFamily="34" charset="-122"/>
                <a:ea typeface="微软雅黑" panose="020B0503020204020204" pitchFamily="34" charset="-122"/>
              </a:rPr>
              <a:t>免赔额</a:t>
            </a:r>
            <a:r>
              <a:rPr lang="zh-CN" altLang="zh-CN" sz="1600" b="1" dirty="0">
                <a:latin typeface="微软雅黑" panose="020B0503020204020204" pitchFamily="34" charset="-122"/>
                <a:ea typeface="微软雅黑" panose="020B0503020204020204" pitchFamily="34" charset="-122"/>
              </a:rPr>
              <a:t>）以上的部分保险人按照</a:t>
            </a:r>
            <a:r>
              <a:rPr lang="en-US" altLang="zh-CN" sz="1600" b="1" dirty="0">
                <a:latin typeface="微软雅黑" panose="020B0503020204020204" pitchFamily="34" charset="-122"/>
                <a:ea typeface="微软雅黑" panose="020B0503020204020204" pitchFamily="34" charset="-122"/>
              </a:rPr>
              <a:t>85%</a:t>
            </a:r>
            <a:r>
              <a:rPr lang="zh-CN" altLang="zh-CN" sz="1600" b="1" dirty="0">
                <a:latin typeface="微软雅黑" panose="020B0503020204020204" pitchFamily="34" charset="-122"/>
                <a:ea typeface="微软雅黑" panose="020B0503020204020204" pitchFamily="34" charset="-122"/>
              </a:rPr>
              <a:t>的比例予以赔付</a:t>
            </a:r>
            <a:r>
              <a:rPr lang="zh-CN" altLang="en-US" sz="1600" b="1"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ts val="2500"/>
              </a:lnSpc>
            </a:pPr>
            <a:endParaRPr lang="en-US" altLang="zh-CN" sz="1600" dirty="0">
              <a:latin typeface="微软雅黑" panose="020B0503020204020204" pitchFamily="34" charset="-122"/>
              <a:ea typeface="微软雅黑" panose="020B0503020204020204" pitchFamily="34" charset="-122"/>
            </a:endParaRPr>
          </a:p>
          <a:p>
            <a:pPr>
              <a:lnSpc>
                <a:spcPts val="2500"/>
              </a:lnSpc>
            </a:pPr>
            <a:r>
              <a:rPr lang="zh-CN" altLang="zh-CN" sz="1600" dirty="0">
                <a:latin typeface="微软雅黑" panose="020B0503020204020204" pitchFamily="34" charset="-122"/>
                <a:ea typeface="微软雅黑" panose="020B0503020204020204" pitchFamily="34" charset="-122"/>
              </a:rPr>
              <a:t>即：如因发烧、突然腹痛、晕倒、身体某处炎症等等在门诊或急诊进行治疗的；</a:t>
            </a:r>
          </a:p>
          <a:p>
            <a:pPr>
              <a:lnSpc>
                <a:spcPts val="2500"/>
              </a:lnSpc>
            </a:pPr>
            <a:r>
              <a:rPr lang="zh-CN" altLang="zh-CN" sz="1600" dirty="0">
                <a:latin typeface="微软雅黑" panose="020B0503020204020204" pitchFamily="34" charset="-122"/>
                <a:ea typeface="微软雅黑" panose="020B0503020204020204" pitchFamily="34" charset="-122"/>
              </a:rPr>
              <a:t>报销公式：</a:t>
            </a:r>
            <a:r>
              <a:rPr lang="en-US" altLang="zh-CN" sz="1600" b="1" dirty="0">
                <a:latin typeface="微软雅黑" panose="020B0503020204020204" pitchFamily="34" charset="-122"/>
                <a:ea typeface="微软雅黑" panose="020B0503020204020204" pitchFamily="34" charset="-122"/>
              </a:rPr>
              <a:t>(</a:t>
            </a:r>
            <a:r>
              <a:rPr lang="zh-CN" altLang="zh-CN" sz="1600" b="1" dirty="0">
                <a:latin typeface="微软雅黑" panose="020B0503020204020204" pitchFamily="34" charset="-122"/>
                <a:ea typeface="微软雅黑" panose="020B0503020204020204" pitchFamily="34" charset="-122"/>
              </a:rPr>
              <a:t>每天在日限额以内的费用相加</a:t>
            </a:r>
            <a:r>
              <a:rPr lang="en-US" altLang="zh-CN" sz="1600" b="1" dirty="0">
                <a:latin typeface="微软雅黑" panose="020B0503020204020204" pitchFamily="34" charset="-122"/>
                <a:ea typeface="微软雅黑" panose="020B0503020204020204" pitchFamily="34" charset="-122"/>
              </a:rPr>
              <a:t>-650</a:t>
            </a:r>
            <a:r>
              <a:rPr lang="zh-CN" altLang="zh-CN" sz="1600" b="1" dirty="0">
                <a:latin typeface="微软雅黑" panose="020B0503020204020204" pitchFamily="34" charset="-122"/>
                <a:ea typeface="微软雅黑" panose="020B0503020204020204" pitchFamily="34" charset="-122"/>
              </a:rPr>
              <a:t>元</a:t>
            </a:r>
            <a:r>
              <a:rPr lang="en-US" altLang="zh-CN" sz="1600" b="1" dirty="0">
                <a:latin typeface="微软雅黑" panose="020B0503020204020204" pitchFamily="34" charset="-122"/>
                <a:ea typeface="微软雅黑" panose="020B0503020204020204" pitchFamily="34" charset="-122"/>
              </a:rPr>
              <a:t>)*85%=</a:t>
            </a:r>
            <a:r>
              <a:rPr lang="zh-CN" altLang="zh-CN" sz="1600" b="1" dirty="0">
                <a:latin typeface="微软雅黑" panose="020B0503020204020204" pitchFamily="34" charset="-122"/>
                <a:ea typeface="微软雅黑" panose="020B0503020204020204" pitchFamily="34" charset="-122"/>
              </a:rPr>
              <a:t>可报销费用</a:t>
            </a:r>
            <a:r>
              <a:rPr lang="zh-CN" altLang="zh-CN" sz="1600" dirty="0">
                <a:latin typeface="微软雅黑" panose="020B0503020204020204" pitchFamily="34" charset="-122"/>
                <a:ea typeface="微软雅黑" panose="020B0503020204020204" pitchFamily="34" charset="-122"/>
              </a:rPr>
              <a:t>（合理费用合计不含当地社会基本医疗保险规定的自费及部分自费费用）。</a:t>
            </a:r>
          </a:p>
          <a:p>
            <a:pPr>
              <a:lnSpc>
                <a:spcPts val="2500"/>
              </a:lnSpc>
            </a:pPr>
            <a:r>
              <a:rPr lang="zh-CN" altLang="zh-CN" sz="1600" b="1" dirty="0">
                <a:latin typeface="微软雅黑" panose="020B0503020204020204" pitchFamily="34" charset="-122"/>
                <a:ea typeface="微软雅黑" panose="020B0503020204020204" pitchFamily="34" charset="-122"/>
              </a:rPr>
              <a:t>释：</a:t>
            </a:r>
            <a:endParaRPr lang="zh-CN" altLang="zh-CN" sz="1600" dirty="0">
              <a:latin typeface="微软雅黑" panose="020B0503020204020204" pitchFamily="34" charset="-122"/>
              <a:ea typeface="微软雅黑" panose="020B0503020204020204" pitchFamily="34" charset="-122"/>
            </a:endParaRPr>
          </a:p>
          <a:p>
            <a:pPr>
              <a:lnSpc>
                <a:spcPts val="2500"/>
              </a:lnSpc>
            </a:pPr>
            <a:r>
              <a:rPr lang="en-US" altLang="zh-CN" sz="1600" b="1" dirty="0">
                <a:latin typeface="微软雅黑" panose="020B0503020204020204" pitchFamily="34" charset="-122"/>
                <a:ea typeface="微软雅黑" panose="020B0503020204020204" pitchFamily="34" charset="-122"/>
              </a:rPr>
              <a:t>650</a:t>
            </a:r>
            <a:r>
              <a:rPr lang="zh-CN" altLang="zh-CN" sz="1600" b="1" dirty="0">
                <a:latin typeface="微软雅黑" panose="020B0503020204020204" pitchFamily="34" charset="-122"/>
                <a:ea typeface="微软雅黑" panose="020B0503020204020204" pitchFamily="34" charset="-122"/>
              </a:rPr>
              <a:t>元为</a:t>
            </a:r>
            <a:r>
              <a:rPr lang="zh-CN" altLang="en-US" sz="1600" b="1" dirty="0">
                <a:latin typeface="微软雅黑" panose="020B0503020204020204" pitchFamily="34" charset="-122"/>
                <a:ea typeface="微软雅黑" panose="020B0503020204020204" pitchFamily="34" charset="-122"/>
              </a:rPr>
              <a:t>免赔额</a:t>
            </a:r>
            <a:r>
              <a:rPr lang="zh-CN" altLang="zh-CN" sz="1600" b="1" dirty="0">
                <a:latin typeface="微软雅黑" panose="020B0503020204020204" pitchFamily="34" charset="-122"/>
                <a:ea typeface="微软雅黑" panose="020B0503020204020204" pitchFamily="34" charset="-122"/>
              </a:rPr>
              <a:t>（一个保险期间内累计扣一次</a:t>
            </a:r>
            <a:r>
              <a:rPr lang="en-US" altLang="zh-CN" sz="1600" b="1" dirty="0">
                <a:latin typeface="微软雅黑" panose="020B0503020204020204" pitchFamily="34" charset="-122"/>
                <a:ea typeface="微软雅黑" panose="020B0503020204020204" pitchFamily="34" charset="-122"/>
              </a:rPr>
              <a:t>650</a:t>
            </a:r>
            <a:r>
              <a:rPr lang="zh-CN" altLang="zh-CN" sz="1600" b="1" dirty="0">
                <a:latin typeface="微软雅黑" panose="020B0503020204020204" pitchFamily="34" charset="-122"/>
                <a:ea typeface="微软雅黑" panose="020B0503020204020204" pitchFamily="34" charset="-122"/>
              </a:rPr>
              <a:t>元），</a:t>
            </a:r>
            <a:r>
              <a:rPr lang="zh-CN" altLang="en-US" sz="1600" b="1" dirty="0">
                <a:latin typeface="微软雅黑" panose="020B0503020204020204" pitchFamily="34" charset="-122"/>
                <a:ea typeface="微软雅黑" panose="020B0503020204020204" pitchFamily="34" charset="-122"/>
              </a:rPr>
              <a:t>免赔额</a:t>
            </a:r>
            <a:r>
              <a:rPr lang="zh-CN" altLang="zh-CN" sz="1600" b="1" dirty="0">
                <a:latin typeface="微软雅黑" panose="020B0503020204020204" pitchFamily="34" charset="-122"/>
                <a:ea typeface="微软雅黑" panose="020B0503020204020204" pitchFamily="34" charset="-122"/>
              </a:rPr>
              <a:t>以下部分不予赔付。</a:t>
            </a:r>
            <a:endParaRPr lang="en-US" altLang="zh-CN"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76139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79512" y="840135"/>
            <a:ext cx="3311923" cy="71438"/>
            <a:chOff x="0" y="523875"/>
            <a:chExt cx="3311923" cy="71438"/>
          </a:xfrm>
        </p:grpSpPr>
        <p:cxnSp>
          <p:nvCxnSpPr>
            <p:cNvPr id="15" name="直接连接符 14"/>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8" name="标题 2"/>
          <p:cNvSpPr txBox="1">
            <a:spLocks/>
          </p:cNvSpPr>
          <p:nvPr/>
        </p:nvSpPr>
        <p:spPr>
          <a:xfrm>
            <a:off x="163124" y="372468"/>
            <a:ext cx="8748464" cy="428625"/>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fontAlgn="auto">
              <a:spcAft>
                <a:spcPts val="0"/>
              </a:spcAft>
            </a:pPr>
            <a:r>
              <a:rPr lang="en-US" altLang="zh-CN" sz="2400" b="1" cap="small" dirty="0">
                <a:solidFill>
                  <a:schemeClr val="tx1"/>
                </a:solidFill>
                <a:latin typeface="微软雅黑" pitchFamily="34" charset="-122"/>
                <a:ea typeface="微软雅黑" pitchFamily="34" charset="-122"/>
              </a:rPr>
              <a:t>Insurance Reimbursement—</a:t>
            </a:r>
            <a:r>
              <a:rPr lang="en-US" altLang="zh-CN" sz="2400" b="1" cap="small" dirty="0">
                <a:solidFill>
                  <a:srgbClr val="FF0000"/>
                </a:solidFill>
                <a:latin typeface="微软雅黑" pitchFamily="34" charset="-122"/>
                <a:ea typeface="微软雅黑" pitchFamily="34" charset="-122"/>
              </a:rPr>
              <a:t>800RMB/year for example</a:t>
            </a:r>
            <a:endParaRPr lang="zh-CN" altLang="en-US" sz="2400" b="1" cap="small" dirty="0">
              <a:solidFill>
                <a:srgbClr val="FF0000"/>
              </a:solidFill>
              <a:latin typeface="微软雅黑" pitchFamily="34" charset="-122"/>
              <a:ea typeface="微软雅黑" pitchFamily="34" charset="-122"/>
            </a:endParaRPr>
          </a:p>
        </p:txBody>
      </p:sp>
      <p:sp>
        <p:nvSpPr>
          <p:cNvPr id="9" name="矩形 8"/>
          <p:cNvSpPr/>
          <p:nvPr/>
        </p:nvSpPr>
        <p:spPr>
          <a:xfrm>
            <a:off x="611560" y="1131590"/>
            <a:ext cx="7979390" cy="3323987"/>
          </a:xfrm>
          <a:prstGeom prst="rect">
            <a:avLst/>
          </a:prstGeom>
        </p:spPr>
        <p:txBody>
          <a:bodyPr wrap="square">
            <a:spAutoFit/>
          </a:bodyPr>
          <a:lstStyle/>
          <a:p>
            <a:pPr lvl="0">
              <a:lnSpc>
                <a:spcPts val="2100"/>
              </a:lnSpc>
            </a:pPr>
            <a:r>
              <a:rPr lang="en-US" altLang="zh-CN" sz="1600" b="1" dirty="0"/>
              <a:t>Outpatient and Emergency Medical Insurance:</a:t>
            </a:r>
            <a:endParaRPr lang="zh-CN" altLang="zh-CN" sz="1600" dirty="0"/>
          </a:p>
          <a:p>
            <a:pPr>
              <a:lnSpc>
                <a:spcPts val="2100"/>
              </a:lnSpc>
            </a:pPr>
            <a:r>
              <a:rPr lang="x-none" altLang="zh-CN" dirty="0">
                <a:latin typeface="Microsoft Himalaya" panose="01010100010101010101" pitchFamily="2" charset="0"/>
                <a:ea typeface="Microsoft Himalaya" panose="01010100010101010101" pitchFamily="2" charset="0"/>
                <a:cs typeface="Microsoft Himalaya" panose="01010100010101010101" pitchFamily="2" charset="0"/>
              </a:rPr>
              <a:t>The reasonable and necessary expenses incurred by the Insured for receiving </a:t>
            </a: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outpatient or emergency medical treatment because of illness, within each insurance time, </a:t>
            </a:r>
            <a:r>
              <a:rPr lang="en-US" altLang="zh-CN" b="1" dirty="0">
                <a:latin typeface="Microsoft Himalaya" panose="01010100010101010101" pitchFamily="2" charset="0"/>
                <a:ea typeface="Microsoft Himalaya" panose="01010100010101010101" pitchFamily="2" charset="0"/>
                <a:cs typeface="Microsoft Himalaya" panose="01010100010101010101" pitchFamily="2" charset="0"/>
              </a:rPr>
              <a:t>the daily limit for outpatient is </a:t>
            </a:r>
            <a:r>
              <a:rPr lang="en-US" altLang="zh-CN" b="1" u="sng" dirty="0">
                <a:latin typeface="Microsoft Himalaya" panose="01010100010101010101" pitchFamily="2" charset="0"/>
                <a:ea typeface="Microsoft Himalaya" panose="01010100010101010101" pitchFamily="2" charset="0"/>
                <a:cs typeface="Microsoft Himalaya" panose="01010100010101010101" pitchFamily="2" charset="0"/>
              </a:rPr>
              <a:t>RMB600</a:t>
            </a:r>
            <a:r>
              <a:rPr lang="zh-CN" altLang="zh-CN" b="1" dirty="0">
                <a:latin typeface="Microsoft Himalaya" panose="01010100010101010101" pitchFamily="2" charset="0"/>
                <a:cs typeface="Microsoft Himalaya" panose="01010100010101010101" pitchFamily="2" charset="0"/>
              </a:rPr>
              <a:t>，</a:t>
            </a:r>
            <a:r>
              <a:rPr lang="en-US" altLang="zh-CN" b="1" dirty="0">
                <a:latin typeface="Microsoft Himalaya" panose="01010100010101010101" pitchFamily="2" charset="0"/>
                <a:ea typeface="Microsoft Himalaya" panose="01010100010101010101" pitchFamily="2" charset="0"/>
                <a:cs typeface="Microsoft Himalaya" panose="01010100010101010101" pitchFamily="2" charset="0"/>
              </a:rPr>
              <a:t>(that said, for the medical expense of the day exceeding RMB 600 shall be calculated as RMB600, for the medical expense of the day not exceeding RMB600 shall be calculated by the actual amount)</a:t>
            </a: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 For the medical expenses exceeding the starting line of RMB</a:t>
            </a:r>
            <a:r>
              <a:rPr lang="en-US" altLang="zh-CN" dirty="0">
                <a:solidFill>
                  <a:srgbClr val="FF0000"/>
                </a:solidFill>
                <a:latin typeface="Microsoft Himalaya" panose="01010100010101010101" pitchFamily="2" charset="0"/>
                <a:ea typeface="Microsoft Himalaya" panose="01010100010101010101" pitchFamily="2" charset="0"/>
                <a:cs typeface="Microsoft Himalaya" panose="01010100010101010101" pitchFamily="2" charset="0"/>
              </a:rPr>
              <a:t>650</a:t>
            </a: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 the remaining amount after deducting RMB</a:t>
            </a:r>
            <a:r>
              <a:rPr lang="en-US" altLang="zh-CN" dirty="0">
                <a:solidFill>
                  <a:srgbClr val="FF0000"/>
                </a:solidFill>
                <a:latin typeface="Microsoft Himalaya" panose="01010100010101010101" pitchFamily="2" charset="0"/>
                <a:ea typeface="Microsoft Himalaya" panose="01010100010101010101" pitchFamily="2" charset="0"/>
                <a:cs typeface="Microsoft Himalaya" panose="01010100010101010101" pitchFamily="2" charset="0"/>
              </a:rPr>
              <a:t>650</a:t>
            </a: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 will be reimbursed at a percentage of 85%. </a:t>
            </a:r>
            <a:endParaRPr lang="zh-CN" altLang="zh-CN" dirty="0">
              <a:latin typeface="Microsoft Himalaya" panose="01010100010101010101" pitchFamily="2" charset="0"/>
              <a:cs typeface="Microsoft Himalaya" panose="01010100010101010101" pitchFamily="2" charset="0"/>
            </a:endParaRPr>
          </a:p>
          <a:p>
            <a:pPr>
              <a:lnSpc>
                <a:spcPts val="2100"/>
              </a:lnSpc>
            </a:pP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That is: being treated in the outpatient or emergency for fever, sudden abdominal pain, faint, and inflammation etc. </a:t>
            </a:r>
            <a:endParaRPr lang="zh-CN" altLang="zh-CN" dirty="0">
              <a:latin typeface="Microsoft Himalaya" panose="01010100010101010101" pitchFamily="2" charset="0"/>
              <a:cs typeface="Microsoft Himalaya" panose="01010100010101010101" pitchFamily="2" charset="0"/>
            </a:endParaRPr>
          </a:p>
          <a:p>
            <a:pPr>
              <a:lnSpc>
                <a:spcPts val="2100"/>
              </a:lnSpc>
            </a:pPr>
            <a:r>
              <a:rPr lang="en-US" altLang="zh-CN" dirty="0">
                <a:solidFill>
                  <a:srgbClr val="FF0000"/>
                </a:solidFill>
                <a:latin typeface="Microsoft Himalaya" panose="01010100010101010101" pitchFamily="2" charset="0"/>
                <a:ea typeface="Microsoft Himalaya" panose="01010100010101010101" pitchFamily="2" charset="0"/>
                <a:cs typeface="Microsoft Himalaya" panose="01010100010101010101" pitchFamily="2" charset="0"/>
              </a:rPr>
              <a:t>Reimbursement equation</a:t>
            </a: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a:t>
            </a:r>
            <a:r>
              <a:rPr lang="en-US" altLang="zh-CN" b="1" dirty="0">
                <a:latin typeface="Microsoft Himalaya" panose="01010100010101010101" pitchFamily="2" charset="0"/>
                <a:ea typeface="Microsoft Himalaya" panose="01010100010101010101" pitchFamily="2" charset="0"/>
                <a:cs typeface="Microsoft Himalaya" panose="01010100010101010101" pitchFamily="2" charset="0"/>
              </a:rPr>
              <a:t> </a:t>
            </a: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(the expense of each day within the daily limit add up-</a:t>
            </a:r>
            <a:r>
              <a:rPr lang="en-US" altLang="zh-CN" dirty="0">
                <a:solidFill>
                  <a:srgbClr val="FF0000"/>
                </a:solidFill>
                <a:latin typeface="Microsoft Himalaya" panose="01010100010101010101" pitchFamily="2" charset="0"/>
                <a:ea typeface="Microsoft Himalaya" panose="01010100010101010101" pitchFamily="2" charset="0"/>
                <a:cs typeface="Microsoft Himalaya" panose="01010100010101010101" pitchFamily="2" charset="0"/>
              </a:rPr>
              <a:t>650</a:t>
            </a: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a:t>
            </a:r>
            <a:r>
              <a:rPr lang="en-US" altLang="zh-CN" b="1" dirty="0">
                <a:latin typeface="Microsoft Himalaya" panose="01010100010101010101" pitchFamily="2" charset="0"/>
                <a:ea typeface="Microsoft Himalaya" panose="01010100010101010101" pitchFamily="2" charset="0"/>
                <a:cs typeface="Microsoft Himalaya" panose="01010100010101010101" pitchFamily="2" charset="0"/>
              </a:rPr>
              <a:t> * </a:t>
            </a:r>
            <a:r>
              <a:rPr lang="en-US" altLang="zh-CN" dirty="0">
                <a:latin typeface="Microsoft Himalaya" panose="01010100010101010101" pitchFamily="2" charset="0"/>
                <a:ea typeface="Microsoft Himalaya" panose="01010100010101010101" pitchFamily="2" charset="0"/>
                <a:cs typeface="Microsoft Himalaya" panose="01010100010101010101" pitchFamily="2" charset="0"/>
              </a:rPr>
              <a:t>85%=reimbursable amount (the total amount of reasonable expenditures shall exclude the self-paid or partly self-paid items and expenses stipulated by the local regulations of the social basic medical insurance)</a:t>
            </a:r>
            <a:endParaRPr lang="zh-CN" altLang="zh-CN" dirty="0">
              <a:latin typeface="Microsoft Himalaya" panose="01010100010101010101" pitchFamily="2" charset="0"/>
              <a:cs typeface="Microsoft Himalaya" panose="01010100010101010101" pitchFamily="2" charset="0"/>
            </a:endParaRPr>
          </a:p>
          <a:p>
            <a:pPr>
              <a:lnSpc>
                <a:spcPts val="2100"/>
              </a:lnSpc>
            </a:pPr>
            <a:r>
              <a:rPr lang="en-US" altLang="zh-CN" b="1" dirty="0">
                <a:latin typeface="Microsoft Himalaya" panose="01010100010101010101" pitchFamily="2" charset="0"/>
                <a:ea typeface="Microsoft Himalaya" panose="01010100010101010101" pitchFamily="2" charset="0"/>
                <a:cs typeface="Microsoft Himalaya" panose="01010100010101010101" pitchFamily="2" charset="0"/>
              </a:rPr>
              <a:t>The deductible is RMB 650 (accumulative for one time during one valid insurance period). Below the deductible, there is no claim.</a:t>
            </a:r>
            <a:endParaRPr lang="zh-CN" altLang="zh-CN" dirty="0">
              <a:latin typeface="Microsoft Himalaya" panose="01010100010101010101" pitchFamily="2" charset="0"/>
              <a:cs typeface="Microsoft Himalaya" panose="01010100010101010101" pitchFamily="2" charset="0"/>
            </a:endParaRPr>
          </a:p>
        </p:txBody>
      </p:sp>
    </p:spTree>
    <p:extLst>
      <p:ext uri="{BB962C8B-B14F-4D97-AF65-F5344CB8AC3E}">
        <p14:creationId xmlns:p14="http://schemas.microsoft.com/office/powerpoint/2010/main" val="883403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25724" y="1203598"/>
            <a:ext cx="3311923" cy="71438"/>
            <a:chOff x="0" y="523875"/>
            <a:chExt cx="3311923" cy="71438"/>
          </a:xfrm>
        </p:grpSpPr>
        <p:cxnSp>
          <p:nvCxnSpPr>
            <p:cNvPr id="15" name="直接连接符 14"/>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7" name="标题 2"/>
          <p:cNvSpPr txBox="1">
            <a:spLocks/>
          </p:cNvSpPr>
          <p:nvPr/>
        </p:nvSpPr>
        <p:spPr>
          <a:xfrm>
            <a:off x="233674" y="412080"/>
            <a:ext cx="8278110" cy="791518"/>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algn="l" fontAlgn="auto">
              <a:lnSpc>
                <a:spcPct val="100000"/>
              </a:lnSpc>
              <a:spcAft>
                <a:spcPts val="0"/>
              </a:spcAft>
            </a:pPr>
            <a:r>
              <a:rPr lang="zh-CN" altLang="en-US" sz="2600" b="1" cap="small" dirty="0">
                <a:solidFill>
                  <a:schemeClr val="tx1"/>
                </a:solidFill>
                <a:latin typeface="微软雅黑" pitchFamily="34" charset="-122"/>
                <a:ea typeface="微软雅黑" pitchFamily="34" charset="-122"/>
              </a:rPr>
              <a:t>保险报销</a:t>
            </a:r>
            <a:r>
              <a:rPr lang="en-US" altLang="zh-CN" sz="2600" b="1" cap="small" dirty="0">
                <a:solidFill>
                  <a:schemeClr val="tx1"/>
                </a:solidFill>
                <a:latin typeface="微软雅黑" pitchFamily="34" charset="-122"/>
                <a:ea typeface="微软雅黑" pitchFamily="34" charset="-122"/>
              </a:rPr>
              <a:t>--</a:t>
            </a:r>
            <a:r>
              <a:rPr lang="zh-CN" altLang="en-US" sz="2800" dirty="0">
                <a:latin typeface="微软雅黑" pitchFamily="34" charset="-122"/>
                <a:ea typeface="微软雅黑" pitchFamily="34" charset="-122"/>
              </a:rPr>
              <a:t>理赔须知</a:t>
            </a:r>
            <a:br>
              <a:rPr lang="en-US" altLang="zh-CN" sz="2800" dirty="0">
                <a:latin typeface="微软雅黑" pitchFamily="34" charset="-122"/>
                <a:ea typeface="微软雅黑" pitchFamily="34" charset="-122"/>
              </a:rPr>
            </a:br>
            <a:r>
              <a:rPr lang="en-US" altLang="zh-CN" sz="2600" b="1" cap="small" dirty="0">
                <a:solidFill>
                  <a:schemeClr val="tx1"/>
                </a:solidFill>
                <a:latin typeface="微软雅黑" pitchFamily="34" charset="-122"/>
                <a:ea typeface="微软雅黑" pitchFamily="34" charset="-122"/>
              </a:rPr>
              <a:t>Insurance Reimbursement</a:t>
            </a:r>
            <a:r>
              <a:rPr lang="en-US" altLang="zh-CN" sz="2400" b="1" cap="small" dirty="0">
                <a:solidFill>
                  <a:schemeClr val="tx1"/>
                </a:solidFill>
                <a:latin typeface="微软雅黑" pitchFamily="34" charset="-122"/>
                <a:ea typeface="微软雅黑" pitchFamily="34" charset="-122"/>
              </a:rPr>
              <a:t>--</a:t>
            </a:r>
            <a:r>
              <a:rPr lang="en-US" altLang="zh-CN" sz="2400" dirty="0">
                <a:effectLst/>
              </a:rPr>
              <a:t>Terms and conditions</a:t>
            </a:r>
            <a:endParaRPr lang="zh-CN" altLang="en-US" sz="2600" b="1" cap="small" dirty="0">
              <a:solidFill>
                <a:schemeClr val="tx1"/>
              </a:solidFill>
              <a:latin typeface="微软雅黑" pitchFamily="34" charset="-122"/>
              <a:ea typeface="微软雅黑" pitchFamily="34" charset="-122"/>
            </a:endParaRPr>
          </a:p>
        </p:txBody>
      </p:sp>
      <p:sp>
        <p:nvSpPr>
          <p:cNvPr id="10" name="矩形 9"/>
          <p:cNvSpPr/>
          <p:nvPr/>
        </p:nvSpPr>
        <p:spPr>
          <a:xfrm>
            <a:off x="387548" y="1419622"/>
            <a:ext cx="8510442" cy="3554819"/>
          </a:xfrm>
          <a:prstGeom prst="rect">
            <a:avLst/>
          </a:prstGeom>
        </p:spPr>
        <p:txBody>
          <a:bodyPr wrap="square">
            <a:spAutoFit/>
          </a:bodyPr>
          <a:lstStyle/>
          <a:p>
            <a:pPr>
              <a:lnSpc>
                <a:spcPts val="2700"/>
              </a:lnSpc>
            </a:pPr>
            <a:r>
              <a:rPr lang="zh-CN" altLang="en-US" dirty="0">
                <a:latin typeface="微软雅黑" panose="020B0503020204020204" pitchFamily="34" charset="-122"/>
                <a:ea typeface="微软雅黑" panose="020B0503020204020204" pitchFamily="34" charset="-122"/>
              </a:rPr>
              <a:t>例如，你交的是</a:t>
            </a:r>
            <a:r>
              <a:rPr lang="en-US" altLang="zh-CN" dirty="0">
                <a:latin typeface="微软雅黑" panose="020B0503020204020204" pitchFamily="34" charset="-122"/>
                <a:ea typeface="微软雅黑" panose="020B0503020204020204" pitchFamily="34" charset="-122"/>
              </a:rPr>
              <a:t>800</a:t>
            </a:r>
            <a:r>
              <a:rPr lang="zh-CN" altLang="en-US" dirty="0">
                <a:latin typeface="微软雅黑" panose="020B0503020204020204" pitchFamily="34" charset="-122"/>
                <a:ea typeface="微软雅黑" panose="020B0503020204020204" pitchFamily="34" charset="-122"/>
              </a:rPr>
              <a:t>元或</a:t>
            </a:r>
            <a:r>
              <a:rPr lang="en-US" altLang="zh-CN" dirty="0">
                <a:latin typeface="微软雅黑" panose="020B0503020204020204" pitchFamily="34" charset="-122"/>
                <a:ea typeface="微软雅黑" panose="020B0503020204020204" pitchFamily="34" charset="-122"/>
              </a:rPr>
              <a:t>400</a:t>
            </a:r>
            <a:r>
              <a:rPr lang="zh-CN" altLang="en-US" dirty="0">
                <a:latin typeface="微软雅黑" panose="020B0503020204020204" pitchFamily="34" charset="-122"/>
                <a:ea typeface="微软雅黑" panose="020B0503020204020204" pitchFamily="34" charset="-122"/>
              </a:rPr>
              <a:t>元的保费，在保险期间内因病在当地的公立医院就诊，</a:t>
            </a:r>
            <a:r>
              <a:rPr lang="en-US" altLang="zh-CN" dirty="0">
                <a:latin typeface="微软雅黑" panose="020B0503020204020204" pitchFamily="34" charset="-122"/>
                <a:ea typeface="微软雅黑" panose="020B0503020204020204" pitchFamily="34" charset="-122"/>
              </a:rPr>
              <a:t>2019</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日花费</a:t>
            </a:r>
            <a:r>
              <a:rPr lang="en-US" altLang="zh-CN" dirty="0">
                <a:solidFill>
                  <a:srgbClr val="00B050"/>
                </a:solidFill>
                <a:latin typeface="微软雅黑" panose="020B0503020204020204" pitchFamily="34" charset="-122"/>
                <a:ea typeface="微软雅黑" panose="020B0503020204020204" pitchFamily="34" charset="-122"/>
              </a:rPr>
              <a:t>900</a:t>
            </a:r>
            <a:r>
              <a:rPr lang="zh-CN" altLang="en-US"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日花费</a:t>
            </a:r>
            <a:r>
              <a:rPr lang="en-US" altLang="zh-CN" dirty="0">
                <a:solidFill>
                  <a:srgbClr val="FF33CC"/>
                </a:solidFill>
                <a:latin typeface="微软雅黑" panose="020B0503020204020204" pitchFamily="34" charset="-122"/>
                <a:ea typeface="微软雅黑" panose="020B0503020204020204" pitchFamily="34" charset="-122"/>
              </a:rPr>
              <a:t>400</a:t>
            </a:r>
            <a:r>
              <a:rPr lang="zh-CN" altLang="en-US"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15</a:t>
            </a:r>
            <a:r>
              <a:rPr lang="zh-CN" altLang="en-US" dirty="0">
                <a:latin typeface="微软雅黑" panose="020B0503020204020204" pitchFamily="34" charset="-122"/>
                <a:ea typeface="微软雅黑" panose="020B0503020204020204" pitchFamily="34" charset="-122"/>
              </a:rPr>
              <a:t>日花费</a:t>
            </a:r>
            <a:r>
              <a:rPr lang="en-US" altLang="zh-CN" dirty="0">
                <a:solidFill>
                  <a:srgbClr val="00B0F0"/>
                </a:solidFill>
                <a:latin typeface="微软雅黑" panose="020B0503020204020204" pitchFamily="34" charset="-122"/>
                <a:ea typeface="微软雅黑" panose="020B0503020204020204" pitchFamily="34" charset="-122"/>
              </a:rPr>
              <a:t>700</a:t>
            </a:r>
            <a:r>
              <a:rPr lang="zh-CN" altLang="en-US" dirty="0">
                <a:latin typeface="微软雅黑" panose="020B0503020204020204" pitchFamily="34" charset="-122"/>
                <a:ea typeface="微软雅黑" panose="020B0503020204020204" pitchFamily="34" charset="-122"/>
              </a:rPr>
              <a:t>元（就诊费用均为合理费用）。</a:t>
            </a:r>
          </a:p>
          <a:p>
            <a:pPr>
              <a:lnSpc>
                <a:spcPts val="2700"/>
              </a:lnSpc>
            </a:pPr>
            <a:r>
              <a:rPr lang="zh-CN" altLang="en-US" dirty="0">
                <a:latin typeface="微软雅黑" panose="020B0503020204020204" pitchFamily="34" charset="-122"/>
                <a:ea typeface="微软雅黑" panose="020B0503020204020204" pitchFamily="34" charset="-122"/>
              </a:rPr>
              <a:t>  理赔计算公式：</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solidFill>
                  <a:srgbClr val="00B050"/>
                </a:solidFill>
                <a:latin typeface="微软雅黑" panose="020B0503020204020204" pitchFamily="34" charset="-122"/>
                <a:ea typeface="微软雅黑" panose="020B0503020204020204" pitchFamily="34" charset="-122"/>
              </a:rPr>
              <a:t>600</a:t>
            </a:r>
            <a:r>
              <a:rPr lang="zh-CN" altLang="en-US"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a:t>
            </a:r>
            <a:r>
              <a:rPr lang="en-US" altLang="zh-CN" dirty="0">
                <a:solidFill>
                  <a:srgbClr val="FF0066"/>
                </a:solidFill>
                <a:latin typeface="微软雅黑" panose="020B0503020204020204" pitchFamily="34" charset="-122"/>
                <a:ea typeface="微软雅黑" panose="020B0503020204020204" pitchFamily="34" charset="-122"/>
              </a:rPr>
              <a:t>400</a:t>
            </a:r>
            <a:r>
              <a:rPr lang="zh-CN" altLang="en-US"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a:t>
            </a:r>
            <a:r>
              <a:rPr lang="en-US" altLang="zh-CN" dirty="0">
                <a:solidFill>
                  <a:srgbClr val="00B0F0"/>
                </a:solidFill>
                <a:latin typeface="微软雅黑" panose="020B0503020204020204" pitchFamily="34" charset="-122"/>
                <a:ea typeface="微软雅黑" panose="020B0503020204020204" pitchFamily="34" charset="-122"/>
              </a:rPr>
              <a:t>600</a:t>
            </a:r>
            <a:r>
              <a:rPr lang="zh-CN" altLang="en-US"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-650</a:t>
            </a:r>
            <a:r>
              <a:rPr lang="zh-CN" altLang="en-US" dirty="0">
                <a:latin typeface="微软雅黑" panose="020B0503020204020204" pitchFamily="34" charset="-122"/>
                <a:ea typeface="微软雅黑" panose="020B0503020204020204" pitchFamily="34" charset="-122"/>
              </a:rPr>
              <a:t>元</a:t>
            </a:r>
            <a:r>
              <a:rPr lang="en-US" altLang="zh-CN" dirty="0">
                <a:latin typeface="微软雅黑" panose="020B0503020204020204" pitchFamily="34" charset="-122"/>
                <a:ea typeface="微软雅黑" panose="020B0503020204020204" pitchFamily="34" charset="-122"/>
              </a:rPr>
              <a:t>}*85%=807.50</a:t>
            </a:r>
            <a:r>
              <a:rPr lang="zh-CN" altLang="en-US" dirty="0">
                <a:latin typeface="微软雅黑" panose="020B0503020204020204" pitchFamily="34" charset="-122"/>
                <a:ea typeface="微软雅黑" panose="020B0503020204020204" pitchFamily="34" charset="-122"/>
              </a:rPr>
              <a:t>元</a:t>
            </a:r>
            <a:endParaRPr lang="en-US" altLang="zh-CN" dirty="0">
              <a:latin typeface="微软雅黑" panose="020B0503020204020204" pitchFamily="34" charset="-122"/>
              <a:ea typeface="微软雅黑" panose="020B0503020204020204" pitchFamily="34" charset="-122"/>
            </a:endParaRPr>
          </a:p>
          <a:p>
            <a:pPr>
              <a:lnSpc>
                <a:spcPts val="2700"/>
              </a:lnSpc>
            </a:pPr>
            <a:endParaRPr lang="en-US" altLang="zh-CN" sz="2000" dirty="0"/>
          </a:p>
          <a:p>
            <a:pPr>
              <a:lnSpc>
                <a:spcPts val="2700"/>
              </a:lnSpc>
            </a:pP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If you have paid an insurance fee at RMB 800 or RMB 400, then you have paid RMB </a:t>
            </a:r>
            <a:r>
              <a:rPr lang="en-US" altLang="zh-CN" sz="2000" dirty="0">
                <a:solidFill>
                  <a:srgbClr val="00B050"/>
                </a:solidFill>
                <a:latin typeface="Microsoft Himalaya" panose="01010100010101010101" pitchFamily="2" charset="0"/>
                <a:ea typeface="Microsoft Himalaya" panose="01010100010101010101" pitchFamily="2" charset="0"/>
                <a:cs typeface="Microsoft Himalaya" panose="01010100010101010101" pitchFamily="2" charset="0"/>
              </a:rPr>
              <a:t>900</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on February 1st, 2019, paid RMB </a:t>
            </a:r>
            <a:r>
              <a:rPr lang="en-US" altLang="zh-CN" sz="2000" dirty="0">
                <a:solidFill>
                  <a:srgbClr val="FF33CC"/>
                </a:solidFill>
                <a:latin typeface="Microsoft Himalaya" panose="01010100010101010101" pitchFamily="2" charset="0"/>
                <a:ea typeface="Microsoft Himalaya" panose="01010100010101010101" pitchFamily="2" charset="0"/>
                <a:cs typeface="Microsoft Himalaya" panose="01010100010101010101" pitchFamily="2" charset="0"/>
              </a:rPr>
              <a:t>400</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on May 3rd, and RMB </a:t>
            </a:r>
            <a:r>
              <a:rPr lang="en-US" altLang="zh-CN" sz="2000" dirty="0">
                <a:solidFill>
                  <a:srgbClr val="00B0F0"/>
                </a:solidFill>
                <a:latin typeface="Microsoft Himalaya" panose="01010100010101010101" pitchFamily="2" charset="0"/>
                <a:ea typeface="Microsoft Himalaya" panose="01010100010101010101" pitchFamily="2" charset="0"/>
                <a:cs typeface="Microsoft Himalaya" panose="01010100010101010101" pitchFamily="2" charset="0"/>
              </a:rPr>
              <a:t>700</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on July 15th (all the fees for clinical service are rational) due to being treated in a local public hospital within the insurance period.</a:t>
            </a:r>
          </a:p>
          <a:p>
            <a:pPr>
              <a:lnSpc>
                <a:spcPts val="2700"/>
              </a:lnSpc>
            </a:pP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The formula for claim settlement:  {</a:t>
            </a:r>
            <a:r>
              <a:rPr lang="zh-CN" altLang="en-US" sz="2000" dirty="0">
                <a:latin typeface="Microsoft Himalaya" panose="01010100010101010101" pitchFamily="2" charset="0"/>
                <a:cs typeface="Microsoft Himalaya" panose="01010100010101010101" pitchFamily="2" charset="0"/>
              </a:rPr>
              <a:t>（</a:t>
            </a:r>
            <a:r>
              <a:rPr lang="en-US" altLang="zh-CN" sz="2000" dirty="0">
                <a:solidFill>
                  <a:srgbClr val="00B050"/>
                </a:solidFill>
                <a:latin typeface="Microsoft Himalaya" panose="01010100010101010101" pitchFamily="2" charset="0"/>
                <a:ea typeface="Microsoft Himalaya" panose="01010100010101010101" pitchFamily="2" charset="0"/>
                <a:cs typeface="Microsoft Himalaya" panose="01010100010101010101" pitchFamily="2" charset="0"/>
              </a:rPr>
              <a:t>600</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a:t>
            </a:r>
            <a:r>
              <a:rPr lang="en-US" altLang="zh-CN" sz="2000" dirty="0">
                <a:solidFill>
                  <a:srgbClr val="FF33CC"/>
                </a:solidFill>
                <a:latin typeface="Microsoft Himalaya" panose="01010100010101010101" pitchFamily="2" charset="0"/>
                <a:ea typeface="Microsoft Himalaya" panose="01010100010101010101" pitchFamily="2" charset="0"/>
                <a:cs typeface="Microsoft Himalaya" panose="01010100010101010101" pitchFamily="2" charset="0"/>
              </a:rPr>
              <a:t>400</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 +</a:t>
            </a:r>
            <a:r>
              <a:rPr lang="en-US" altLang="zh-CN" sz="2000" dirty="0">
                <a:solidFill>
                  <a:srgbClr val="00B0F0"/>
                </a:solidFill>
                <a:latin typeface="Microsoft Himalaya" panose="01010100010101010101" pitchFamily="2" charset="0"/>
                <a:ea typeface="Microsoft Himalaya" panose="01010100010101010101" pitchFamily="2" charset="0"/>
                <a:cs typeface="Microsoft Himalaya" panose="01010100010101010101" pitchFamily="2" charset="0"/>
              </a:rPr>
              <a:t>600</a:t>
            </a:r>
            <a:r>
              <a:rPr lang="zh-CN" altLang="en-US" sz="2000" dirty="0">
                <a:latin typeface="Microsoft Himalaya" panose="01010100010101010101" pitchFamily="2" charset="0"/>
                <a:cs typeface="Microsoft Himalaya" panose="01010100010101010101" pitchFamily="2" charset="0"/>
              </a:rPr>
              <a:t>）</a:t>
            </a:r>
            <a:r>
              <a:rPr lang="en-US" altLang="zh-CN" sz="2000" dirty="0">
                <a:latin typeface="Microsoft Himalaya" panose="01010100010101010101" pitchFamily="2" charset="0"/>
                <a:ea typeface="Microsoft Himalaya" panose="01010100010101010101" pitchFamily="2" charset="0"/>
                <a:cs typeface="Microsoft Himalaya" panose="01010100010101010101" pitchFamily="2" charset="0"/>
              </a:rPr>
              <a:t>-650}*85%=807.50 (Unit: RMB Yuan)</a:t>
            </a:r>
          </a:p>
          <a:p>
            <a:pPr>
              <a:lnSpc>
                <a:spcPts val="2700"/>
              </a:lnSpc>
            </a:pPr>
            <a:endParaRPr lang="zh-CN" altLang="en-US" sz="2000" dirty="0"/>
          </a:p>
        </p:txBody>
      </p:sp>
    </p:spTree>
    <p:extLst>
      <p:ext uri="{BB962C8B-B14F-4D97-AF65-F5344CB8AC3E}">
        <p14:creationId xmlns:p14="http://schemas.microsoft.com/office/powerpoint/2010/main" val="24709519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 calcmode="lin" valueType="num">
                                      <p:cBhvr additive="base">
                                        <p:cTn id="7"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4" end="4"/>
                                            </p:txEl>
                                          </p:spTgt>
                                        </p:tgtEl>
                                        <p:attrNameLst>
                                          <p:attrName>style.visibility</p:attrName>
                                        </p:attrNameLst>
                                      </p:cBhvr>
                                      <p:to>
                                        <p:strVal val="visible"/>
                                      </p:to>
                                    </p:set>
                                    <p:anim calcmode="lin" valueType="num">
                                      <p:cBhvr additive="base">
                                        <p:cTn id="1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8817" y="266856"/>
            <a:ext cx="7560840" cy="461665"/>
          </a:xfrm>
          <a:prstGeom prst="rect">
            <a:avLst/>
          </a:prstGeom>
          <a:noFill/>
        </p:spPr>
        <p:txBody>
          <a:bodyPr wrap="square" rtlCol="0">
            <a:spAutoFit/>
          </a:bodyPr>
          <a:lstStyle/>
          <a:p>
            <a:r>
              <a:rPr lang="en-US" altLang="zh-CN" sz="2400" dirty="0">
                <a:solidFill>
                  <a:srgbClr val="2F5897"/>
                </a:solidFill>
                <a:latin typeface="Palatino Linotype"/>
                <a:ea typeface="幼圆" panose="02010509060101010101" pitchFamily="49" charset="-122"/>
                <a:cs typeface="+mj-cs"/>
              </a:rPr>
              <a:t>Insurance Reimbursement – Accidental Medical</a:t>
            </a:r>
            <a:endParaRPr lang="zh-CN" altLang="en-US" sz="2400" dirty="0"/>
          </a:p>
        </p:txBody>
      </p:sp>
      <p:grpSp>
        <p:nvGrpSpPr>
          <p:cNvPr id="5" name="组合 4"/>
          <p:cNvGrpSpPr/>
          <p:nvPr/>
        </p:nvGrpSpPr>
        <p:grpSpPr>
          <a:xfrm>
            <a:off x="251520" y="754995"/>
            <a:ext cx="3311923" cy="71438"/>
            <a:chOff x="0" y="523875"/>
            <a:chExt cx="3311923" cy="71438"/>
          </a:xfrm>
        </p:grpSpPr>
        <p:cxnSp>
          <p:nvCxnSpPr>
            <p:cNvPr id="6" name="直接连接符 5"/>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7"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2390" y="1366807"/>
            <a:ext cx="2857500" cy="2857500"/>
          </a:xfrm>
          <a:prstGeom prst="rect">
            <a:avLst/>
          </a:prstGeom>
        </p:spPr>
      </p:pic>
      <p:sp>
        <p:nvSpPr>
          <p:cNvPr id="9" name="圆角矩形标注 8"/>
          <p:cNvSpPr/>
          <p:nvPr/>
        </p:nvSpPr>
        <p:spPr>
          <a:xfrm>
            <a:off x="4283968" y="881944"/>
            <a:ext cx="2448272" cy="969726"/>
          </a:xfrm>
          <a:prstGeom prst="wedgeRoundRectCallout">
            <a:avLst>
              <a:gd name="adj1" fmla="val -33945"/>
              <a:gd name="adj2" fmla="val 825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Scan the QR</a:t>
            </a:r>
            <a:endParaRPr lang="zh-CN" altLang="en-US" sz="2800" dirty="0"/>
          </a:p>
        </p:txBody>
      </p:sp>
      <p:sp>
        <p:nvSpPr>
          <p:cNvPr id="10" name="圆角矩形标注 9"/>
          <p:cNvSpPr/>
          <p:nvPr/>
        </p:nvSpPr>
        <p:spPr>
          <a:xfrm>
            <a:off x="4283968" y="3291830"/>
            <a:ext cx="4392488" cy="1368152"/>
          </a:xfrm>
          <a:prstGeom prst="wedgeRoundRectCallout">
            <a:avLst>
              <a:gd name="adj1" fmla="val -39878"/>
              <a:gd name="adj2" fmla="val -7970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You will be guided how to apply the accidental claim and notice about treatment</a:t>
            </a:r>
            <a:endParaRPr lang="zh-CN" altLang="en-US" sz="2400" dirty="0"/>
          </a:p>
        </p:txBody>
      </p:sp>
    </p:spTree>
    <p:extLst>
      <p:ext uri="{BB962C8B-B14F-4D97-AF65-F5344CB8AC3E}">
        <p14:creationId xmlns:p14="http://schemas.microsoft.com/office/powerpoint/2010/main" val="341091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700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79512" y="725977"/>
            <a:ext cx="3311923" cy="71438"/>
            <a:chOff x="0" y="523875"/>
            <a:chExt cx="3311923" cy="71438"/>
          </a:xfrm>
        </p:grpSpPr>
        <p:cxnSp>
          <p:nvCxnSpPr>
            <p:cNvPr id="5" name="直接连接符 4"/>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6"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347614"/>
            <a:ext cx="2857500" cy="2857500"/>
          </a:xfrm>
          <a:prstGeom prst="rect">
            <a:avLst/>
          </a:prstGeom>
        </p:spPr>
      </p:pic>
      <p:sp>
        <p:nvSpPr>
          <p:cNvPr id="11" name="圆角矩形标注 10"/>
          <p:cNvSpPr/>
          <p:nvPr/>
        </p:nvSpPr>
        <p:spPr>
          <a:xfrm>
            <a:off x="4008803" y="862751"/>
            <a:ext cx="2448272" cy="969726"/>
          </a:xfrm>
          <a:prstGeom prst="wedgeRoundRectCallout">
            <a:avLst>
              <a:gd name="adj1" fmla="val -33945"/>
              <a:gd name="adj2" fmla="val 825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Scan the QR</a:t>
            </a:r>
            <a:endParaRPr lang="zh-CN" altLang="en-US" sz="2800" dirty="0"/>
          </a:p>
        </p:txBody>
      </p:sp>
      <p:sp>
        <p:nvSpPr>
          <p:cNvPr id="12" name="圆角矩形标注 11"/>
          <p:cNvSpPr/>
          <p:nvPr/>
        </p:nvSpPr>
        <p:spPr>
          <a:xfrm>
            <a:off x="3901108" y="3414651"/>
            <a:ext cx="4392488" cy="1368152"/>
          </a:xfrm>
          <a:prstGeom prst="wedgeRoundRectCallout">
            <a:avLst>
              <a:gd name="adj1" fmla="val -39878"/>
              <a:gd name="adj2" fmla="val -7970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You will be guided how to apply the disease claim and notice about treatment</a:t>
            </a:r>
            <a:endParaRPr lang="zh-CN" altLang="en-US" sz="2400" dirty="0"/>
          </a:p>
        </p:txBody>
      </p:sp>
      <p:sp>
        <p:nvSpPr>
          <p:cNvPr id="3" name="文本框 2">
            <a:extLst>
              <a:ext uri="{FF2B5EF4-FFF2-40B4-BE49-F238E27FC236}">
                <a16:creationId xmlns:a16="http://schemas.microsoft.com/office/drawing/2014/main" id="{4E38F852-418A-0D01-8791-81523191CC3F}"/>
              </a:ext>
            </a:extLst>
          </p:cNvPr>
          <p:cNvSpPr txBox="1"/>
          <p:nvPr/>
        </p:nvSpPr>
        <p:spPr>
          <a:xfrm>
            <a:off x="438817" y="266856"/>
            <a:ext cx="7560840" cy="461665"/>
          </a:xfrm>
          <a:prstGeom prst="rect">
            <a:avLst/>
          </a:prstGeom>
          <a:noFill/>
        </p:spPr>
        <p:txBody>
          <a:bodyPr wrap="square" rtlCol="0">
            <a:spAutoFit/>
          </a:bodyPr>
          <a:lstStyle/>
          <a:p>
            <a:r>
              <a:rPr lang="en-US" altLang="zh-CN" sz="2400" dirty="0">
                <a:solidFill>
                  <a:srgbClr val="2F5897"/>
                </a:solidFill>
              </a:rPr>
              <a:t>Insurance Reimbursement – Outpatient and Emergency</a:t>
            </a:r>
            <a:endParaRPr lang="zh-CN" altLang="en-US" sz="2400" dirty="0"/>
          </a:p>
        </p:txBody>
      </p:sp>
    </p:spTree>
    <p:extLst>
      <p:ext uri="{BB962C8B-B14F-4D97-AF65-F5344CB8AC3E}">
        <p14:creationId xmlns:p14="http://schemas.microsoft.com/office/powerpoint/2010/main" val="387928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7500"/>
                                  </p:stCondLst>
                                  <p:childTnLst>
                                    <p:set>
                                      <p:cBhvr>
                                        <p:cTn id="6" dur="1" fill="hold">
                                          <p:stCondLst>
                                            <p:cond delay="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十字星 38"/>
          <p:cNvSpPr/>
          <p:nvPr/>
        </p:nvSpPr>
        <p:spPr>
          <a:xfrm>
            <a:off x="1475656" y="1059582"/>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十字星 39"/>
          <p:cNvSpPr/>
          <p:nvPr/>
        </p:nvSpPr>
        <p:spPr>
          <a:xfrm>
            <a:off x="1475656" y="3291830"/>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27"/>
          <p:cNvGrpSpPr/>
          <p:nvPr/>
        </p:nvGrpSpPr>
        <p:grpSpPr>
          <a:xfrm>
            <a:off x="1835696" y="2105194"/>
            <a:ext cx="936104" cy="613169"/>
            <a:chOff x="1907704" y="3861048"/>
            <a:chExt cx="936104" cy="954542"/>
          </a:xfrm>
        </p:grpSpPr>
        <p:grpSp>
          <p:nvGrpSpPr>
            <p:cNvPr id="11" name="Group 12"/>
            <p:cNvGrpSpPr>
              <a:grpSpLocks/>
            </p:cNvGrpSpPr>
            <p:nvPr/>
          </p:nvGrpSpPr>
          <p:grpSpPr bwMode="auto">
            <a:xfrm>
              <a:off x="1907704" y="3861048"/>
              <a:ext cx="936104" cy="864095"/>
              <a:chOff x="0" y="-3"/>
              <a:chExt cx="812" cy="833"/>
            </a:xfrm>
          </p:grpSpPr>
          <p:sp>
            <p:nvSpPr>
              <p:cNvPr id="13"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14" name="Picture 12" descr="cir_lighteffect0"/>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12" name="TextBox 11"/>
            <p:cNvSpPr txBox="1"/>
            <p:nvPr/>
          </p:nvSpPr>
          <p:spPr>
            <a:xfrm>
              <a:off x="2143232" y="3905251"/>
              <a:ext cx="432048" cy="910339"/>
            </a:xfrm>
            <a:prstGeom prst="rect">
              <a:avLst/>
            </a:prstGeom>
            <a:noFill/>
          </p:spPr>
          <p:txBody>
            <a:bodyPr wrap="square" rtlCol="0">
              <a:spAutoFit/>
            </a:bodyPr>
            <a:lstStyle/>
            <a:p>
              <a:r>
                <a:rPr lang="en-US" altLang="zh-CN" sz="3200" b="1" dirty="0">
                  <a:latin typeface="Arial Black" pitchFamily="34" charset="0"/>
                </a:rPr>
                <a:t>3</a:t>
              </a:r>
              <a:endParaRPr lang="zh-CN" altLang="en-US" sz="3200" b="1" dirty="0">
                <a:latin typeface="Arial Black" pitchFamily="34" charset="0"/>
              </a:endParaRPr>
            </a:p>
          </p:txBody>
        </p:sp>
      </p:grpSp>
      <p:sp>
        <p:nvSpPr>
          <p:cNvPr id="15" name="矩形 8"/>
          <p:cNvSpPr>
            <a:spLocks noChangeArrowheads="1"/>
          </p:cNvSpPr>
          <p:nvPr/>
        </p:nvSpPr>
        <p:spPr bwMode="auto">
          <a:xfrm>
            <a:off x="3007328" y="2133589"/>
            <a:ext cx="4929099" cy="461665"/>
          </a:xfrm>
          <a:prstGeom prst="rect">
            <a:avLst/>
          </a:prstGeom>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b="1" dirty="0">
                <a:latin typeface="微软雅黑" pitchFamily="34" charset="-122"/>
                <a:ea typeface="微软雅黑" pitchFamily="34" charset="-122"/>
              </a:rPr>
              <a:t> 保险使用方法 </a:t>
            </a:r>
            <a:r>
              <a:rPr lang="en-US" altLang="zh-CN" b="1" dirty="0">
                <a:latin typeface="微软雅黑" pitchFamily="34" charset="-122"/>
                <a:ea typeface="微软雅黑" pitchFamily="34" charset="-122"/>
              </a:rPr>
              <a:t>Insurance instruction</a:t>
            </a:r>
            <a:endParaRPr lang="zh-CN" altLang="en-US" b="1" dirty="0">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5"/>
          <p:cNvSpPr/>
          <p:nvPr/>
        </p:nvSpPr>
        <p:spPr bwMode="auto">
          <a:xfrm>
            <a:off x="349964" y="1419622"/>
            <a:ext cx="1093810" cy="717521"/>
          </a:xfrm>
          <a:prstGeom prst="roundRect">
            <a:avLst>
              <a:gd name="adj" fmla="val 9033"/>
            </a:avLst>
          </a:prstGeom>
          <a:solidFill>
            <a:schemeClr val="accent4">
              <a:lumMod val="40000"/>
              <a:lumOff val="60000"/>
            </a:schemeClr>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lvl="1" indent="0" algn="ctr">
              <a:defRPr/>
            </a:pPr>
            <a:r>
              <a:rPr lang="zh-CN" altLang="en-US" sz="1400" b="1" dirty="0">
                <a:latin typeface="微软雅黑" pitchFamily="34" charset="-122"/>
                <a:ea typeface="微软雅黑" pitchFamily="34" charset="-122"/>
                <a:cs typeface="Arial" pitchFamily="34" charset="0"/>
              </a:rPr>
              <a:t>从不舒服开始</a:t>
            </a:r>
          </a:p>
        </p:txBody>
      </p:sp>
      <p:sp>
        <p:nvSpPr>
          <p:cNvPr id="5" name="Rounded Rectangle 5"/>
          <p:cNvSpPr/>
          <p:nvPr/>
        </p:nvSpPr>
        <p:spPr bwMode="auto">
          <a:xfrm>
            <a:off x="1979712" y="1449370"/>
            <a:ext cx="1502060" cy="687773"/>
          </a:xfrm>
          <a:prstGeom prst="roundRect">
            <a:avLst>
              <a:gd name="adj" fmla="val 9033"/>
            </a:avLst>
          </a:prstGeom>
          <a:solidFill>
            <a:schemeClr val="accent4">
              <a:lumMod val="40000"/>
              <a:lumOff val="60000"/>
            </a:schemeClr>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lvl="1" indent="0">
              <a:defRPr/>
            </a:pPr>
            <a:r>
              <a:rPr lang="zh-CN" altLang="en-US" sz="1400" b="1" dirty="0">
                <a:latin typeface="微软雅黑" pitchFamily="34" charset="-122"/>
                <a:ea typeface="微软雅黑" pitchFamily="34" charset="-122"/>
                <a:cs typeface="Arial" pitchFamily="34" charset="0"/>
              </a:rPr>
              <a:t>致电</a:t>
            </a:r>
            <a:r>
              <a:rPr lang="en-US" altLang="zh-CN" sz="1400" b="1" dirty="0">
                <a:latin typeface="微软雅黑" pitchFamily="34" charset="-122"/>
                <a:ea typeface="微软雅黑" pitchFamily="34" charset="-122"/>
                <a:cs typeface="Arial" pitchFamily="34" charset="0"/>
              </a:rPr>
              <a:t>4008105119</a:t>
            </a:r>
            <a:endParaRPr lang="zh-CN" altLang="en-US" sz="1400" b="1" dirty="0">
              <a:latin typeface="微软雅黑" pitchFamily="34" charset="-122"/>
              <a:ea typeface="微软雅黑" pitchFamily="34" charset="-122"/>
              <a:cs typeface="Arial" pitchFamily="34" charset="0"/>
            </a:endParaRPr>
          </a:p>
        </p:txBody>
      </p:sp>
      <p:sp>
        <p:nvSpPr>
          <p:cNvPr id="6" name="Rounded Rectangle 5"/>
          <p:cNvSpPr/>
          <p:nvPr/>
        </p:nvSpPr>
        <p:spPr bwMode="auto">
          <a:xfrm>
            <a:off x="3938795" y="1449370"/>
            <a:ext cx="1447327" cy="687773"/>
          </a:xfrm>
          <a:prstGeom prst="roundRect">
            <a:avLst>
              <a:gd name="adj" fmla="val 9033"/>
            </a:avLst>
          </a:prstGeom>
          <a:solidFill>
            <a:schemeClr val="accent4">
              <a:lumMod val="40000"/>
              <a:lumOff val="60000"/>
            </a:schemeClr>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lvl="1" indent="0">
              <a:defRPr/>
            </a:pPr>
            <a:r>
              <a:rPr lang="zh-CN" altLang="en-US" sz="1400" b="1" dirty="0">
                <a:latin typeface="微软雅黑" pitchFamily="34" charset="-122"/>
                <a:ea typeface="微软雅黑" pitchFamily="34" charset="-122"/>
                <a:cs typeface="Arial" pitchFamily="34" charset="0"/>
              </a:rPr>
              <a:t>服务医生询诊给出治疗建议</a:t>
            </a:r>
          </a:p>
        </p:txBody>
      </p:sp>
      <p:sp>
        <p:nvSpPr>
          <p:cNvPr id="7" name="Rounded Rectangle 5"/>
          <p:cNvSpPr/>
          <p:nvPr/>
        </p:nvSpPr>
        <p:spPr bwMode="auto">
          <a:xfrm>
            <a:off x="5761253" y="1899589"/>
            <a:ext cx="2915203" cy="888185"/>
          </a:xfrm>
          <a:prstGeom prst="roundRect">
            <a:avLst>
              <a:gd name="adj" fmla="val 9033"/>
            </a:avLst>
          </a:prstGeom>
          <a:solidFill>
            <a:schemeClr val="accent4">
              <a:lumMod val="40000"/>
              <a:lumOff val="60000"/>
            </a:schemeClr>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lvl="1" indent="0">
              <a:defRPr/>
            </a:pPr>
            <a:r>
              <a:rPr lang="zh-CN" altLang="en-US" sz="1400" b="1" dirty="0">
                <a:latin typeface="微软雅黑" pitchFamily="34" charset="-122"/>
                <a:ea typeface="微软雅黑" pitchFamily="34" charset="-122"/>
                <a:cs typeface="Arial" pitchFamily="34" charset="0"/>
              </a:rPr>
              <a:t>病情确实需住院治疗（符合住院条件，可申请住院垫付）</a:t>
            </a:r>
          </a:p>
        </p:txBody>
      </p:sp>
      <p:sp>
        <p:nvSpPr>
          <p:cNvPr id="8" name="Rounded Rectangle 5"/>
          <p:cNvSpPr/>
          <p:nvPr/>
        </p:nvSpPr>
        <p:spPr bwMode="auto">
          <a:xfrm>
            <a:off x="5762560" y="843558"/>
            <a:ext cx="2913896" cy="885528"/>
          </a:xfrm>
          <a:prstGeom prst="roundRect">
            <a:avLst>
              <a:gd name="adj" fmla="val 9033"/>
            </a:avLst>
          </a:prstGeom>
          <a:solidFill>
            <a:schemeClr val="accent4">
              <a:lumMod val="40000"/>
              <a:lumOff val="60000"/>
            </a:schemeClr>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lvl="1" indent="0">
              <a:defRPr/>
            </a:pPr>
            <a:r>
              <a:rPr lang="zh-CN" altLang="en-US" sz="1400" b="1" dirty="0">
                <a:latin typeface="微软雅黑" pitchFamily="34" charset="-122"/>
                <a:ea typeface="微软雅黑" pitchFamily="34" charset="-122"/>
                <a:cs typeface="Arial" pitchFamily="34" charset="0"/>
              </a:rPr>
              <a:t>门诊治疗（学生先支付，后期材料通过自助端上传或快递至服务公司申请理赔）</a:t>
            </a:r>
          </a:p>
        </p:txBody>
      </p:sp>
      <p:sp>
        <p:nvSpPr>
          <p:cNvPr id="9" name="左大括号 8"/>
          <p:cNvSpPr/>
          <p:nvPr/>
        </p:nvSpPr>
        <p:spPr bwMode="auto">
          <a:xfrm>
            <a:off x="5456499" y="1449370"/>
            <a:ext cx="267629" cy="769025"/>
          </a:xfrm>
          <a:prstGeom prst="leftBrace">
            <a:avLst>
              <a:gd name="adj1" fmla="val 8333"/>
              <a:gd name="adj2" fmla="val 49310"/>
            </a:avLst>
          </a:prstGeom>
          <a:solidFill>
            <a:schemeClr val="accent4">
              <a:lumMod val="40000"/>
              <a:lumOff val="60000"/>
            </a:schemeClr>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p>
            <a:pPr marL="0" lvl="1" defTabSz="912813">
              <a:defRPr/>
            </a:pPr>
            <a:endParaRPr lang="zh-CN" altLang="en-US" sz="1400" b="1">
              <a:solidFill>
                <a:schemeClr val="tx1"/>
              </a:solidFill>
              <a:latin typeface="微软雅黑" pitchFamily="34" charset="-122"/>
              <a:ea typeface="微软雅黑" pitchFamily="34" charset="-122"/>
              <a:cs typeface="Arial" pitchFamily="34" charset="0"/>
            </a:endParaRPr>
          </a:p>
        </p:txBody>
      </p:sp>
      <p:sp>
        <p:nvSpPr>
          <p:cNvPr id="10" name="右箭头 9"/>
          <p:cNvSpPr/>
          <p:nvPr/>
        </p:nvSpPr>
        <p:spPr bwMode="auto">
          <a:xfrm>
            <a:off x="1547664" y="1626303"/>
            <a:ext cx="379359" cy="349582"/>
          </a:xfrm>
          <a:prstGeom prst="rightArrow">
            <a:avLst/>
          </a:prstGeom>
          <a:solidFill>
            <a:schemeClr val="accent4">
              <a:lumMod val="40000"/>
              <a:lumOff val="60000"/>
            </a:schemeClr>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p>
            <a:pPr marL="0" lvl="1" defTabSz="912813">
              <a:defRPr/>
            </a:pPr>
            <a:endParaRPr lang="zh-CN" altLang="en-US" sz="1400" b="1">
              <a:solidFill>
                <a:schemeClr val="tx1"/>
              </a:solidFill>
              <a:latin typeface="微软雅黑" pitchFamily="34" charset="-122"/>
              <a:ea typeface="微软雅黑" pitchFamily="34" charset="-122"/>
              <a:cs typeface="Arial" pitchFamily="34" charset="0"/>
            </a:endParaRPr>
          </a:p>
        </p:txBody>
      </p:sp>
      <p:sp>
        <p:nvSpPr>
          <p:cNvPr id="11" name="右箭头 10"/>
          <p:cNvSpPr/>
          <p:nvPr/>
        </p:nvSpPr>
        <p:spPr bwMode="auto">
          <a:xfrm>
            <a:off x="3563888" y="1626303"/>
            <a:ext cx="316133" cy="349582"/>
          </a:xfrm>
          <a:prstGeom prst="rightArrow">
            <a:avLst/>
          </a:prstGeom>
          <a:solidFill>
            <a:schemeClr val="accent4">
              <a:lumMod val="40000"/>
              <a:lumOff val="60000"/>
            </a:schemeClr>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p>
            <a:pPr marL="0" lvl="1" defTabSz="912813">
              <a:defRPr/>
            </a:pPr>
            <a:endParaRPr lang="zh-CN" altLang="en-US" sz="1400" b="1" dirty="0">
              <a:solidFill>
                <a:schemeClr val="tx1"/>
              </a:solidFill>
              <a:latin typeface="微软雅黑" pitchFamily="34" charset="-122"/>
              <a:ea typeface="微软雅黑" pitchFamily="34" charset="-122"/>
              <a:cs typeface="Arial" pitchFamily="34" charset="0"/>
            </a:endParaRPr>
          </a:p>
        </p:txBody>
      </p:sp>
      <p:sp>
        <p:nvSpPr>
          <p:cNvPr id="12" name="Rounded Rectangle 5"/>
          <p:cNvSpPr/>
          <p:nvPr/>
        </p:nvSpPr>
        <p:spPr bwMode="auto">
          <a:xfrm>
            <a:off x="7668344" y="3363838"/>
            <a:ext cx="1227741" cy="909560"/>
          </a:xfrm>
          <a:prstGeom prst="roundRect">
            <a:avLst>
              <a:gd name="adj" fmla="val 9033"/>
            </a:avLst>
          </a:prstGeom>
          <a:solidFill>
            <a:srgbClr val="00B0F0"/>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lvl="1" indent="0">
              <a:defRPr/>
            </a:pPr>
            <a:r>
              <a:rPr lang="en-US" altLang="zh-CN" sz="1400" b="1" dirty="0">
                <a:latin typeface="微软雅黑" pitchFamily="34" charset="-122"/>
                <a:ea typeface="微软雅黑" pitchFamily="34" charset="-122"/>
                <a:cs typeface="Arial" pitchFamily="34" charset="0"/>
              </a:rPr>
              <a:t>When you feel uncomfortable</a:t>
            </a:r>
            <a:endParaRPr lang="zh-CN" altLang="en-US" sz="1400" b="1" dirty="0">
              <a:latin typeface="微软雅黑" pitchFamily="34" charset="-122"/>
              <a:ea typeface="微软雅黑" pitchFamily="34" charset="-122"/>
              <a:cs typeface="Arial" pitchFamily="34" charset="0"/>
            </a:endParaRPr>
          </a:p>
        </p:txBody>
      </p:sp>
      <p:sp>
        <p:nvSpPr>
          <p:cNvPr id="14" name="Rounded Rectangle 5"/>
          <p:cNvSpPr/>
          <p:nvPr/>
        </p:nvSpPr>
        <p:spPr bwMode="auto">
          <a:xfrm>
            <a:off x="5740692" y="3363838"/>
            <a:ext cx="1495603" cy="893107"/>
          </a:xfrm>
          <a:prstGeom prst="roundRect">
            <a:avLst>
              <a:gd name="adj" fmla="val 9033"/>
            </a:avLst>
          </a:prstGeom>
          <a:solidFill>
            <a:srgbClr val="00B0F0"/>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marL="0" lvl="1" indent="0">
              <a:defRPr/>
            </a:pPr>
            <a:r>
              <a:rPr lang="en-US" altLang="zh-CN" sz="1400" b="1" dirty="0">
                <a:latin typeface="微软雅黑" pitchFamily="34" charset="-122"/>
                <a:ea typeface="微软雅黑" pitchFamily="34" charset="-122"/>
                <a:cs typeface="Arial" pitchFamily="34" charset="0"/>
              </a:rPr>
              <a:t>dial 4008105119</a:t>
            </a:r>
            <a:endParaRPr lang="zh-CN" altLang="en-US" sz="1400" b="1" dirty="0">
              <a:latin typeface="微软雅黑" pitchFamily="34" charset="-122"/>
              <a:ea typeface="微软雅黑" pitchFamily="34" charset="-122"/>
              <a:cs typeface="Arial" pitchFamily="34" charset="0"/>
            </a:endParaRPr>
          </a:p>
        </p:txBody>
      </p:sp>
      <p:sp>
        <p:nvSpPr>
          <p:cNvPr id="15" name="Rounded Rectangle 5"/>
          <p:cNvSpPr/>
          <p:nvPr/>
        </p:nvSpPr>
        <p:spPr bwMode="auto">
          <a:xfrm>
            <a:off x="3853406" y="3271738"/>
            <a:ext cx="1545949" cy="1164442"/>
          </a:xfrm>
          <a:prstGeom prst="roundRect">
            <a:avLst>
              <a:gd name="adj" fmla="val 9033"/>
            </a:avLst>
          </a:prstGeom>
          <a:solidFill>
            <a:srgbClr val="00B0F0"/>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a:defRPr/>
            </a:pPr>
            <a:r>
              <a:rPr lang="en-US" altLang="zh-CN" sz="1400" b="1" dirty="0">
                <a:latin typeface="微软雅黑" pitchFamily="34" charset="-122"/>
                <a:ea typeface="微软雅黑" pitchFamily="34" charset="-122"/>
                <a:cs typeface="Arial" pitchFamily="34" charset="0"/>
              </a:rPr>
              <a:t>diagnosis and  treatment recommendations by the doctor</a:t>
            </a:r>
            <a:endParaRPr lang="zh-CN" altLang="zh-CN" sz="1400" b="1" dirty="0">
              <a:latin typeface="微软雅黑" pitchFamily="34" charset="-122"/>
              <a:ea typeface="微软雅黑" pitchFamily="34" charset="-122"/>
              <a:cs typeface="Arial" pitchFamily="34" charset="0"/>
            </a:endParaRPr>
          </a:p>
        </p:txBody>
      </p:sp>
      <p:sp>
        <p:nvSpPr>
          <p:cNvPr id="16" name="Rounded Rectangle 5"/>
          <p:cNvSpPr/>
          <p:nvPr/>
        </p:nvSpPr>
        <p:spPr bwMode="auto">
          <a:xfrm>
            <a:off x="349964" y="2387904"/>
            <a:ext cx="2925891" cy="1297421"/>
          </a:xfrm>
          <a:prstGeom prst="roundRect">
            <a:avLst>
              <a:gd name="adj" fmla="val 9033"/>
            </a:avLst>
          </a:prstGeom>
          <a:solidFill>
            <a:srgbClr val="00B0F0"/>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r>
              <a:rPr lang="en-US" altLang="zh-CN" sz="1400" b="1" dirty="0">
                <a:latin typeface="微软雅黑" pitchFamily="34" charset="-122"/>
                <a:ea typeface="微软雅黑" pitchFamily="34" charset="-122"/>
                <a:cs typeface="Arial" pitchFamily="34" charset="0"/>
              </a:rPr>
              <a:t>Outpatient treatment: Pre-payment by the students in first. Then student can apply claim online or send the documents by post.</a:t>
            </a:r>
            <a:endParaRPr lang="zh-CN" altLang="zh-CN" sz="1400" b="1" dirty="0">
              <a:latin typeface="微软雅黑" pitchFamily="34" charset="-122"/>
              <a:ea typeface="微软雅黑" pitchFamily="34" charset="-122"/>
              <a:cs typeface="Arial" pitchFamily="34" charset="0"/>
            </a:endParaRPr>
          </a:p>
        </p:txBody>
      </p:sp>
      <p:sp>
        <p:nvSpPr>
          <p:cNvPr id="17" name="Rounded Rectangle 5"/>
          <p:cNvSpPr/>
          <p:nvPr/>
        </p:nvSpPr>
        <p:spPr bwMode="auto">
          <a:xfrm>
            <a:off x="349964" y="3787408"/>
            <a:ext cx="2925891" cy="1237597"/>
          </a:xfrm>
          <a:prstGeom prst="roundRect">
            <a:avLst>
              <a:gd name="adj" fmla="val 9033"/>
            </a:avLst>
          </a:prstGeom>
          <a:solidFill>
            <a:srgbClr val="00B0F0"/>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lvl1pPr defTabSz="912813">
              <a:defRPr>
                <a:solidFill>
                  <a:schemeClr val="tx1"/>
                </a:solidFill>
                <a:latin typeface="Calibri" pitchFamily="34" charset="0"/>
              </a:defRPr>
            </a:lvl1pPr>
            <a:lvl2pPr marL="742950" indent="-285750" defTabSz="912813">
              <a:defRPr>
                <a:solidFill>
                  <a:schemeClr val="tx1"/>
                </a:solidFill>
                <a:latin typeface="Calibri" pitchFamily="34" charset="0"/>
              </a:defRPr>
            </a:lvl2pPr>
            <a:lvl3pPr marL="1143000" indent="-228600" defTabSz="912813">
              <a:defRPr>
                <a:solidFill>
                  <a:schemeClr val="tx1"/>
                </a:solidFill>
                <a:latin typeface="Calibri" pitchFamily="34" charset="0"/>
              </a:defRPr>
            </a:lvl3pPr>
            <a:lvl4pPr marL="1600200" indent="-228600" defTabSz="912813">
              <a:defRPr>
                <a:solidFill>
                  <a:schemeClr val="tx1"/>
                </a:solidFill>
                <a:latin typeface="Calibri" pitchFamily="34" charset="0"/>
              </a:defRPr>
            </a:lvl4pPr>
            <a:lvl5pPr marL="2057400" indent="-228600" defTabSz="912813">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r>
              <a:rPr lang="en-US" altLang="zh-CN" sz="1400" b="1" dirty="0">
                <a:latin typeface="微软雅黑" pitchFamily="34" charset="-122"/>
                <a:ea typeface="微软雅黑" pitchFamily="34" charset="-122"/>
                <a:cs typeface="Arial" pitchFamily="34" charset="0"/>
              </a:rPr>
              <a:t>In-patient: If students really in need of hospitalization (If qualified , you can apply for payment in advanced.)</a:t>
            </a:r>
            <a:endParaRPr lang="zh-CN" altLang="zh-CN" sz="1400" b="1" dirty="0">
              <a:latin typeface="微软雅黑" pitchFamily="34" charset="-122"/>
              <a:ea typeface="微软雅黑" pitchFamily="34" charset="-122"/>
              <a:cs typeface="Arial" pitchFamily="34" charset="0"/>
            </a:endParaRPr>
          </a:p>
        </p:txBody>
      </p:sp>
      <p:sp>
        <p:nvSpPr>
          <p:cNvPr id="18" name="右箭头 17"/>
          <p:cNvSpPr/>
          <p:nvPr/>
        </p:nvSpPr>
        <p:spPr bwMode="auto">
          <a:xfrm rot="10800000">
            <a:off x="5436738" y="3662327"/>
            <a:ext cx="266145" cy="349582"/>
          </a:xfrm>
          <a:prstGeom prst="rightArrow">
            <a:avLst/>
          </a:prstGeom>
          <a:solidFill>
            <a:srgbClr val="00B0F0"/>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p>
            <a:pPr marL="0" indent="0" defTabSz="912813">
              <a:defRPr/>
            </a:pPr>
            <a:endParaRPr lang="zh-CN" altLang="en-US" sz="1400" b="1">
              <a:solidFill>
                <a:schemeClr val="tx1"/>
              </a:solidFill>
              <a:latin typeface="微软雅黑" pitchFamily="34" charset="-122"/>
              <a:ea typeface="微软雅黑" pitchFamily="34" charset="-122"/>
              <a:cs typeface="Arial" pitchFamily="34" charset="0"/>
            </a:endParaRPr>
          </a:p>
        </p:txBody>
      </p:sp>
      <p:sp>
        <p:nvSpPr>
          <p:cNvPr id="19" name="右箭头 18"/>
          <p:cNvSpPr/>
          <p:nvPr/>
        </p:nvSpPr>
        <p:spPr bwMode="auto">
          <a:xfrm rot="10800000">
            <a:off x="7308305" y="3590320"/>
            <a:ext cx="266145" cy="349582"/>
          </a:xfrm>
          <a:prstGeom prst="rightArrow">
            <a:avLst/>
          </a:prstGeom>
          <a:solidFill>
            <a:srgbClr val="00B0F0"/>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p>
            <a:pPr marL="0" lvl="1" defTabSz="912813">
              <a:defRPr/>
            </a:pPr>
            <a:endParaRPr lang="zh-CN" altLang="en-US" sz="1400" b="1">
              <a:solidFill>
                <a:schemeClr val="tx1"/>
              </a:solidFill>
              <a:latin typeface="微软雅黑" pitchFamily="34" charset="-122"/>
              <a:ea typeface="微软雅黑" pitchFamily="34" charset="-122"/>
              <a:cs typeface="Arial" pitchFamily="34" charset="0"/>
            </a:endParaRPr>
          </a:p>
        </p:txBody>
      </p:sp>
      <p:sp>
        <p:nvSpPr>
          <p:cNvPr id="20" name="左大括号 19"/>
          <p:cNvSpPr/>
          <p:nvPr/>
        </p:nvSpPr>
        <p:spPr bwMode="auto">
          <a:xfrm rot="10800000">
            <a:off x="3412377" y="3279777"/>
            <a:ext cx="394082" cy="1126429"/>
          </a:xfrm>
          <a:prstGeom prst="leftBrace">
            <a:avLst>
              <a:gd name="adj1" fmla="val 70473"/>
              <a:gd name="adj2" fmla="val 49310"/>
            </a:avLst>
          </a:prstGeom>
          <a:solidFill>
            <a:srgbClr val="00B0F0"/>
          </a:solidFill>
          <a:ln>
            <a:headEnd type="none" w="med" len="med"/>
            <a:tailEnd type="none" w="med" len="med"/>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lIns="91436" tIns="45718" rIns="91436" bIns="45718" anchor="ctr"/>
          <a:lstStyle/>
          <a:p>
            <a:pPr defTabSz="912813">
              <a:defRPr/>
            </a:pPr>
            <a:endParaRPr lang="zh-CN" altLang="en-US" sz="1400" b="1" dirty="0">
              <a:solidFill>
                <a:schemeClr val="tx1"/>
              </a:solidFill>
              <a:latin typeface="微软雅黑" pitchFamily="34" charset="-122"/>
              <a:ea typeface="微软雅黑" pitchFamily="34" charset="-122"/>
              <a:cs typeface="Arial" pitchFamily="34" charset="0"/>
            </a:endParaRPr>
          </a:p>
        </p:txBody>
      </p:sp>
      <p:grpSp>
        <p:nvGrpSpPr>
          <p:cNvPr id="28" name="组合 27"/>
          <p:cNvGrpSpPr/>
          <p:nvPr/>
        </p:nvGrpSpPr>
        <p:grpSpPr>
          <a:xfrm>
            <a:off x="0" y="627534"/>
            <a:ext cx="3311923" cy="71438"/>
            <a:chOff x="0" y="523875"/>
            <a:chExt cx="3311923" cy="71438"/>
          </a:xfrm>
        </p:grpSpPr>
        <p:cxnSp>
          <p:nvCxnSpPr>
            <p:cNvPr id="29" name="直接连接符 28"/>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30"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13" name="文本框 12">
            <a:extLst>
              <a:ext uri="{FF2B5EF4-FFF2-40B4-BE49-F238E27FC236}">
                <a16:creationId xmlns:a16="http://schemas.microsoft.com/office/drawing/2014/main" id="{68C9309E-7DB9-0E26-51C1-5DCA00D393AD}"/>
              </a:ext>
            </a:extLst>
          </p:cNvPr>
          <p:cNvSpPr txBox="1"/>
          <p:nvPr/>
        </p:nvSpPr>
        <p:spPr>
          <a:xfrm>
            <a:off x="251520" y="211171"/>
            <a:ext cx="4579974" cy="369332"/>
          </a:xfrm>
          <a:prstGeom prst="rect">
            <a:avLst/>
          </a:prstGeom>
          <a:noFill/>
        </p:spPr>
        <p:txBody>
          <a:bodyPr wrap="square">
            <a:spAutoFit/>
          </a:bodyPr>
          <a:lstStyle/>
          <a:p>
            <a:r>
              <a:rPr lang="zh-CN" altLang="en-US" sz="1800" b="1" cap="small" dirty="0">
                <a:solidFill>
                  <a:schemeClr val="tx1"/>
                </a:solidFill>
                <a:latin typeface="微软雅黑" pitchFamily="34" charset="-122"/>
                <a:ea typeface="微软雅黑" pitchFamily="34" charset="-122"/>
              </a:rPr>
              <a:t>保险使用方法 </a:t>
            </a:r>
            <a:r>
              <a:rPr lang="en-US" altLang="zh-CN" sz="1800" b="1" dirty="0">
                <a:latin typeface="微软雅黑" pitchFamily="34" charset="-122"/>
                <a:ea typeface="微软雅黑" pitchFamily="34" charset="-122"/>
              </a:rPr>
              <a:t>Insurance instruction</a:t>
            </a:r>
            <a:endParaRPr lang="zh-CN" altLang="en-US" dirty="0"/>
          </a:p>
        </p:txBody>
      </p:sp>
    </p:spTree>
    <p:extLst>
      <p:ext uri="{BB962C8B-B14F-4D97-AF65-F5344CB8AC3E}">
        <p14:creationId xmlns:p14="http://schemas.microsoft.com/office/powerpoint/2010/main" val="39620774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1+#ppt_w/2"/>
                                          </p:val>
                                        </p:tav>
                                        <p:tav tm="100000">
                                          <p:val>
                                            <p:strVal val="#ppt_x"/>
                                          </p:val>
                                        </p:tav>
                                      </p:tavLst>
                                    </p:anim>
                                    <p:anim calcmode="lin" valueType="num">
                                      <p:cBhvr additive="base">
                                        <p:cTn id="13" dur="500" fill="hold"/>
                                        <p:tgtEl>
                                          <p:spTgt spid="19"/>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250" fill="hold"/>
                                        <p:tgtEl>
                                          <p:spTgt spid="14"/>
                                        </p:tgtEl>
                                        <p:attrNameLst>
                                          <p:attrName>ppt_x</p:attrName>
                                        </p:attrNameLst>
                                      </p:cBhvr>
                                      <p:tavLst>
                                        <p:tav tm="0">
                                          <p:val>
                                            <p:strVal val="#ppt_x"/>
                                          </p:val>
                                        </p:tav>
                                        <p:tav tm="100000">
                                          <p:val>
                                            <p:strVal val="#ppt_x"/>
                                          </p:val>
                                        </p:tav>
                                      </p:tavLst>
                                    </p:anim>
                                    <p:anim calcmode="lin" valueType="num">
                                      <p:cBhvr additive="base">
                                        <p:cTn id="23" dur="250" fill="hold"/>
                                        <p:tgtEl>
                                          <p:spTgt spid="14"/>
                                        </p:tgtEl>
                                        <p:attrNameLst>
                                          <p:attrName>ppt_y</p:attrName>
                                        </p:attrNameLst>
                                      </p:cBhvr>
                                      <p:tavLst>
                                        <p:tav tm="0">
                                          <p:val>
                                            <p:strVal val="1+#ppt_h/2"/>
                                          </p:val>
                                        </p:tav>
                                        <p:tav tm="100000">
                                          <p:val>
                                            <p:strVal val="#ppt_y"/>
                                          </p:val>
                                        </p:tav>
                                      </p:tavLst>
                                    </p:anim>
                                  </p:childTnLst>
                                </p:cTn>
                              </p:par>
                            </p:childTnLst>
                          </p:cTn>
                        </p:par>
                        <p:par>
                          <p:cTn id="24" fill="hold">
                            <p:stCondLst>
                              <p:cond delay="1750"/>
                            </p:stCondLst>
                            <p:childTnLst>
                              <p:par>
                                <p:cTn id="25" presetID="2" presetClass="entr" presetSubtype="8"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par>
                          <p:cTn id="29" fill="hold">
                            <p:stCondLst>
                              <p:cond delay="2250"/>
                            </p:stCondLst>
                            <p:childTnLst>
                              <p:par>
                                <p:cTn id="30" presetID="2" presetClass="entr" presetSubtype="2"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500" fill="hold"/>
                                        <p:tgtEl>
                                          <p:spTgt spid="18"/>
                                        </p:tgtEl>
                                        <p:attrNameLst>
                                          <p:attrName>ppt_x</p:attrName>
                                        </p:attrNameLst>
                                      </p:cBhvr>
                                      <p:tavLst>
                                        <p:tav tm="0">
                                          <p:val>
                                            <p:strVal val="1+#ppt_w/2"/>
                                          </p:val>
                                        </p:tav>
                                        <p:tav tm="100000">
                                          <p:val>
                                            <p:strVal val="#ppt_x"/>
                                          </p:val>
                                        </p:tav>
                                      </p:tavLst>
                                    </p:anim>
                                    <p:anim calcmode="lin" valueType="num">
                                      <p:cBhvr additive="base">
                                        <p:cTn id="33" dur="500" fill="hold"/>
                                        <p:tgtEl>
                                          <p:spTgt spid="18"/>
                                        </p:tgtEl>
                                        <p:attrNameLst>
                                          <p:attrName>ppt_y</p:attrName>
                                        </p:attrNameLst>
                                      </p:cBhvr>
                                      <p:tavLst>
                                        <p:tav tm="0">
                                          <p:val>
                                            <p:strVal val="#ppt_y"/>
                                          </p:val>
                                        </p:tav>
                                        <p:tav tm="100000">
                                          <p:val>
                                            <p:strVal val="#ppt_y"/>
                                          </p:val>
                                        </p:tav>
                                      </p:tavLst>
                                    </p:anim>
                                  </p:childTnLst>
                                </p:cTn>
                              </p:par>
                            </p:childTnLst>
                          </p:cTn>
                        </p:par>
                        <p:par>
                          <p:cTn id="34" fill="hold">
                            <p:stCondLst>
                              <p:cond delay="2750"/>
                            </p:stCondLst>
                            <p:childTnLst>
                              <p:par>
                                <p:cTn id="35" presetID="26" presetClass="entr" presetSubtype="0"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down)">
                                      <p:cBhvr>
                                        <p:cTn id="37" dur="580">
                                          <p:stCondLst>
                                            <p:cond delay="0"/>
                                          </p:stCondLst>
                                        </p:cTn>
                                        <p:tgtEl>
                                          <p:spTgt spid="6"/>
                                        </p:tgtEl>
                                      </p:cBhvr>
                                    </p:animEffect>
                                    <p:anim calcmode="lin" valueType="num">
                                      <p:cBhvr>
                                        <p:cTn id="3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43" dur="26">
                                          <p:stCondLst>
                                            <p:cond delay="650"/>
                                          </p:stCondLst>
                                        </p:cTn>
                                        <p:tgtEl>
                                          <p:spTgt spid="6"/>
                                        </p:tgtEl>
                                      </p:cBhvr>
                                      <p:to x="100000" y="60000"/>
                                    </p:animScale>
                                    <p:animScale>
                                      <p:cBhvr>
                                        <p:cTn id="44" dur="166" decel="50000">
                                          <p:stCondLst>
                                            <p:cond delay="676"/>
                                          </p:stCondLst>
                                        </p:cTn>
                                        <p:tgtEl>
                                          <p:spTgt spid="6"/>
                                        </p:tgtEl>
                                      </p:cBhvr>
                                      <p:to x="100000" y="100000"/>
                                    </p:animScale>
                                    <p:animScale>
                                      <p:cBhvr>
                                        <p:cTn id="45" dur="26">
                                          <p:stCondLst>
                                            <p:cond delay="1312"/>
                                          </p:stCondLst>
                                        </p:cTn>
                                        <p:tgtEl>
                                          <p:spTgt spid="6"/>
                                        </p:tgtEl>
                                      </p:cBhvr>
                                      <p:to x="100000" y="80000"/>
                                    </p:animScale>
                                    <p:animScale>
                                      <p:cBhvr>
                                        <p:cTn id="46" dur="166" decel="50000">
                                          <p:stCondLst>
                                            <p:cond delay="1338"/>
                                          </p:stCondLst>
                                        </p:cTn>
                                        <p:tgtEl>
                                          <p:spTgt spid="6"/>
                                        </p:tgtEl>
                                      </p:cBhvr>
                                      <p:to x="100000" y="100000"/>
                                    </p:animScale>
                                    <p:animScale>
                                      <p:cBhvr>
                                        <p:cTn id="47" dur="26">
                                          <p:stCondLst>
                                            <p:cond delay="1642"/>
                                          </p:stCondLst>
                                        </p:cTn>
                                        <p:tgtEl>
                                          <p:spTgt spid="6"/>
                                        </p:tgtEl>
                                      </p:cBhvr>
                                      <p:to x="100000" y="90000"/>
                                    </p:animScale>
                                    <p:animScale>
                                      <p:cBhvr>
                                        <p:cTn id="48" dur="166" decel="50000">
                                          <p:stCondLst>
                                            <p:cond delay="1668"/>
                                          </p:stCondLst>
                                        </p:cTn>
                                        <p:tgtEl>
                                          <p:spTgt spid="6"/>
                                        </p:tgtEl>
                                      </p:cBhvr>
                                      <p:to x="100000" y="100000"/>
                                    </p:animScale>
                                    <p:animScale>
                                      <p:cBhvr>
                                        <p:cTn id="49" dur="26">
                                          <p:stCondLst>
                                            <p:cond delay="1808"/>
                                          </p:stCondLst>
                                        </p:cTn>
                                        <p:tgtEl>
                                          <p:spTgt spid="6"/>
                                        </p:tgtEl>
                                      </p:cBhvr>
                                      <p:to x="100000" y="95000"/>
                                    </p:animScale>
                                    <p:animScale>
                                      <p:cBhvr>
                                        <p:cTn id="50" dur="166" decel="50000">
                                          <p:stCondLst>
                                            <p:cond delay="1834"/>
                                          </p:stCondLst>
                                        </p:cTn>
                                        <p:tgtEl>
                                          <p:spTgt spid="6"/>
                                        </p:tgtEl>
                                      </p:cBhvr>
                                      <p:to x="100000" y="100000"/>
                                    </p:animScale>
                                  </p:childTnLst>
                                </p:cTn>
                              </p:par>
                            </p:childTnLst>
                          </p:cTn>
                        </p:par>
                        <p:par>
                          <p:cTn id="51" fill="hold">
                            <p:stCondLst>
                              <p:cond delay="4750"/>
                            </p:stCondLst>
                            <p:childTnLst>
                              <p:par>
                                <p:cTn id="52" presetID="2" presetClass="entr" presetSubtype="4"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childTnLst>
                          </p:cTn>
                        </p:par>
                        <p:par>
                          <p:cTn id="56" fill="hold">
                            <p:stCondLst>
                              <p:cond delay="5250"/>
                            </p:stCondLst>
                            <p:childTnLst>
                              <p:par>
                                <p:cTn id="57" presetID="17" presetClass="entr" presetSubtype="10"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p:cTn id="59" dur="1000" fill="hold"/>
                                        <p:tgtEl>
                                          <p:spTgt spid="9"/>
                                        </p:tgtEl>
                                        <p:attrNameLst>
                                          <p:attrName>ppt_w</p:attrName>
                                        </p:attrNameLst>
                                      </p:cBhvr>
                                      <p:tavLst>
                                        <p:tav tm="0">
                                          <p:val>
                                            <p:fltVal val="0"/>
                                          </p:val>
                                        </p:tav>
                                        <p:tav tm="100000">
                                          <p:val>
                                            <p:strVal val="#ppt_w"/>
                                          </p:val>
                                        </p:tav>
                                      </p:tavLst>
                                    </p:anim>
                                    <p:anim calcmode="lin" valueType="num">
                                      <p:cBhvr>
                                        <p:cTn id="60" dur="1000" fill="hold"/>
                                        <p:tgtEl>
                                          <p:spTgt spid="9"/>
                                        </p:tgtEl>
                                        <p:attrNameLst>
                                          <p:attrName>ppt_h</p:attrName>
                                        </p:attrNameLst>
                                      </p:cBhvr>
                                      <p:tavLst>
                                        <p:tav tm="0">
                                          <p:val>
                                            <p:strVal val="#ppt_h"/>
                                          </p:val>
                                        </p:tav>
                                        <p:tav tm="100000">
                                          <p:val>
                                            <p:strVal val="#ppt_h"/>
                                          </p:val>
                                        </p:tav>
                                      </p:tavLst>
                                    </p:anim>
                                  </p:childTnLst>
                                </p:cTn>
                              </p:par>
                            </p:childTnLst>
                          </p:cTn>
                        </p:par>
                        <p:par>
                          <p:cTn id="61" fill="hold">
                            <p:stCondLst>
                              <p:cond delay="6250"/>
                            </p:stCondLst>
                            <p:childTnLst>
                              <p:par>
                                <p:cTn id="62" presetID="17" presetClass="entr" presetSubtype="10" fill="hold" grpId="0" nodeType="afterEffect">
                                  <p:stCondLst>
                                    <p:cond delay="0"/>
                                  </p:stCondLst>
                                  <p:childTnLst>
                                    <p:set>
                                      <p:cBhvr>
                                        <p:cTn id="63" dur="1" fill="hold">
                                          <p:stCondLst>
                                            <p:cond delay="0"/>
                                          </p:stCondLst>
                                        </p:cTn>
                                        <p:tgtEl>
                                          <p:spTgt spid="20"/>
                                        </p:tgtEl>
                                        <p:attrNameLst>
                                          <p:attrName>style.visibility</p:attrName>
                                        </p:attrNameLst>
                                      </p:cBhvr>
                                      <p:to>
                                        <p:strVal val="visible"/>
                                      </p:to>
                                    </p:set>
                                    <p:anim calcmode="lin" valueType="num">
                                      <p:cBhvr>
                                        <p:cTn id="64" dur="1000" fill="hold"/>
                                        <p:tgtEl>
                                          <p:spTgt spid="20"/>
                                        </p:tgtEl>
                                        <p:attrNameLst>
                                          <p:attrName>ppt_w</p:attrName>
                                        </p:attrNameLst>
                                      </p:cBhvr>
                                      <p:tavLst>
                                        <p:tav tm="0">
                                          <p:val>
                                            <p:fltVal val="0"/>
                                          </p:val>
                                        </p:tav>
                                        <p:tav tm="100000">
                                          <p:val>
                                            <p:strVal val="#ppt_w"/>
                                          </p:val>
                                        </p:tav>
                                      </p:tavLst>
                                    </p:anim>
                                    <p:anim calcmode="lin" valueType="num">
                                      <p:cBhvr>
                                        <p:cTn id="65" dur="1000" fill="hold"/>
                                        <p:tgtEl>
                                          <p:spTgt spid="20"/>
                                        </p:tgtEl>
                                        <p:attrNameLst>
                                          <p:attrName>ppt_h</p:attrName>
                                        </p:attrNameLst>
                                      </p:cBhvr>
                                      <p:tavLst>
                                        <p:tav tm="0">
                                          <p:val>
                                            <p:strVal val="#ppt_h"/>
                                          </p:val>
                                        </p:tav>
                                        <p:tav tm="100000">
                                          <p:val>
                                            <p:strVal val="#ppt_h"/>
                                          </p:val>
                                        </p:tav>
                                      </p:tavLst>
                                    </p:anim>
                                  </p:childTnLst>
                                </p:cTn>
                              </p:par>
                            </p:childTnLst>
                          </p:cTn>
                        </p:par>
                        <p:par>
                          <p:cTn id="66" fill="hold">
                            <p:stCondLst>
                              <p:cond delay="7250"/>
                            </p:stCondLst>
                            <p:childTnLst>
                              <p:par>
                                <p:cTn id="67" presetID="2" presetClass="entr" presetSubtype="2" fill="hold" grpId="0" nodeType="after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500" fill="hold"/>
                                        <p:tgtEl>
                                          <p:spTgt spid="8"/>
                                        </p:tgtEl>
                                        <p:attrNameLst>
                                          <p:attrName>ppt_x</p:attrName>
                                        </p:attrNameLst>
                                      </p:cBhvr>
                                      <p:tavLst>
                                        <p:tav tm="0">
                                          <p:val>
                                            <p:strVal val="1+#ppt_w/2"/>
                                          </p:val>
                                        </p:tav>
                                        <p:tav tm="100000">
                                          <p:val>
                                            <p:strVal val="#ppt_x"/>
                                          </p:val>
                                        </p:tav>
                                      </p:tavLst>
                                    </p:anim>
                                    <p:anim calcmode="lin" valueType="num">
                                      <p:cBhvr additive="base">
                                        <p:cTn id="70" dur="500" fill="hold"/>
                                        <p:tgtEl>
                                          <p:spTgt spid="8"/>
                                        </p:tgtEl>
                                        <p:attrNameLst>
                                          <p:attrName>ppt_y</p:attrName>
                                        </p:attrNameLst>
                                      </p:cBhvr>
                                      <p:tavLst>
                                        <p:tav tm="0">
                                          <p:val>
                                            <p:strVal val="#ppt_y"/>
                                          </p:val>
                                        </p:tav>
                                        <p:tav tm="100000">
                                          <p:val>
                                            <p:strVal val="#ppt_y"/>
                                          </p:val>
                                        </p:tav>
                                      </p:tavLst>
                                    </p:anim>
                                  </p:childTnLst>
                                </p:cTn>
                              </p:par>
                            </p:childTnLst>
                          </p:cTn>
                        </p:par>
                        <p:par>
                          <p:cTn id="71" fill="hold">
                            <p:stCondLst>
                              <p:cond delay="7750"/>
                            </p:stCondLst>
                            <p:childTnLst>
                              <p:par>
                                <p:cTn id="72" presetID="2" presetClass="entr" presetSubtype="4"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anim calcmode="lin" valueType="num">
                                      <p:cBhvr additive="base">
                                        <p:cTn id="74" dur="500" fill="hold"/>
                                        <p:tgtEl>
                                          <p:spTgt spid="16"/>
                                        </p:tgtEl>
                                        <p:attrNameLst>
                                          <p:attrName>ppt_x</p:attrName>
                                        </p:attrNameLst>
                                      </p:cBhvr>
                                      <p:tavLst>
                                        <p:tav tm="0">
                                          <p:val>
                                            <p:strVal val="#ppt_x"/>
                                          </p:val>
                                        </p:tav>
                                        <p:tav tm="100000">
                                          <p:val>
                                            <p:strVal val="#ppt_x"/>
                                          </p:val>
                                        </p:tav>
                                      </p:tavLst>
                                    </p:anim>
                                    <p:anim calcmode="lin" valueType="num">
                                      <p:cBhvr additive="base">
                                        <p:cTn id="75" dur="500" fill="hold"/>
                                        <p:tgtEl>
                                          <p:spTgt spid="16"/>
                                        </p:tgtEl>
                                        <p:attrNameLst>
                                          <p:attrName>ppt_y</p:attrName>
                                        </p:attrNameLst>
                                      </p:cBhvr>
                                      <p:tavLst>
                                        <p:tav tm="0">
                                          <p:val>
                                            <p:strVal val="1+#ppt_h/2"/>
                                          </p:val>
                                        </p:tav>
                                        <p:tav tm="100000">
                                          <p:val>
                                            <p:strVal val="#ppt_y"/>
                                          </p:val>
                                        </p:tav>
                                      </p:tavLst>
                                    </p:anim>
                                  </p:childTnLst>
                                </p:cTn>
                              </p:par>
                            </p:childTnLst>
                          </p:cTn>
                        </p:par>
                        <p:par>
                          <p:cTn id="76" fill="hold">
                            <p:stCondLst>
                              <p:cond delay="8250"/>
                            </p:stCondLst>
                            <p:childTnLst>
                              <p:par>
                                <p:cTn id="77" presetID="2" presetClass="entr" presetSubtype="4" fill="hold" grpId="0" nodeType="afterEffect">
                                  <p:stCondLst>
                                    <p:cond delay="0"/>
                                  </p:stCondLst>
                                  <p:childTnLst>
                                    <p:set>
                                      <p:cBhvr>
                                        <p:cTn id="78" dur="1" fill="hold">
                                          <p:stCondLst>
                                            <p:cond delay="0"/>
                                          </p:stCondLst>
                                        </p:cTn>
                                        <p:tgtEl>
                                          <p:spTgt spid="7"/>
                                        </p:tgtEl>
                                        <p:attrNameLst>
                                          <p:attrName>style.visibility</p:attrName>
                                        </p:attrNameLst>
                                      </p:cBhvr>
                                      <p:to>
                                        <p:strVal val="visible"/>
                                      </p:to>
                                    </p:set>
                                    <p:anim calcmode="lin" valueType="num">
                                      <p:cBhvr additive="base">
                                        <p:cTn id="79" dur="500" fill="hold"/>
                                        <p:tgtEl>
                                          <p:spTgt spid="7"/>
                                        </p:tgtEl>
                                        <p:attrNameLst>
                                          <p:attrName>ppt_x</p:attrName>
                                        </p:attrNameLst>
                                      </p:cBhvr>
                                      <p:tavLst>
                                        <p:tav tm="0">
                                          <p:val>
                                            <p:strVal val="#ppt_x"/>
                                          </p:val>
                                        </p:tav>
                                        <p:tav tm="100000">
                                          <p:val>
                                            <p:strVal val="#ppt_x"/>
                                          </p:val>
                                        </p:tav>
                                      </p:tavLst>
                                    </p:anim>
                                    <p:anim calcmode="lin" valueType="num">
                                      <p:cBhvr additive="base">
                                        <p:cTn id="80" dur="500" fill="hold"/>
                                        <p:tgtEl>
                                          <p:spTgt spid="7"/>
                                        </p:tgtEl>
                                        <p:attrNameLst>
                                          <p:attrName>ppt_y</p:attrName>
                                        </p:attrNameLst>
                                      </p:cBhvr>
                                      <p:tavLst>
                                        <p:tav tm="0">
                                          <p:val>
                                            <p:strVal val="1+#ppt_h/2"/>
                                          </p:val>
                                        </p:tav>
                                        <p:tav tm="100000">
                                          <p:val>
                                            <p:strVal val="#ppt_y"/>
                                          </p:val>
                                        </p:tav>
                                      </p:tavLst>
                                    </p:anim>
                                  </p:childTnLst>
                                </p:cTn>
                              </p:par>
                            </p:childTnLst>
                          </p:cTn>
                        </p:par>
                        <p:par>
                          <p:cTn id="81" fill="hold">
                            <p:stCondLst>
                              <p:cond delay="8750"/>
                            </p:stCondLst>
                            <p:childTnLst>
                              <p:par>
                                <p:cTn id="82" presetID="2" presetClass="entr" presetSubtype="4" fill="hold" grpId="0" nodeType="after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additive="base">
                                        <p:cTn id="84" dur="500" fill="hold"/>
                                        <p:tgtEl>
                                          <p:spTgt spid="17"/>
                                        </p:tgtEl>
                                        <p:attrNameLst>
                                          <p:attrName>ppt_x</p:attrName>
                                        </p:attrNameLst>
                                      </p:cBhvr>
                                      <p:tavLst>
                                        <p:tav tm="0">
                                          <p:val>
                                            <p:strVal val="#ppt_x"/>
                                          </p:val>
                                        </p:tav>
                                        <p:tav tm="100000">
                                          <p:val>
                                            <p:strVal val="#ppt_x"/>
                                          </p:val>
                                        </p:tav>
                                      </p:tavLst>
                                    </p:anim>
                                    <p:anim calcmode="lin" valueType="num">
                                      <p:cBhvr additive="base">
                                        <p:cTn id="8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4" grpId="0" animBg="1"/>
      <p:bldP spid="15" grpId="0" animBg="1"/>
      <p:bldP spid="16" grpId="0" animBg="1"/>
      <p:bldP spid="17" grpId="0" animBg="1"/>
      <p:bldP spid="18" grpId="0" animBg="1"/>
      <p:bldP spid="19"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28236" y="1236293"/>
            <a:ext cx="3115595" cy="1848469"/>
          </a:xfrm>
          <a:prstGeom prst="rect">
            <a:avLst/>
          </a:prstGeom>
        </p:spPr>
      </p:pic>
      <p:pic>
        <p:nvPicPr>
          <p:cNvPr id="19" name="图片 18" descr="3.jpg"/>
          <p:cNvPicPr>
            <a:picLocks noChangeAspect="1"/>
          </p:cNvPicPr>
          <p:nvPr/>
        </p:nvPicPr>
        <p:blipFill>
          <a:blip r:embed="rId4" cstate="print"/>
          <a:stretch>
            <a:fillRect/>
          </a:stretch>
        </p:blipFill>
        <p:spPr>
          <a:xfrm>
            <a:off x="2600529" y="1349636"/>
            <a:ext cx="2276475" cy="2924175"/>
          </a:xfrm>
          <a:prstGeom prst="rect">
            <a:avLst/>
          </a:prstGeom>
        </p:spPr>
      </p:pic>
      <p:sp>
        <p:nvSpPr>
          <p:cNvPr id="28" name="云形 27"/>
          <p:cNvSpPr/>
          <p:nvPr/>
        </p:nvSpPr>
        <p:spPr>
          <a:xfrm>
            <a:off x="827584" y="843558"/>
            <a:ext cx="2232248" cy="720080"/>
          </a:xfrm>
          <a:prstGeom prst="cloud">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itchFamily="34" charset="-122"/>
                <a:ea typeface="微软雅黑" pitchFamily="34" charset="-122"/>
              </a:rPr>
              <a:t>发生意外</a:t>
            </a:r>
            <a:endParaRPr lang="zh-CN" altLang="en-US" dirty="0"/>
          </a:p>
        </p:txBody>
      </p:sp>
      <p:sp>
        <p:nvSpPr>
          <p:cNvPr id="8194" name="AutoShape 2" descr="http://img1.imgtn.bdimg.com/it/u=668566042,2007128115&amp;fm=21&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196" name="AutoShape 4" descr="http://img1.imgtn.bdimg.com/it/u=668566042,2007128115&amp;fm=21&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23" name="图片 22" descr="7.jpg"/>
          <p:cNvPicPr>
            <a:picLocks noChangeAspect="1"/>
          </p:cNvPicPr>
          <p:nvPr/>
        </p:nvPicPr>
        <p:blipFill>
          <a:blip r:embed="rId5" cstate="print"/>
          <a:stretch>
            <a:fillRect/>
          </a:stretch>
        </p:blipFill>
        <p:spPr>
          <a:xfrm>
            <a:off x="5928236" y="3133056"/>
            <a:ext cx="3118432" cy="1862020"/>
          </a:xfrm>
          <a:prstGeom prst="rect">
            <a:avLst/>
          </a:prstGeom>
        </p:spPr>
      </p:pic>
      <p:sp>
        <p:nvSpPr>
          <p:cNvPr id="5" name="右箭头 4"/>
          <p:cNvSpPr/>
          <p:nvPr/>
        </p:nvSpPr>
        <p:spPr>
          <a:xfrm>
            <a:off x="1884782" y="1853513"/>
            <a:ext cx="485638" cy="1668785"/>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7" name="右箭头 26"/>
          <p:cNvSpPr/>
          <p:nvPr/>
        </p:nvSpPr>
        <p:spPr>
          <a:xfrm>
            <a:off x="5220073" y="1887420"/>
            <a:ext cx="478054" cy="1668785"/>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grpSp>
        <p:nvGrpSpPr>
          <p:cNvPr id="29" name="组合 28"/>
          <p:cNvGrpSpPr/>
          <p:nvPr/>
        </p:nvGrpSpPr>
        <p:grpSpPr>
          <a:xfrm>
            <a:off x="0" y="627534"/>
            <a:ext cx="3311923" cy="71438"/>
            <a:chOff x="0" y="523875"/>
            <a:chExt cx="3311923" cy="71438"/>
          </a:xfrm>
        </p:grpSpPr>
        <p:cxnSp>
          <p:nvCxnSpPr>
            <p:cNvPr id="30" name="直接连接符 29"/>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31"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grpSp>
        <p:nvGrpSpPr>
          <p:cNvPr id="9" name="组合 8"/>
          <p:cNvGrpSpPr/>
          <p:nvPr/>
        </p:nvGrpSpPr>
        <p:grpSpPr>
          <a:xfrm>
            <a:off x="5021354" y="355803"/>
            <a:ext cx="2232249" cy="1131419"/>
            <a:chOff x="5023588" y="504733"/>
            <a:chExt cx="2520280" cy="936104"/>
          </a:xfrm>
        </p:grpSpPr>
        <p:sp>
          <p:nvSpPr>
            <p:cNvPr id="8" name="云形标注 7"/>
            <p:cNvSpPr/>
            <p:nvPr/>
          </p:nvSpPr>
          <p:spPr>
            <a:xfrm>
              <a:off x="5023588" y="504733"/>
              <a:ext cx="2520280" cy="936104"/>
            </a:xfrm>
            <a:prstGeom prst="cloudCallout">
              <a:avLst>
                <a:gd name="adj1" fmla="val 51975"/>
                <a:gd name="adj2" fmla="val 8078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5472682" y="618567"/>
              <a:ext cx="1908210" cy="708435"/>
            </a:xfrm>
            <a:prstGeom prst="rect">
              <a:avLst/>
            </a:prstGeom>
            <a:noFill/>
          </p:spPr>
          <p:txBody>
            <a:bodyPr wrap="square" rtlCol="0">
              <a:spAutoFit/>
            </a:bodyPr>
            <a:lstStyle/>
            <a:p>
              <a:r>
                <a:rPr lang="zh-CN" altLang="en-US" sz="1200" b="1" dirty="0">
                  <a:solidFill>
                    <a:srgbClr val="FF0000"/>
                  </a:solidFill>
                  <a:latin typeface="微软雅黑" pitchFamily="34" charset="-122"/>
                  <a:ea typeface="微软雅黑" pitchFamily="34" charset="-122"/>
                </a:rPr>
                <a:t>一定记得写病历</a:t>
              </a:r>
              <a:endParaRPr lang="en-US" altLang="zh-CN" sz="1200" b="1" dirty="0">
                <a:solidFill>
                  <a:srgbClr val="FF0000"/>
                </a:solidFill>
                <a:latin typeface="微软雅黑" pitchFamily="34" charset="-122"/>
                <a:ea typeface="微软雅黑" pitchFamily="34" charset="-122"/>
              </a:endParaRPr>
            </a:p>
            <a:p>
              <a:r>
                <a:rPr lang="zh-CN" altLang="en-US" sz="1200" b="1" dirty="0">
                  <a:solidFill>
                    <a:srgbClr val="FF0000"/>
                  </a:solidFill>
                  <a:latin typeface="微软雅黑" pitchFamily="34" charset="-122"/>
                  <a:ea typeface="微软雅黑" pitchFamily="34" charset="-122"/>
                </a:rPr>
                <a:t>而且是每次</a:t>
              </a:r>
              <a:endParaRPr lang="en-US" altLang="zh-CN" sz="1200" b="1" dirty="0">
                <a:solidFill>
                  <a:srgbClr val="FF0000"/>
                </a:solidFill>
                <a:latin typeface="微软雅黑" pitchFamily="34" charset="-122"/>
                <a:ea typeface="微软雅黑" pitchFamily="34" charset="-122"/>
              </a:endParaRPr>
            </a:p>
            <a:p>
              <a:r>
                <a:rPr lang="en-US" altLang="zh-CN" sz="1200" b="1" dirty="0">
                  <a:solidFill>
                    <a:srgbClr val="FF0000"/>
                  </a:solidFill>
                  <a:latin typeface="微软雅黑" pitchFamily="34" charset="-122"/>
                  <a:ea typeface="微软雅黑" pitchFamily="34" charset="-122"/>
                </a:rPr>
                <a:t>Must have medical record every time.</a:t>
              </a:r>
              <a:endParaRPr lang="zh-CN" altLang="en-US" sz="1200" b="1" dirty="0">
                <a:solidFill>
                  <a:srgbClr val="FF0000"/>
                </a:solidFill>
                <a:latin typeface="微软雅黑" pitchFamily="34" charset="-122"/>
                <a:ea typeface="微软雅黑" pitchFamily="34" charset="-122"/>
              </a:endParaRPr>
            </a:p>
          </p:txBody>
        </p:sp>
      </p:grpSp>
      <p:grpSp>
        <p:nvGrpSpPr>
          <p:cNvPr id="10" name="组合 9"/>
          <p:cNvGrpSpPr/>
          <p:nvPr/>
        </p:nvGrpSpPr>
        <p:grpSpPr>
          <a:xfrm>
            <a:off x="4474071" y="4200000"/>
            <a:ext cx="1890104" cy="936104"/>
            <a:chOff x="5004047" y="4207396"/>
            <a:chExt cx="1890104" cy="936104"/>
          </a:xfrm>
        </p:grpSpPr>
        <p:sp>
          <p:nvSpPr>
            <p:cNvPr id="24" name="云形标注 23"/>
            <p:cNvSpPr/>
            <p:nvPr/>
          </p:nvSpPr>
          <p:spPr>
            <a:xfrm>
              <a:off x="5004047" y="4207396"/>
              <a:ext cx="1872209" cy="936104"/>
            </a:xfrm>
            <a:prstGeom prst="cloudCallout">
              <a:avLst>
                <a:gd name="adj1" fmla="val 71961"/>
                <a:gd name="adj2" fmla="val -60768"/>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5449481" y="4352282"/>
              <a:ext cx="1444670" cy="646331"/>
            </a:xfrm>
            <a:prstGeom prst="rect">
              <a:avLst/>
            </a:prstGeom>
            <a:noFill/>
          </p:spPr>
          <p:txBody>
            <a:bodyPr wrap="square" rtlCol="0">
              <a:spAutoFit/>
            </a:bodyPr>
            <a:lstStyle/>
            <a:p>
              <a:r>
                <a:rPr lang="zh-CN" altLang="en-US" b="1" dirty="0">
                  <a:solidFill>
                    <a:srgbClr val="FF0000"/>
                  </a:solidFill>
                  <a:latin typeface="微软雅黑" pitchFamily="34" charset="-122"/>
                  <a:ea typeface="微软雅黑" pitchFamily="34" charset="-122"/>
                </a:rPr>
                <a:t>留收据 </a:t>
              </a:r>
              <a:r>
                <a:rPr lang="en-US" altLang="zh-CN" b="1" dirty="0">
                  <a:solidFill>
                    <a:srgbClr val="FF0000"/>
                  </a:solidFill>
                  <a:latin typeface="微软雅黑" pitchFamily="34" charset="-122"/>
                  <a:ea typeface="微软雅黑" pitchFamily="34" charset="-122"/>
                </a:rPr>
                <a:t>invoice</a:t>
              </a:r>
              <a:endParaRPr lang="zh-CN" altLang="en-US" b="1" dirty="0">
                <a:solidFill>
                  <a:srgbClr val="FF0000"/>
                </a:solidFill>
                <a:latin typeface="微软雅黑" pitchFamily="34" charset="-122"/>
                <a:ea typeface="微软雅黑" pitchFamily="34" charset="-122"/>
              </a:endParaRPr>
            </a:p>
          </p:txBody>
        </p:sp>
      </p:grpSp>
      <p:pic>
        <p:nvPicPr>
          <p:cNvPr id="6" name="图片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7975" y="1887420"/>
            <a:ext cx="1799415" cy="1847923"/>
          </a:xfrm>
          <a:prstGeom prst="rect">
            <a:avLst/>
          </a:prstGeom>
        </p:spPr>
      </p:pic>
      <p:sp>
        <p:nvSpPr>
          <p:cNvPr id="11" name="文本框 10">
            <a:extLst>
              <a:ext uri="{FF2B5EF4-FFF2-40B4-BE49-F238E27FC236}">
                <a16:creationId xmlns:a16="http://schemas.microsoft.com/office/drawing/2014/main" id="{E6A82C19-AC1E-3EB9-A65C-A43AE9B655A5}"/>
              </a:ext>
            </a:extLst>
          </p:cNvPr>
          <p:cNvSpPr txBox="1"/>
          <p:nvPr/>
        </p:nvSpPr>
        <p:spPr>
          <a:xfrm>
            <a:off x="242496" y="212505"/>
            <a:ext cx="4579974" cy="369332"/>
          </a:xfrm>
          <a:prstGeom prst="rect">
            <a:avLst/>
          </a:prstGeom>
          <a:noFill/>
        </p:spPr>
        <p:txBody>
          <a:bodyPr wrap="square">
            <a:spAutoFit/>
          </a:bodyPr>
          <a:lstStyle/>
          <a:p>
            <a:r>
              <a:rPr lang="zh-CN" altLang="en-US" sz="1800" b="1" cap="small" dirty="0">
                <a:solidFill>
                  <a:schemeClr val="tx1"/>
                </a:solidFill>
                <a:latin typeface="微软雅黑" pitchFamily="34" charset="-122"/>
                <a:ea typeface="微软雅黑" pitchFamily="34" charset="-122"/>
              </a:rPr>
              <a:t>保险使用方法 </a:t>
            </a:r>
            <a:r>
              <a:rPr lang="en-US" altLang="zh-CN" sz="1800" b="1" dirty="0">
                <a:latin typeface="微软雅黑" pitchFamily="34" charset="-122"/>
                <a:ea typeface="微软雅黑" pitchFamily="34" charset="-122"/>
              </a:rPr>
              <a:t>Insurance instruction</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0-#ppt_w/2"/>
                                          </p:val>
                                        </p:tav>
                                        <p:tav tm="100000">
                                          <p:val>
                                            <p:strVal val="#ppt_x"/>
                                          </p:val>
                                        </p:tav>
                                      </p:tavLst>
                                    </p:anim>
                                    <p:anim calcmode="lin" valueType="num">
                                      <p:cBhvr additive="base">
                                        <p:cTn id="18" dur="500" fill="hold"/>
                                        <p:tgtEl>
                                          <p:spTgt spid="2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16" presetClass="entr" presetSubtype="37"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arn(outVertical)">
                                      <p:cBhvr>
                                        <p:cTn id="22" dur="500"/>
                                        <p:tgtEl>
                                          <p:spTgt spid="19"/>
                                        </p:tgtEl>
                                      </p:cBhvr>
                                    </p:animEffect>
                                  </p:childTnLst>
                                </p:cTn>
                              </p:par>
                            </p:childTnLst>
                          </p:cTn>
                        </p:par>
                        <p:par>
                          <p:cTn id="23" fill="hold">
                            <p:stCondLst>
                              <p:cond delay="2000"/>
                            </p:stCondLst>
                            <p:childTnLst>
                              <p:par>
                                <p:cTn id="24" presetID="26"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80">
                                          <p:stCondLst>
                                            <p:cond delay="0"/>
                                          </p:stCondLst>
                                        </p:cTn>
                                        <p:tgtEl>
                                          <p:spTgt spid="9"/>
                                        </p:tgtEl>
                                      </p:cBhvr>
                                    </p:animEffect>
                                    <p:anim calcmode="lin" valueType="num">
                                      <p:cBhvr>
                                        <p:cTn id="27"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32" dur="26">
                                          <p:stCondLst>
                                            <p:cond delay="650"/>
                                          </p:stCondLst>
                                        </p:cTn>
                                        <p:tgtEl>
                                          <p:spTgt spid="9"/>
                                        </p:tgtEl>
                                      </p:cBhvr>
                                      <p:to x="100000" y="60000"/>
                                    </p:animScale>
                                    <p:animScale>
                                      <p:cBhvr>
                                        <p:cTn id="33" dur="166" decel="50000">
                                          <p:stCondLst>
                                            <p:cond delay="676"/>
                                          </p:stCondLst>
                                        </p:cTn>
                                        <p:tgtEl>
                                          <p:spTgt spid="9"/>
                                        </p:tgtEl>
                                      </p:cBhvr>
                                      <p:to x="100000" y="100000"/>
                                    </p:animScale>
                                    <p:animScale>
                                      <p:cBhvr>
                                        <p:cTn id="34" dur="26">
                                          <p:stCondLst>
                                            <p:cond delay="1312"/>
                                          </p:stCondLst>
                                        </p:cTn>
                                        <p:tgtEl>
                                          <p:spTgt spid="9"/>
                                        </p:tgtEl>
                                      </p:cBhvr>
                                      <p:to x="100000" y="80000"/>
                                    </p:animScale>
                                    <p:animScale>
                                      <p:cBhvr>
                                        <p:cTn id="35" dur="166" decel="50000">
                                          <p:stCondLst>
                                            <p:cond delay="1338"/>
                                          </p:stCondLst>
                                        </p:cTn>
                                        <p:tgtEl>
                                          <p:spTgt spid="9"/>
                                        </p:tgtEl>
                                      </p:cBhvr>
                                      <p:to x="100000" y="100000"/>
                                    </p:animScale>
                                    <p:animScale>
                                      <p:cBhvr>
                                        <p:cTn id="36" dur="26">
                                          <p:stCondLst>
                                            <p:cond delay="1642"/>
                                          </p:stCondLst>
                                        </p:cTn>
                                        <p:tgtEl>
                                          <p:spTgt spid="9"/>
                                        </p:tgtEl>
                                      </p:cBhvr>
                                      <p:to x="100000" y="90000"/>
                                    </p:animScale>
                                    <p:animScale>
                                      <p:cBhvr>
                                        <p:cTn id="37" dur="166" decel="50000">
                                          <p:stCondLst>
                                            <p:cond delay="1668"/>
                                          </p:stCondLst>
                                        </p:cTn>
                                        <p:tgtEl>
                                          <p:spTgt spid="9"/>
                                        </p:tgtEl>
                                      </p:cBhvr>
                                      <p:to x="100000" y="100000"/>
                                    </p:animScale>
                                    <p:animScale>
                                      <p:cBhvr>
                                        <p:cTn id="38" dur="26">
                                          <p:stCondLst>
                                            <p:cond delay="1808"/>
                                          </p:stCondLst>
                                        </p:cTn>
                                        <p:tgtEl>
                                          <p:spTgt spid="9"/>
                                        </p:tgtEl>
                                      </p:cBhvr>
                                      <p:to x="100000" y="95000"/>
                                    </p:animScale>
                                    <p:animScale>
                                      <p:cBhvr>
                                        <p:cTn id="39" dur="166" decel="50000">
                                          <p:stCondLst>
                                            <p:cond delay="1834"/>
                                          </p:stCondLst>
                                        </p:cTn>
                                        <p:tgtEl>
                                          <p:spTgt spid="9"/>
                                        </p:tgtEl>
                                      </p:cBhvr>
                                      <p:to x="100000" y="100000"/>
                                    </p:animScale>
                                  </p:childTnLst>
                                </p:cTn>
                              </p:par>
                            </p:childTnLst>
                          </p:cTn>
                        </p:par>
                        <p:par>
                          <p:cTn id="40" fill="hold">
                            <p:stCondLst>
                              <p:cond delay="4000"/>
                            </p:stCondLst>
                            <p:childTnLst>
                              <p:par>
                                <p:cTn id="41" presetID="2" presetClass="entr" presetSubtype="4"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childTnLst>
                          </p:cTn>
                        </p:par>
                        <p:par>
                          <p:cTn id="45" fill="hold">
                            <p:stCondLst>
                              <p:cond delay="4500"/>
                            </p:stCondLst>
                            <p:childTnLst>
                              <p:par>
                                <p:cTn id="46" presetID="26" presetClass="entr" presetSubtype="0" fill="hold"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down)">
                                      <p:cBhvr>
                                        <p:cTn id="48" dur="580">
                                          <p:stCondLst>
                                            <p:cond delay="0"/>
                                          </p:stCondLst>
                                        </p:cTn>
                                        <p:tgtEl>
                                          <p:spTgt spid="10"/>
                                        </p:tgtEl>
                                      </p:cBhvr>
                                    </p:animEffect>
                                    <p:anim calcmode="lin" valueType="num">
                                      <p:cBhvr>
                                        <p:cTn id="49"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54" dur="26">
                                          <p:stCondLst>
                                            <p:cond delay="650"/>
                                          </p:stCondLst>
                                        </p:cTn>
                                        <p:tgtEl>
                                          <p:spTgt spid="10"/>
                                        </p:tgtEl>
                                      </p:cBhvr>
                                      <p:to x="100000" y="60000"/>
                                    </p:animScale>
                                    <p:animScale>
                                      <p:cBhvr>
                                        <p:cTn id="55" dur="166" decel="50000">
                                          <p:stCondLst>
                                            <p:cond delay="676"/>
                                          </p:stCondLst>
                                        </p:cTn>
                                        <p:tgtEl>
                                          <p:spTgt spid="10"/>
                                        </p:tgtEl>
                                      </p:cBhvr>
                                      <p:to x="100000" y="100000"/>
                                    </p:animScale>
                                    <p:animScale>
                                      <p:cBhvr>
                                        <p:cTn id="56" dur="26">
                                          <p:stCondLst>
                                            <p:cond delay="1312"/>
                                          </p:stCondLst>
                                        </p:cTn>
                                        <p:tgtEl>
                                          <p:spTgt spid="10"/>
                                        </p:tgtEl>
                                      </p:cBhvr>
                                      <p:to x="100000" y="80000"/>
                                    </p:animScale>
                                    <p:animScale>
                                      <p:cBhvr>
                                        <p:cTn id="57" dur="166" decel="50000">
                                          <p:stCondLst>
                                            <p:cond delay="1338"/>
                                          </p:stCondLst>
                                        </p:cTn>
                                        <p:tgtEl>
                                          <p:spTgt spid="10"/>
                                        </p:tgtEl>
                                      </p:cBhvr>
                                      <p:to x="100000" y="100000"/>
                                    </p:animScale>
                                    <p:animScale>
                                      <p:cBhvr>
                                        <p:cTn id="58" dur="26">
                                          <p:stCondLst>
                                            <p:cond delay="1642"/>
                                          </p:stCondLst>
                                        </p:cTn>
                                        <p:tgtEl>
                                          <p:spTgt spid="10"/>
                                        </p:tgtEl>
                                      </p:cBhvr>
                                      <p:to x="100000" y="90000"/>
                                    </p:animScale>
                                    <p:animScale>
                                      <p:cBhvr>
                                        <p:cTn id="59" dur="166" decel="50000">
                                          <p:stCondLst>
                                            <p:cond delay="1668"/>
                                          </p:stCondLst>
                                        </p:cTn>
                                        <p:tgtEl>
                                          <p:spTgt spid="10"/>
                                        </p:tgtEl>
                                      </p:cBhvr>
                                      <p:to x="100000" y="100000"/>
                                    </p:animScale>
                                    <p:animScale>
                                      <p:cBhvr>
                                        <p:cTn id="60" dur="26">
                                          <p:stCondLst>
                                            <p:cond delay="1808"/>
                                          </p:stCondLst>
                                        </p:cTn>
                                        <p:tgtEl>
                                          <p:spTgt spid="10"/>
                                        </p:tgtEl>
                                      </p:cBhvr>
                                      <p:to x="100000" y="95000"/>
                                    </p:animScale>
                                    <p:animScale>
                                      <p:cBhvr>
                                        <p:cTn id="61"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5"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4229546"/>
            <a:ext cx="7992888" cy="461665"/>
          </a:xfrm>
          <a:prstGeom prst="rect">
            <a:avLst/>
          </a:prstGeom>
          <a:noFill/>
        </p:spPr>
        <p:txBody>
          <a:bodyPr wrap="square" rtlCol="0">
            <a:spAutoFit/>
          </a:bodyPr>
          <a:lstStyle/>
          <a:p>
            <a:r>
              <a:rPr lang="zh-CN" altLang="en-US" sz="1200" dirty="0">
                <a:solidFill>
                  <a:schemeClr val="tx2">
                    <a:lumMod val="10000"/>
                  </a:schemeClr>
                </a:solidFill>
                <a:latin typeface="微软雅黑" pitchFamily="34" charset="-122"/>
                <a:ea typeface="微软雅黑" pitchFamily="34" charset="-122"/>
              </a:rPr>
              <a:t>如果看门诊后，医生说需要住院，一定要在住院前拨打电话，如果符合条件，可以得到医疗费的垫付</a:t>
            </a:r>
            <a:r>
              <a:rPr lang="en-US" altLang="zh-CN" sz="1200" dirty="0">
                <a:solidFill>
                  <a:schemeClr val="tx2">
                    <a:lumMod val="10000"/>
                  </a:schemeClr>
                </a:solidFill>
                <a:latin typeface="微软雅黑" pitchFamily="34" charset="-122"/>
                <a:ea typeface="微软雅黑" pitchFamily="34" charset="-122"/>
              </a:rPr>
              <a:t>,</a:t>
            </a:r>
            <a:r>
              <a:rPr lang="zh-CN" altLang="en-US" sz="1200" dirty="0">
                <a:solidFill>
                  <a:schemeClr val="tx2">
                    <a:lumMod val="10000"/>
                  </a:schemeClr>
                </a:solidFill>
                <a:latin typeface="微软雅黑" pitchFamily="34" charset="-122"/>
                <a:ea typeface="微软雅黑" pitchFamily="34" charset="-122"/>
              </a:rPr>
              <a:t>学生就可以安心治疗了。</a:t>
            </a:r>
            <a:endParaRPr lang="en-US" altLang="zh-CN" sz="1200" dirty="0">
              <a:solidFill>
                <a:schemeClr val="tx2">
                  <a:lumMod val="10000"/>
                </a:schemeClr>
              </a:solidFill>
              <a:latin typeface="微软雅黑" pitchFamily="34" charset="-122"/>
              <a:ea typeface="微软雅黑" pitchFamily="34" charset="-122"/>
            </a:endParaRPr>
          </a:p>
        </p:txBody>
      </p:sp>
      <p:grpSp>
        <p:nvGrpSpPr>
          <p:cNvPr id="22" name="组合 21"/>
          <p:cNvGrpSpPr/>
          <p:nvPr/>
        </p:nvGrpSpPr>
        <p:grpSpPr>
          <a:xfrm>
            <a:off x="0" y="627534"/>
            <a:ext cx="3311923" cy="71438"/>
            <a:chOff x="0" y="523875"/>
            <a:chExt cx="3311923" cy="71438"/>
          </a:xfrm>
        </p:grpSpPr>
        <p:cxnSp>
          <p:nvCxnSpPr>
            <p:cNvPr id="23" name="直接连接符 22"/>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4"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21" name="云形 20"/>
          <p:cNvSpPr/>
          <p:nvPr/>
        </p:nvSpPr>
        <p:spPr>
          <a:xfrm>
            <a:off x="3353223" y="627534"/>
            <a:ext cx="2730945" cy="882732"/>
          </a:xfrm>
          <a:prstGeom prst="clou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zh-CN" altLang="en-US" sz="1600" b="1" dirty="0">
                <a:solidFill>
                  <a:srgbClr val="FF0000"/>
                </a:solidFill>
                <a:latin typeface="微软雅黑" pitchFamily="34" charset="-122"/>
                <a:ea typeface="微软雅黑" pitchFamily="34" charset="-122"/>
              </a:rPr>
              <a:t>    需要住院</a:t>
            </a:r>
            <a:endParaRPr lang="en-US" altLang="zh-CN" sz="1600" b="1" dirty="0">
              <a:solidFill>
                <a:srgbClr val="FF0000"/>
              </a:solidFill>
              <a:latin typeface="微软雅黑" pitchFamily="34" charset="-122"/>
              <a:ea typeface="微软雅黑" pitchFamily="34" charset="-122"/>
            </a:endParaRPr>
          </a:p>
          <a:p>
            <a:pPr marL="0" indent="0">
              <a:buNone/>
            </a:pPr>
            <a:r>
              <a:rPr lang="en-US" altLang="zh-CN" sz="1600" b="1" dirty="0">
                <a:solidFill>
                  <a:srgbClr val="FF0000"/>
                </a:solidFill>
                <a:latin typeface="微软雅黑" pitchFamily="34" charset="-122"/>
                <a:ea typeface="微软雅黑" pitchFamily="34" charset="-122"/>
              </a:rPr>
              <a:t>Need inpatient</a:t>
            </a:r>
            <a:endParaRPr lang="zh-CN" altLang="en-US" sz="1600" dirty="0"/>
          </a:p>
        </p:txBody>
      </p:sp>
      <p:sp>
        <p:nvSpPr>
          <p:cNvPr id="2" name="文本框 1"/>
          <p:cNvSpPr txBox="1"/>
          <p:nvPr/>
        </p:nvSpPr>
        <p:spPr>
          <a:xfrm>
            <a:off x="397793" y="3773861"/>
            <a:ext cx="7990631" cy="523220"/>
          </a:xfrm>
          <a:prstGeom prst="rect">
            <a:avLst/>
          </a:prstGeom>
          <a:noFill/>
        </p:spPr>
        <p:txBody>
          <a:bodyPr wrap="square" rtlCol="0">
            <a:spAutoFit/>
          </a:bodyPr>
          <a:lstStyle/>
          <a:p>
            <a:r>
              <a:rPr lang="en-US" altLang="zh-CN" sz="1400" dirty="0">
                <a:solidFill>
                  <a:srgbClr val="FF0000"/>
                </a:solidFill>
              </a:rPr>
              <a:t>If you want to apply inpatient in advanced, please call us before in hospital. Otherwise you should pay by yourself first.</a:t>
            </a:r>
            <a:endParaRPr lang="zh-CN" altLang="en-US" sz="1400" dirty="0">
              <a:solidFill>
                <a:srgbClr val="FF0000"/>
              </a:solidFill>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84827" y="877169"/>
            <a:ext cx="2748888" cy="2748888"/>
          </a:xfrm>
          <a:prstGeom prst="rect">
            <a:avLst/>
          </a:prstGeom>
        </p:spPr>
      </p:pic>
      <p:grpSp>
        <p:nvGrpSpPr>
          <p:cNvPr id="16" name="组合 15"/>
          <p:cNvGrpSpPr/>
          <p:nvPr/>
        </p:nvGrpSpPr>
        <p:grpSpPr>
          <a:xfrm>
            <a:off x="4009022" y="2102628"/>
            <a:ext cx="765915" cy="805489"/>
            <a:chOff x="451828" y="922758"/>
            <a:chExt cx="4000498" cy="4000499"/>
          </a:xfrm>
          <a:effectLst>
            <a:outerShdw blurRad="444500" dist="254000" dir="8100000" algn="tr" rotWithShape="0">
              <a:prstClr val="black">
                <a:alpha val="50000"/>
              </a:prstClr>
            </a:outerShdw>
          </a:effectLst>
        </p:grpSpPr>
        <p:sp>
          <p:nvSpPr>
            <p:cNvPr id="17" name="同心圆 16"/>
            <p:cNvSpPr/>
            <p:nvPr/>
          </p:nvSpPr>
          <p:spPr>
            <a:xfrm>
              <a:off x="451828" y="922758"/>
              <a:ext cx="4000498" cy="4000499"/>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椭圆 17"/>
            <p:cNvSpPr/>
            <p:nvPr/>
          </p:nvSpPr>
          <p:spPr>
            <a:xfrm>
              <a:off x="539124" y="1009991"/>
              <a:ext cx="3825871" cy="3793766"/>
            </a:xfrm>
            <a:prstGeom prst="ellipse">
              <a:avLst/>
            </a:prstGeom>
            <a:solidFill>
              <a:srgbClr val="FF99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3417398" y="1690999"/>
            <a:ext cx="2507418" cy="584775"/>
          </a:xfrm>
          <a:prstGeom prst="rect">
            <a:avLst/>
          </a:prstGeom>
          <a:noFill/>
        </p:spPr>
        <p:txBody>
          <a:bodyPr wrap="none" lIns="91440" tIns="45720" rIns="91440" bIns="45720">
            <a:spAutoFit/>
          </a:bodyPr>
          <a:lstStyle/>
          <a:p>
            <a:pPr algn="ctr"/>
            <a:r>
              <a:rPr lang="en-US" altLang="zh-CN" sz="3200" b="0" cap="none" spc="0" dirty="0">
                <a:ln w="0"/>
                <a:solidFill>
                  <a:srgbClr val="FF0000"/>
                </a:solidFill>
                <a:effectLst>
                  <a:outerShdw blurRad="38100" dist="19050" dir="2700000" algn="tl" rotWithShape="0">
                    <a:schemeClr val="dk1">
                      <a:alpha val="40000"/>
                    </a:schemeClr>
                  </a:outerShdw>
                </a:effectLst>
                <a:latin typeface="Segoe UI Black" panose="020B0A02040204020203" pitchFamily="34" charset="0"/>
                <a:ea typeface="Segoe UI Black" panose="020B0A02040204020203" pitchFamily="34" charset="0"/>
                <a:cs typeface="Segoe UI Black" panose="020B0A02040204020203" pitchFamily="34" charset="0"/>
              </a:rPr>
              <a:t>4008105119</a:t>
            </a:r>
            <a:endParaRPr lang="zh-CN" altLang="en-US" sz="3200" b="0" cap="none" spc="0" dirty="0">
              <a:ln w="0"/>
              <a:solidFill>
                <a:srgbClr val="FF0000"/>
              </a:solidFill>
              <a:effectLst>
                <a:outerShdw blurRad="38100" dist="19050" dir="2700000" algn="tl" rotWithShape="0">
                  <a:schemeClr val="dk1">
                    <a:alpha val="40000"/>
                  </a:schemeClr>
                </a:outerShdw>
              </a:effectLst>
              <a:latin typeface="Segoe UI Black" panose="020B0A02040204020203" pitchFamily="34" charset="0"/>
              <a:cs typeface="Segoe UI Black" panose="020B0A02040204020203" pitchFamily="34" charset="0"/>
            </a:endParaRPr>
          </a:p>
        </p:txBody>
      </p:sp>
      <p:pic>
        <p:nvPicPr>
          <p:cNvPr id="20" name="图片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2845" y="2254846"/>
            <a:ext cx="558262" cy="558262"/>
          </a:xfrm>
          <a:prstGeom prst="rect">
            <a:avLst/>
          </a:prstGeom>
        </p:spPr>
      </p:pic>
      <p:sp>
        <p:nvSpPr>
          <p:cNvPr id="7" name="右箭头 6"/>
          <p:cNvSpPr/>
          <p:nvPr/>
        </p:nvSpPr>
        <p:spPr>
          <a:xfrm>
            <a:off x="2862575" y="2316497"/>
            <a:ext cx="648072" cy="2968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右箭头 24"/>
          <p:cNvSpPr/>
          <p:nvPr/>
        </p:nvSpPr>
        <p:spPr>
          <a:xfrm>
            <a:off x="5435058" y="2356930"/>
            <a:ext cx="648072" cy="2968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4246" y="1274075"/>
            <a:ext cx="3274796" cy="2456097"/>
          </a:xfrm>
          <a:prstGeom prst="rect">
            <a:avLst/>
          </a:prstGeom>
        </p:spPr>
      </p:pic>
      <p:sp>
        <p:nvSpPr>
          <p:cNvPr id="8" name="文本框 7">
            <a:extLst>
              <a:ext uri="{FF2B5EF4-FFF2-40B4-BE49-F238E27FC236}">
                <a16:creationId xmlns:a16="http://schemas.microsoft.com/office/drawing/2014/main" id="{F6EB57E4-E7B4-7C10-A45B-E3CF5D198061}"/>
              </a:ext>
            </a:extLst>
          </p:cNvPr>
          <p:cNvSpPr txBox="1"/>
          <p:nvPr/>
        </p:nvSpPr>
        <p:spPr>
          <a:xfrm>
            <a:off x="467544" y="147938"/>
            <a:ext cx="4579974" cy="369332"/>
          </a:xfrm>
          <a:prstGeom prst="rect">
            <a:avLst/>
          </a:prstGeom>
          <a:noFill/>
        </p:spPr>
        <p:txBody>
          <a:bodyPr wrap="square">
            <a:spAutoFit/>
          </a:bodyPr>
          <a:lstStyle/>
          <a:p>
            <a:r>
              <a:rPr lang="zh-CN" altLang="en-US" sz="1800" b="1" cap="small" dirty="0">
                <a:solidFill>
                  <a:schemeClr val="tx1"/>
                </a:solidFill>
                <a:latin typeface="微软雅黑" pitchFamily="34" charset="-122"/>
                <a:ea typeface="微软雅黑" pitchFamily="34" charset="-122"/>
              </a:rPr>
              <a:t>保险使用方法 </a:t>
            </a:r>
            <a:r>
              <a:rPr lang="en-US" altLang="zh-CN" sz="1800" b="1" dirty="0">
                <a:latin typeface="微软雅黑" pitchFamily="34" charset="-122"/>
                <a:ea typeface="微软雅黑" pitchFamily="34" charset="-122"/>
              </a:rPr>
              <a:t>Insurance instruction</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0" y="663575"/>
            <a:ext cx="2127250" cy="490538"/>
          </a:xfrm>
        </p:spPr>
        <p:txBody>
          <a:bodyPr/>
          <a:lstStyle/>
          <a:p>
            <a:pPr marL="179388" indent="-179388">
              <a:buNone/>
            </a:pPr>
            <a:r>
              <a:rPr lang="zh-CN" altLang="en-US" sz="2000" b="1" dirty="0">
                <a:solidFill>
                  <a:schemeClr val="tx1"/>
                </a:solidFill>
                <a:latin typeface="微软雅黑" pitchFamily="34" charset="-122"/>
                <a:ea typeface="微软雅黑" pitchFamily="34" charset="-122"/>
              </a:rPr>
              <a:t>理赔申请资料</a:t>
            </a:r>
            <a:endParaRPr lang="en-US" altLang="zh-CN" sz="2000" b="1" dirty="0">
              <a:solidFill>
                <a:schemeClr val="tx1"/>
              </a:solidFill>
              <a:latin typeface="微软雅黑" pitchFamily="34" charset="-122"/>
              <a:ea typeface="微软雅黑" pitchFamily="34" charset="-122"/>
            </a:endParaRP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258103982"/>
              </p:ext>
            </p:extLst>
          </p:nvPr>
        </p:nvGraphicFramePr>
        <p:xfrm>
          <a:off x="634458" y="1120482"/>
          <a:ext cx="7488832" cy="2088232"/>
        </p:xfrm>
        <a:graphic>
          <a:graphicData uri="http://schemas.openxmlformats.org/drawingml/2006/table">
            <a:tbl>
              <a:tblPr>
                <a:tableStyleId>{0505E3EF-67EA-436B-97B2-0124C06EBD24}</a:tableStyleId>
              </a:tblPr>
              <a:tblGrid>
                <a:gridCol w="1115610">
                  <a:extLst>
                    <a:ext uri="{9D8B030D-6E8A-4147-A177-3AD203B41FA5}">
                      <a16:colId xmlns:a16="http://schemas.microsoft.com/office/drawing/2014/main" val="20000"/>
                    </a:ext>
                  </a:extLst>
                </a:gridCol>
                <a:gridCol w="681042">
                  <a:extLst>
                    <a:ext uri="{9D8B030D-6E8A-4147-A177-3AD203B41FA5}">
                      <a16:colId xmlns:a16="http://schemas.microsoft.com/office/drawing/2014/main" val="20001"/>
                    </a:ext>
                  </a:extLst>
                </a:gridCol>
                <a:gridCol w="573029">
                  <a:extLst>
                    <a:ext uri="{9D8B030D-6E8A-4147-A177-3AD203B41FA5}">
                      <a16:colId xmlns:a16="http://schemas.microsoft.com/office/drawing/2014/main" val="20002"/>
                    </a:ext>
                  </a:extLst>
                </a:gridCol>
                <a:gridCol w="1101105">
                  <a:extLst>
                    <a:ext uri="{9D8B030D-6E8A-4147-A177-3AD203B41FA5}">
                      <a16:colId xmlns:a16="http://schemas.microsoft.com/office/drawing/2014/main" val="20003"/>
                    </a:ext>
                  </a:extLst>
                </a:gridCol>
                <a:gridCol w="488934">
                  <a:extLst>
                    <a:ext uri="{9D8B030D-6E8A-4147-A177-3AD203B41FA5}">
                      <a16:colId xmlns:a16="http://schemas.microsoft.com/office/drawing/2014/main" val="20004"/>
                    </a:ext>
                  </a:extLst>
                </a:gridCol>
                <a:gridCol w="721469">
                  <a:extLst>
                    <a:ext uri="{9D8B030D-6E8A-4147-A177-3AD203B41FA5}">
                      <a16:colId xmlns:a16="http://schemas.microsoft.com/office/drawing/2014/main" val="20005"/>
                    </a:ext>
                  </a:extLst>
                </a:gridCol>
                <a:gridCol w="721469">
                  <a:extLst>
                    <a:ext uri="{9D8B030D-6E8A-4147-A177-3AD203B41FA5}">
                      <a16:colId xmlns:a16="http://schemas.microsoft.com/office/drawing/2014/main" val="20006"/>
                    </a:ext>
                  </a:extLst>
                </a:gridCol>
                <a:gridCol w="1043087">
                  <a:extLst>
                    <a:ext uri="{9D8B030D-6E8A-4147-A177-3AD203B41FA5}">
                      <a16:colId xmlns:a16="http://schemas.microsoft.com/office/drawing/2014/main" val="20007"/>
                    </a:ext>
                  </a:extLst>
                </a:gridCol>
                <a:gridCol w="1043087">
                  <a:extLst>
                    <a:ext uri="{9D8B030D-6E8A-4147-A177-3AD203B41FA5}">
                      <a16:colId xmlns:a16="http://schemas.microsoft.com/office/drawing/2014/main" val="20008"/>
                    </a:ext>
                  </a:extLst>
                </a:gridCol>
              </a:tblGrid>
              <a:tr h="936104">
                <a:tc>
                  <a:txBody>
                    <a:bodyPr/>
                    <a:lstStyle/>
                    <a:p>
                      <a:pPr algn="ctr">
                        <a:spcAft>
                          <a:spcPts val="0"/>
                        </a:spcAft>
                      </a:pPr>
                      <a:r>
                        <a:rPr lang="en-US" sz="1200" kern="100" dirty="0">
                          <a:solidFill>
                            <a:schemeClr val="tx1"/>
                          </a:solidFill>
                        </a:rPr>
                        <a:t>            </a:t>
                      </a:r>
                      <a:r>
                        <a:rPr lang="zh-CN" sz="1200" kern="100" dirty="0">
                          <a:solidFill>
                            <a:schemeClr val="tx1"/>
                          </a:solidFill>
                        </a:rPr>
                        <a:t>所需</a:t>
                      </a:r>
                    </a:p>
                    <a:p>
                      <a:pPr indent="533400" algn="ctr">
                        <a:spcAft>
                          <a:spcPts val="0"/>
                        </a:spcAft>
                      </a:pPr>
                      <a:r>
                        <a:rPr lang="zh-CN" sz="1200" kern="100" dirty="0">
                          <a:solidFill>
                            <a:schemeClr val="tx1"/>
                          </a:solidFill>
                        </a:rPr>
                        <a:t>材料</a:t>
                      </a:r>
                    </a:p>
                    <a:p>
                      <a:pPr algn="l">
                        <a:spcAft>
                          <a:spcPts val="0"/>
                        </a:spcAft>
                      </a:pPr>
                      <a:r>
                        <a:rPr lang="en-US" altLang="zh-CN" sz="1200" kern="100" dirty="0">
                          <a:solidFill>
                            <a:schemeClr val="tx1"/>
                          </a:solidFill>
                        </a:rPr>
                        <a:t>  </a:t>
                      </a:r>
                      <a:r>
                        <a:rPr lang="zh-CN" sz="1200" kern="100" dirty="0">
                          <a:solidFill>
                            <a:schemeClr val="tx1"/>
                          </a:solidFill>
                        </a:rPr>
                        <a:t>申请</a:t>
                      </a:r>
                    </a:p>
                    <a:p>
                      <a:pPr algn="l">
                        <a:spcAft>
                          <a:spcPts val="0"/>
                        </a:spcAft>
                      </a:pPr>
                      <a:r>
                        <a:rPr lang="en-US" altLang="zh-CN" sz="1200" kern="100" dirty="0">
                          <a:solidFill>
                            <a:schemeClr val="tx1"/>
                          </a:solidFill>
                        </a:rPr>
                        <a:t>  </a:t>
                      </a:r>
                      <a:r>
                        <a:rPr lang="zh-CN" sz="1200" kern="100" dirty="0">
                          <a:solidFill>
                            <a:schemeClr val="tx1"/>
                          </a:solidFill>
                        </a:rPr>
                        <a:t>项目</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护照复印件及签证页复印件</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医院发票原件</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病</a:t>
                      </a:r>
                      <a:r>
                        <a:rPr lang="zh-CN" altLang="en-US" sz="1200" kern="100" dirty="0">
                          <a:solidFill>
                            <a:schemeClr val="tx1"/>
                          </a:solidFill>
                        </a:rPr>
                        <a:t>历</a:t>
                      </a:r>
                      <a:r>
                        <a:rPr lang="zh-CN" sz="1200" kern="100" dirty="0">
                          <a:solidFill>
                            <a:schemeClr val="tx1"/>
                          </a:solidFill>
                        </a:rPr>
                        <a:t>复印件</a:t>
                      </a:r>
                      <a:r>
                        <a:rPr lang="zh-CN" sz="1200" b="1" kern="100" dirty="0">
                          <a:solidFill>
                            <a:srgbClr val="FF0000"/>
                          </a:solidFill>
                        </a:rPr>
                        <a:t>（每次就诊病</a:t>
                      </a:r>
                      <a:r>
                        <a:rPr lang="zh-CN" altLang="en-US" sz="1200" b="1" kern="100" dirty="0">
                          <a:solidFill>
                            <a:srgbClr val="FF0000"/>
                          </a:solidFill>
                        </a:rPr>
                        <a:t>历</a:t>
                      </a:r>
                      <a:r>
                        <a:rPr lang="zh-CN" sz="1200" b="1" kern="100" dirty="0">
                          <a:solidFill>
                            <a:srgbClr val="FF0000"/>
                          </a:solidFill>
                        </a:rPr>
                        <a:t>日期与发票日期相对应）</a:t>
                      </a:r>
                      <a:endParaRPr lang="zh-CN" sz="1200" b="1" kern="100" dirty="0">
                        <a:solidFill>
                          <a:srgbClr val="FF0000"/>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费用明细</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意外事故证明</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出院小结或住院病</a:t>
                      </a:r>
                      <a:r>
                        <a:rPr lang="zh-CN" altLang="en-US" sz="1200" kern="100" dirty="0">
                          <a:solidFill>
                            <a:schemeClr val="tx1"/>
                          </a:solidFill>
                        </a:rPr>
                        <a:t>历</a:t>
                      </a:r>
                      <a:r>
                        <a:rPr lang="zh-CN" sz="1200" kern="100" dirty="0">
                          <a:solidFill>
                            <a:schemeClr val="tx1"/>
                          </a:solidFill>
                        </a:rPr>
                        <a:t>复印件</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银行存折复印件或</a:t>
                      </a:r>
                      <a:r>
                        <a:rPr lang="zh-CN" sz="1200" b="1" kern="100" dirty="0">
                          <a:solidFill>
                            <a:srgbClr val="FF0000"/>
                          </a:solidFill>
                        </a:rPr>
                        <a:t>银行卡客户信息表</a:t>
                      </a:r>
                      <a:endParaRPr lang="zh-CN" sz="1200" b="1" kern="100" dirty="0">
                        <a:solidFill>
                          <a:srgbClr val="FF0000"/>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altLang="en-US" sz="1200" b="1" kern="100" dirty="0">
                          <a:solidFill>
                            <a:srgbClr val="FF0000"/>
                          </a:solidFill>
                        </a:rPr>
                        <a:t>理赔申请书</a:t>
                      </a:r>
                      <a:endParaRPr lang="zh-CN" sz="1200" b="1" kern="100" dirty="0">
                        <a:solidFill>
                          <a:srgbClr val="FF0000"/>
                        </a:solidFill>
                        <a:latin typeface="微软雅黑" pitchFamily="34" charset="-122"/>
                        <a:ea typeface="微软雅黑" pitchFamily="34" charset="-122"/>
                        <a:cs typeface="Times New Roman"/>
                      </a:endParaRPr>
                    </a:p>
                  </a:txBody>
                  <a:tcPr marL="68295" marR="68295" marT="0" marB="0" anchor="ctr"/>
                </a:tc>
                <a:extLst>
                  <a:ext uri="{0D108BD9-81ED-4DB2-BD59-A6C34878D82A}">
                    <a16:rowId xmlns:a16="http://schemas.microsoft.com/office/drawing/2014/main" val="10000"/>
                  </a:ext>
                </a:extLst>
              </a:tr>
              <a:tr h="288032">
                <a:tc>
                  <a:txBody>
                    <a:bodyPr/>
                    <a:lstStyle/>
                    <a:p>
                      <a:pPr algn="ctr">
                        <a:spcAft>
                          <a:spcPts val="0"/>
                        </a:spcAft>
                      </a:pPr>
                      <a:r>
                        <a:rPr lang="zh-CN" sz="1200" kern="100" dirty="0">
                          <a:solidFill>
                            <a:schemeClr val="tx1"/>
                          </a:solidFill>
                        </a:rPr>
                        <a:t>意外门诊</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endParaRPr lang="en-US"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endParaRPr lang="en-US"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kern="100" dirty="0">
                          <a:solidFill>
                            <a:schemeClr val="tx1"/>
                          </a:solidFill>
                        </a:rPr>
                        <a:t>需要</a:t>
                      </a:r>
                      <a:endParaRPr lang="zh-CN" altLang="zh-CN" sz="1200" kern="100" dirty="0">
                        <a:solidFill>
                          <a:schemeClr val="tx1"/>
                        </a:solidFill>
                        <a:latin typeface="微软雅黑" pitchFamily="34" charset="-122"/>
                        <a:ea typeface="微软雅黑" pitchFamily="34" charset="-122"/>
                        <a:cs typeface="Times New Roman"/>
                      </a:endParaRPr>
                    </a:p>
                  </a:txBody>
                  <a:tcPr marL="68295" marR="68295" marT="0" marB="0" anchor="ctr"/>
                </a:tc>
                <a:extLst>
                  <a:ext uri="{0D108BD9-81ED-4DB2-BD59-A6C34878D82A}">
                    <a16:rowId xmlns:a16="http://schemas.microsoft.com/office/drawing/2014/main" val="10001"/>
                  </a:ext>
                </a:extLst>
              </a:tr>
              <a:tr h="288032">
                <a:tc>
                  <a:txBody>
                    <a:bodyPr/>
                    <a:lstStyle/>
                    <a:p>
                      <a:pPr algn="ctr">
                        <a:spcAft>
                          <a:spcPts val="0"/>
                        </a:spcAft>
                      </a:pPr>
                      <a:r>
                        <a:rPr lang="zh-CN" sz="1200" kern="100">
                          <a:solidFill>
                            <a:schemeClr val="tx1"/>
                          </a:solidFill>
                        </a:rPr>
                        <a:t>疾病门诊</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a:solidFill>
                            <a:schemeClr val="tx1"/>
                          </a:solidFill>
                        </a:rPr>
                        <a:t>需要</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a:solidFill>
                            <a:schemeClr val="tx1"/>
                          </a:solidFill>
                        </a:rPr>
                        <a:t>需要</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endParaRPr lang="en-US"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endParaRPr lang="en-US"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endParaRPr lang="en-US"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kern="100" dirty="0">
                          <a:solidFill>
                            <a:schemeClr val="tx1"/>
                          </a:solidFill>
                        </a:rPr>
                        <a:t>需要</a:t>
                      </a:r>
                      <a:endParaRPr lang="zh-CN" altLang="zh-CN" sz="1200" kern="100" dirty="0">
                        <a:solidFill>
                          <a:schemeClr val="tx1"/>
                        </a:solidFill>
                        <a:latin typeface="微软雅黑" pitchFamily="34" charset="-122"/>
                        <a:ea typeface="微软雅黑" pitchFamily="34" charset="-122"/>
                        <a:cs typeface="Times New Roman"/>
                      </a:endParaRPr>
                    </a:p>
                  </a:txBody>
                  <a:tcPr marL="68295" marR="68295" marT="0" marB="0" anchor="ctr"/>
                </a:tc>
                <a:extLst>
                  <a:ext uri="{0D108BD9-81ED-4DB2-BD59-A6C34878D82A}">
                    <a16:rowId xmlns:a16="http://schemas.microsoft.com/office/drawing/2014/main" val="10002"/>
                  </a:ext>
                </a:extLst>
              </a:tr>
              <a:tr h="288032">
                <a:tc>
                  <a:txBody>
                    <a:bodyPr/>
                    <a:lstStyle/>
                    <a:p>
                      <a:pPr algn="ctr">
                        <a:spcAft>
                          <a:spcPts val="0"/>
                        </a:spcAft>
                      </a:pPr>
                      <a:r>
                        <a:rPr lang="zh-CN" sz="1200" kern="100">
                          <a:solidFill>
                            <a:schemeClr val="tx1"/>
                          </a:solidFill>
                        </a:rPr>
                        <a:t>住院（因意外）</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a:solidFill>
                            <a:schemeClr val="tx1"/>
                          </a:solidFill>
                        </a:rPr>
                        <a:t>需要</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a:solidFill>
                            <a:schemeClr val="tx1"/>
                          </a:solidFill>
                        </a:rPr>
                        <a:t>需要</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endParaRPr lang="en-US"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kern="100" dirty="0">
                          <a:solidFill>
                            <a:schemeClr val="tx1"/>
                          </a:solidFill>
                        </a:rPr>
                        <a:t>需要</a:t>
                      </a:r>
                      <a:endParaRPr lang="zh-CN" altLang="zh-CN" sz="1200" kern="100" dirty="0">
                        <a:solidFill>
                          <a:schemeClr val="tx1"/>
                        </a:solidFill>
                        <a:latin typeface="微软雅黑" pitchFamily="34" charset="-122"/>
                        <a:ea typeface="微软雅黑" pitchFamily="34" charset="-122"/>
                        <a:cs typeface="Times New Roman"/>
                      </a:endParaRPr>
                    </a:p>
                  </a:txBody>
                  <a:tcPr marL="68295" marR="68295" marT="0" marB="0" anchor="ctr"/>
                </a:tc>
                <a:extLst>
                  <a:ext uri="{0D108BD9-81ED-4DB2-BD59-A6C34878D82A}">
                    <a16:rowId xmlns:a16="http://schemas.microsoft.com/office/drawing/2014/main" val="10003"/>
                  </a:ext>
                </a:extLst>
              </a:tr>
              <a:tr h="288032">
                <a:tc>
                  <a:txBody>
                    <a:bodyPr/>
                    <a:lstStyle/>
                    <a:p>
                      <a:pPr algn="ctr">
                        <a:spcAft>
                          <a:spcPts val="0"/>
                        </a:spcAft>
                      </a:pPr>
                      <a:r>
                        <a:rPr lang="zh-CN" sz="1200" kern="100">
                          <a:solidFill>
                            <a:schemeClr val="tx1"/>
                          </a:solidFill>
                        </a:rPr>
                        <a:t>住院（因疾病）</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a:solidFill>
                            <a:schemeClr val="tx1"/>
                          </a:solidFill>
                        </a:rPr>
                        <a:t>需要</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endParaRPr lang="en-US"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a:solidFill>
                            <a:schemeClr val="tx1"/>
                          </a:solidFill>
                        </a:rPr>
                        <a:t>需要</a:t>
                      </a:r>
                      <a:endParaRPr lang="zh-CN" sz="1200" kern="10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endParaRPr lang="en-US"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algn="ctr">
                        <a:spcAft>
                          <a:spcPts val="0"/>
                        </a:spcAft>
                      </a:pPr>
                      <a:r>
                        <a:rPr lang="zh-CN" sz="1200" kern="100" dirty="0">
                          <a:solidFill>
                            <a:schemeClr val="tx1"/>
                          </a:solidFill>
                        </a:rPr>
                        <a:t>需要</a:t>
                      </a:r>
                      <a:endParaRPr lang="zh-CN" sz="1200" kern="100" dirty="0">
                        <a:solidFill>
                          <a:schemeClr val="tx1"/>
                        </a:solidFill>
                        <a:latin typeface="微软雅黑" pitchFamily="34" charset="-122"/>
                        <a:ea typeface="微软雅黑" pitchFamily="34" charset="-122"/>
                        <a:cs typeface="Times New Roman"/>
                      </a:endParaRPr>
                    </a:p>
                  </a:txBody>
                  <a:tcPr marL="68295" marR="6829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kern="100" dirty="0">
                          <a:solidFill>
                            <a:schemeClr val="tx1"/>
                          </a:solidFill>
                        </a:rPr>
                        <a:t>需要</a:t>
                      </a:r>
                      <a:endParaRPr lang="zh-CN" altLang="zh-CN" sz="1200" kern="100" dirty="0">
                        <a:solidFill>
                          <a:schemeClr val="tx1"/>
                        </a:solidFill>
                        <a:latin typeface="微软雅黑" pitchFamily="34" charset="-122"/>
                        <a:ea typeface="微软雅黑" pitchFamily="34" charset="-122"/>
                        <a:cs typeface="Times New Roman"/>
                      </a:endParaRPr>
                    </a:p>
                  </a:txBody>
                  <a:tcPr marL="68295" marR="68295" marT="0" marB="0" anchor="ctr"/>
                </a:tc>
                <a:extLst>
                  <a:ext uri="{0D108BD9-81ED-4DB2-BD59-A6C34878D82A}">
                    <a16:rowId xmlns:a16="http://schemas.microsoft.com/office/drawing/2014/main" val="10004"/>
                  </a:ext>
                </a:extLst>
              </a:tr>
            </a:tbl>
          </a:graphicData>
        </a:graphic>
      </p:graphicFrame>
      <p:sp>
        <p:nvSpPr>
          <p:cNvPr id="10" name="矩形 9"/>
          <p:cNvSpPr/>
          <p:nvPr/>
        </p:nvSpPr>
        <p:spPr>
          <a:xfrm>
            <a:off x="680789" y="3304993"/>
            <a:ext cx="8221510" cy="1477328"/>
          </a:xfrm>
          <a:prstGeom prst="rect">
            <a:avLst/>
          </a:prstGeom>
        </p:spPr>
        <p:txBody>
          <a:bodyPr wrap="square">
            <a:spAutoFit/>
          </a:bodyPr>
          <a:lstStyle/>
          <a:p>
            <a:pPr>
              <a:lnSpc>
                <a:spcPct val="150000"/>
              </a:lnSpc>
            </a:pPr>
            <a:r>
              <a:rPr lang="en-US" altLang="zh-CN" sz="1200" b="1" dirty="0">
                <a:solidFill>
                  <a:srgbClr val="000000"/>
                </a:solidFill>
                <a:latin typeface="+mn-ea"/>
                <a:ea typeface="+mn-ea"/>
              </a:rPr>
              <a:t>    </a:t>
            </a:r>
            <a:r>
              <a:rPr lang="zh-CN" altLang="zh-CN" sz="1200" b="1" dirty="0">
                <a:solidFill>
                  <a:srgbClr val="000000"/>
                </a:solidFill>
                <a:latin typeface="+mn-ea"/>
                <a:ea typeface="+mn-ea"/>
              </a:rPr>
              <a:t>注意事项：</a:t>
            </a:r>
          </a:p>
          <a:p>
            <a:pPr>
              <a:lnSpc>
                <a:spcPct val="150000"/>
              </a:lnSpc>
            </a:pPr>
            <a:r>
              <a:rPr lang="en-US" altLang="zh-CN" sz="1200" b="1" dirty="0">
                <a:solidFill>
                  <a:srgbClr val="000000"/>
                </a:solidFill>
                <a:latin typeface="+mn-ea"/>
                <a:ea typeface="+mn-ea"/>
              </a:rPr>
              <a:t>1</a:t>
            </a:r>
            <a:r>
              <a:rPr lang="zh-CN" altLang="zh-CN" sz="1200" b="1" dirty="0">
                <a:solidFill>
                  <a:srgbClr val="000000"/>
                </a:solidFill>
                <a:latin typeface="+mn-ea"/>
                <a:ea typeface="+mn-ea"/>
              </a:rPr>
              <a:t>、就诊前务必拨打电话</a:t>
            </a:r>
            <a:r>
              <a:rPr lang="en-US" altLang="zh-CN" sz="1200" b="1" dirty="0">
                <a:solidFill>
                  <a:srgbClr val="000000"/>
                </a:solidFill>
                <a:latin typeface="+mn-ea"/>
                <a:ea typeface="+mn-ea"/>
              </a:rPr>
              <a:t>4008105119</a:t>
            </a:r>
            <a:r>
              <a:rPr lang="zh-CN" altLang="zh-CN" sz="1200" b="1" dirty="0">
                <a:solidFill>
                  <a:srgbClr val="000000"/>
                </a:solidFill>
                <a:latin typeface="+mn-ea"/>
                <a:ea typeface="+mn-ea"/>
              </a:rPr>
              <a:t>进行寻诊；</a:t>
            </a:r>
          </a:p>
          <a:p>
            <a:pPr>
              <a:lnSpc>
                <a:spcPct val="150000"/>
              </a:lnSpc>
            </a:pPr>
            <a:r>
              <a:rPr lang="en-US" altLang="zh-CN" sz="1200" b="1" dirty="0">
                <a:solidFill>
                  <a:srgbClr val="000000"/>
                </a:solidFill>
                <a:latin typeface="+mn-ea"/>
                <a:ea typeface="+mn-ea"/>
              </a:rPr>
              <a:t>2</a:t>
            </a:r>
            <a:r>
              <a:rPr lang="zh-CN" altLang="zh-CN" sz="1200" b="1" dirty="0">
                <a:solidFill>
                  <a:srgbClr val="000000"/>
                </a:solidFill>
                <a:latin typeface="+mn-ea"/>
                <a:ea typeface="+mn-ea"/>
              </a:rPr>
              <a:t>、意外事故须提供意外事故证明及相关部门的定性材料（如：交通事故须出具交通部门的交通事故责任认定书等）；</a:t>
            </a:r>
          </a:p>
          <a:p>
            <a:pPr>
              <a:lnSpc>
                <a:spcPct val="150000"/>
              </a:lnSpc>
            </a:pPr>
            <a:r>
              <a:rPr lang="en-US" altLang="zh-CN" sz="1200" b="1" dirty="0">
                <a:solidFill>
                  <a:srgbClr val="000000"/>
                </a:solidFill>
                <a:latin typeface="+mn-ea"/>
                <a:ea typeface="+mn-ea"/>
              </a:rPr>
              <a:t>3</a:t>
            </a:r>
            <a:r>
              <a:rPr lang="zh-CN" altLang="zh-CN" sz="1200" b="1" dirty="0">
                <a:solidFill>
                  <a:srgbClr val="000000"/>
                </a:solidFill>
                <a:latin typeface="+mn-ea"/>
                <a:ea typeface="+mn-ea"/>
              </a:rPr>
              <a:t>、银行账户信息必需包括账号、帐户名和开户行信息。</a:t>
            </a:r>
            <a:endParaRPr lang="en-US" altLang="zh-CN" sz="1200" b="1" dirty="0">
              <a:solidFill>
                <a:srgbClr val="000000"/>
              </a:solidFill>
              <a:latin typeface="+mn-ea"/>
              <a:ea typeface="+mn-ea"/>
            </a:endParaRPr>
          </a:p>
          <a:p>
            <a:pPr>
              <a:lnSpc>
                <a:spcPct val="150000"/>
              </a:lnSpc>
            </a:pPr>
            <a:r>
              <a:rPr lang="en-US" altLang="zh-CN" sz="1200" b="1" dirty="0">
                <a:solidFill>
                  <a:srgbClr val="000000"/>
                </a:solidFill>
                <a:latin typeface="+mn-ea"/>
                <a:ea typeface="+mn-ea"/>
              </a:rPr>
              <a:t>4</a:t>
            </a:r>
            <a:r>
              <a:rPr lang="zh-CN" altLang="en-US" sz="1200" b="1" dirty="0">
                <a:solidFill>
                  <a:srgbClr val="000000"/>
                </a:solidFill>
                <a:latin typeface="+mn-ea"/>
                <a:ea typeface="+mn-ea"/>
              </a:rPr>
              <a:t>、治疗结束后，请尽快提交理赔材料。</a:t>
            </a:r>
            <a:endParaRPr lang="zh-CN" altLang="zh-CN" sz="1200" b="1" dirty="0">
              <a:solidFill>
                <a:srgbClr val="000000"/>
              </a:solidFill>
              <a:latin typeface="+mn-ea"/>
              <a:ea typeface="+mn-ea"/>
            </a:endParaRPr>
          </a:p>
        </p:txBody>
      </p:sp>
      <p:grpSp>
        <p:nvGrpSpPr>
          <p:cNvPr id="11" name="组合 10"/>
          <p:cNvGrpSpPr/>
          <p:nvPr/>
        </p:nvGrpSpPr>
        <p:grpSpPr>
          <a:xfrm>
            <a:off x="0" y="627534"/>
            <a:ext cx="3311923" cy="71438"/>
            <a:chOff x="0" y="523875"/>
            <a:chExt cx="3311923" cy="71438"/>
          </a:xfrm>
        </p:grpSpPr>
        <p:cxnSp>
          <p:nvCxnSpPr>
            <p:cNvPr id="12" name="直接连接符 11"/>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5" name="五角星 4"/>
          <p:cNvSpPr/>
          <p:nvPr/>
        </p:nvSpPr>
        <p:spPr>
          <a:xfrm>
            <a:off x="480267" y="3304793"/>
            <a:ext cx="391465" cy="288032"/>
          </a:xfrm>
          <a:prstGeom prst="star5">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 name="文本框 6">
            <a:extLst>
              <a:ext uri="{FF2B5EF4-FFF2-40B4-BE49-F238E27FC236}">
                <a16:creationId xmlns:a16="http://schemas.microsoft.com/office/drawing/2014/main" id="{4F812ADB-AF03-EC52-BE04-68FFC205CB57}"/>
              </a:ext>
            </a:extLst>
          </p:cNvPr>
          <p:cNvSpPr txBox="1"/>
          <p:nvPr/>
        </p:nvSpPr>
        <p:spPr>
          <a:xfrm>
            <a:off x="187648" y="159677"/>
            <a:ext cx="4603896" cy="369332"/>
          </a:xfrm>
          <a:prstGeom prst="rect">
            <a:avLst/>
          </a:prstGeom>
          <a:noFill/>
        </p:spPr>
        <p:txBody>
          <a:bodyPr wrap="square">
            <a:spAutoFit/>
          </a:bodyPr>
          <a:lstStyle/>
          <a:p>
            <a:r>
              <a:rPr lang="zh-CN" altLang="en-US" sz="1800" b="1" cap="small" dirty="0">
                <a:solidFill>
                  <a:schemeClr val="tx1"/>
                </a:solidFill>
                <a:latin typeface="微软雅黑" pitchFamily="34" charset="-122"/>
                <a:ea typeface="微软雅黑" pitchFamily="34" charset="-122"/>
              </a:rPr>
              <a:t>保险使用方法 </a:t>
            </a:r>
            <a:r>
              <a:rPr lang="en-US" altLang="zh-CN" sz="1800" b="1" dirty="0">
                <a:latin typeface="微软雅黑" pitchFamily="34" charset="-122"/>
                <a:ea typeface="微软雅黑" pitchFamily="34" charset="-122"/>
              </a:rPr>
              <a:t>Insurance instruction</a:t>
            </a:r>
            <a:endParaRPr lang="zh-CN" altLang="en-US" dirty="0"/>
          </a:p>
        </p:txBody>
      </p:sp>
    </p:spTree>
    <p:extLst>
      <p:ext uri="{BB962C8B-B14F-4D97-AF65-F5344CB8AC3E}">
        <p14:creationId xmlns:p14="http://schemas.microsoft.com/office/powerpoint/2010/main" val="12905474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extLst>
              <p:ext uri="{D42A27DB-BD31-4B8C-83A1-F6EECF244321}">
                <p14:modId xmlns:p14="http://schemas.microsoft.com/office/powerpoint/2010/main" val="2283281913"/>
              </p:ext>
            </p:extLst>
          </p:nvPr>
        </p:nvGraphicFramePr>
        <p:xfrm>
          <a:off x="531180" y="981988"/>
          <a:ext cx="8172908" cy="2777928"/>
        </p:xfrm>
        <a:graphic>
          <a:graphicData uri="http://schemas.openxmlformats.org/drawingml/2006/table">
            <a:tbl>
              <a:tblPr firstRow="1" firstCol="1" bandRow="1">
                <a:tableStyleId>{0505E3EF-67EA-436B-97B2-0124C06EBD24}</a:tableStyleId>
              </a:tblPr>
              <a:tblGrid>
                <a:gridCol w="1372643">
                  <a:extLst>
                    <a:ext uri="{9D8B030D-6E8A-4147-A177-3AD203B41FA5}">
                      <a16:colId xmlns:a16="http://schemas.microsoft.com/office/drawing/2014/main" val="20000"/>
                    </a:ext>
                  </a:extLst>
                </a:gridCol>
                <a:gridCol w="692272">
                  <a:extLst>
                    <a:ext uri="{9D8B030D-6E8A-4147-A177-3AD203B41FA5}">
                      <a16:colId xmlns:a16="http://schemas.microsoft.com/office/drawing/2014/main" val="20001"/>
                    </a:ext>
                  </a:extLst>
                </a:gridCol>
                <a:gridCol w="628782">
                  <a:extLst>
                    <a:ext uri="{9D8B030D-6E8A-4147-A177-3AD203B41FA5}">
                      <a16:colId xmlns:a16="http://schemas.microsoft.com/office/drawing/2014/main" val="20002"/>
                    </a:ext>
                  </a:extLst>
                </a:gridCol>
                <a:gridCol w="1166383">
                  <a:extLst>
                    <a:ext uri="{9D8B030D-6E8A-4147-A177-3AD203B41FA5}">
                      <a16:colId xmlns:a16="http://schemas.microsoft.com/office/drawing/2014/main" val="20003"/>
                    </a:ext>
                  </a:extLst>
                </a:gridCol>
                <a:gridCol w="807984">
                  <a:extLst>
                    <a:ext uri="{9D8B030D-6E8A-4147-A177-3AD203B41FA5}">
                      <a16:colId xmlns:a16="http://schemas.microsoft.com/office/drawing/2014/main" val="20004"/>
                    </a:ext>
                  </a:extLst>
                </a:gridCol>
                <a:gridCol w="721865">
                  <a:extLst>
                    <a:ext uri="{9D8B030D-6E8A-4147-A177-3AD203B41FA5}">
                      <a16:colId xmlns:a16="http://schemas.microsoft.com/office/drawing/2014/main" val="20005"/>
                    </a:ext>
                  </a:extLst>
                </a:gridCol>
                <a:gridCol w="987181">
                  <a:extLst>
                    <a:ext uri="{9D8B030D-6E8A-4147-A177-3AD203B41FA5}">
                      <a16:colId xmlns:a16="http://schemas.microsoft.com/office/drawing/2014/main" val="20006"/>
                    </a:ext>
                  </a:extLst>
                </a:gridCol>
                <a:gridCol w="897899">
                  <a:extLst>
                    <a:ext uri="{9D8B030D-6E8A-4147-A177-3AD203B41FA5}">
                      <a16:colId xmlns:a16="http://schemas.microsoft.com/office/drawing/2014/main" val="20007"/>
                    </a:ext>
                  </a:extLst>
                </a:gridCol>
                <a:gridCol w="897899">
                  <a:extLst>
                    <a:ext uri="{9D8B030D-6E8A-4147-A177-3AD203B41FA5}">
                      <a16:colId xmlns:a16="http://schemas.microsoft.com/office/drawing/2014/main" val="20008"/>
                    </a:ext>
                  </a:extLst>
                </a:gridCol>
              </a:tblGrid>
              <a:tr h="1152128">
                <a:tc>
                  <a:txBody>
                    <a:bodyPr/>
                    <a:lstStyle/>
                    <a:p>
                      <a:pPr marL="200025" indent="-200025" algn="l">
                        <a:spcAft>
                          <a:spcPts val="0"/>
                        </a:spcAft>
                      </a:pPr>
                      <a:r>
                        <a:rPr lang="en-US" sz="1050" kern="100" dirty="0">
                          <a:solidFill>
                            <a:schemeClr val="tx1"/>
                          </a:solidFill>
                          <a:effectLst/>
                        </a:rPr>
                        <a:t>    </a:t>
                      </a:r>
                      <a:endParaRPr lang="zh-CN" sz="1050" kern="100" dirty="0">
                        <a:solidFill>
                          <a:schemeClr val="tx1"/>
                        </a:solidFill>
                        <a:effectLst/>
                      </a:endParaRPr>
                    </a:p>
                    <a:p>
                      <a:pPr marL="200025" indent="266700" algn="l">
                        <a:spcAft>
                          <a:spcPts val="0"/>
                        </a:spcAft>
                      </a:pPr>
                      <a:r>
                        <a:rPr lang="en-US" sz="1050" kern="100" dirty="0">
                          <a:solidFill>
                            <a:schemeClr val="tx1"/>
                          </a:solidFill>
                          <a:effectLst/>
                        </a:rPr>
                        <a:t>Documents</a:t>
                      </a:r>
                      <a:endParaRPr lang="zh-CN" sz="1050" kern="100" dirty="0">
                        <a:solidFill>
                          <a:schemeClr val="tx1"/>
                        </a:solidFill>
                        <a:effectLst/>
                      </a:endParaRPr>
                    </a:p>
                    <a:p>
                      <a:pPr marL="600075" indent="-600075" algn="l">
                        <a:spcAft>
                          <a:spcPts val="0"/>
                        </a:spcAft>
                      </a:pPr>
                      <a:r>
                        <a:rPr lang="en-US" sz="1050" kern="100" dirty="0">
                          <a:solidFill>
                            <a:schemeClr val="tx1"/>
                          </a:solidFill>
                          <a:effectLst/>
                        </a:rPr>
                        <a:t>                 for Claims</a:t>
                      </a:r>
                      <a:endParaRPr lang="zh-CN" sz="1050" kern="100" dirty="0">
                        <a:solidFill>
                          <a:schemeClr val="tx1"/>
                        </a:solidFill>
                        <a:effectLst/>
                      </a:endParaRPr>
                    </a:p>
                    <a:p>
                      <a:pPr algn="l">
                        <a:spcAft>
                          <a:spcPts val="0"/>
                        </a:spcAft>
                      </a:pPr>
                      <a:r>
                        <a:rPr lang="en-US" sz="1050" kern="100" dirty="0">
                          <a:solidFill>
                            <a:schemeClr val="tx1"/>
                          </a:solidFill>
                          <a:effectLst/>
                        </a:rPr>
                        <a:t> </a:t>
                      </a:r>
                      <a:endParaRPr lang="zh-CN" sz="1050" kern="100" dirty="0">
                        <a:solidFill>
                          <a:schemeClr val="tx1"/>
                        </a:solidFill>
                        <a:effectLst/>
                      </a:endParaRPr>
                    </a:p>
                    <a:p>
                      <a:pPr algn="l">
                        <a:spcAft>
                          <a:spcPts val="0"/>
                        </a:spcAft>
                      </a:pPr>
                      <a:r>
                        <a:rPr lang="en-US" sz="1050" kern="100" dirty="0">
                          <a:solidFill>
                            <a:schemeClr val="tx1"/>
                          </a:solidFill>
                          <a:effectLst/>
                        </a:rPr>
                        <a:t>Insurance</a:t>
                      </a:r>
                      <a:endParaRPr lang="zh-CN" sz="1050" kern="100" dirty="0">
                        <a:solidFill>
                          <a:schemeClr val="tx1"/>
                        </a:solidFill>
                        <a:effectLst/>
                      </a:endParaRPr>
                    </a:p>
                    <a:p>
                      <a:pPr algn="l">
                        <a:spcAft>
                          <a:spcPts val="0"/>
                        </a:spcAft>
                      </a:pPr>
                      <a:r>
                        <a:rPr lang="en-US" sz="1050" kern="100" dirty="0">
                          <a:solidFill>
                            <a:schemeClr val="tx1"/>
                          </a:solidFill>
                          <a:effectLst/>
                        </a:rPr>
                        <a:t>Liabilities</a:t>
                      </a:r>
                      <a:endParaRPr lang="zh-CN" sz="1050" kern="100" dirty="0">
                        <a:solidFill>
                          <a:schemeClr val="tx1"/>
                        </a:solidFill>
                        <a:effectLst/>
                        <a:latin typeface="Calibri"/>
                        <a:ea typeface="宋体"/>
                        <a:cs typeface="Times New Roman"/>
                      </a:endParaRPr>
                    </a:p>
                  </a:txBody>
                  <a:tcPr marL="68580" marR="68580" marT="0" marB="0"/>
                </a:tc>
                <a:tc>
                  <a:txBody>
                    <a:bodyPr/>
                    <a:lstStyle/>
                    <a:p>
                      <a:pPr algn="l">
                        <a:spcAft>
                          <a:spcPts val="0"/>
                        </a:spcAft>
                      </a:pPr>
                      <a:r>
                        <a:rPr lang="en-US" sz="1050" kern="100" dirty="0">
                          <a:solidFill>
                            <a:schemeClr val="tx1"/>
                          </a:solidFill>
                          <a:effectLst/>
                        </a:rPr>
                        <a:t>Copy of passport and visa page</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l">
                        <a:spcAft>
                          <a:spcPts val="0"/>
                        </a:spcAft>
                      </a:pPr>
                      <a:r>
                        <a:rPr lang="en-US" sz="1050" kern="100" dirty="0">
                          <a:solidFill>
                            <a:schemeClr val="tx1"/>
                          </a:solidFill>
                          <a:effectLst/>
                        </a:rPr>
                        <a:t> </a:t>
                      </a:r>
                      <a:endParaRPr lang="zh-CN" sz="1050" kern="100" dirty="0">
                        <a:solidFill>
                          <a:schemeClr val="tx1"/>
                        </a:solidFill>
                        <a:effectLst/>
                      </a:endParaRPr>
                    </a:p>
                    <a:p>
                      <a:pPr algn="l">
                        <a:spcAft>
                          <a:spcPts val="0"/>
                        </a:spcAft>
                      </a:pPr>
                      <a:r>
                        <a:rPr lang="en-US" sz="1050" kern="100" dirty="0">
                          <a:solidFill>
                            <a:schemeClr val="tx1"/>
                          </a:solidFill>
                          <a:effectLst/>
                        </a:rPr>
                        <a:t>Original </a:t>
                      </a:r>
                      <a:r>
                        <a:rPr lang="en-US" altLang="zh-CN" sz="1050" kern="100" dirty="0">
                          <a:solidFill>
                            <a:schemeClr val="tx1"/>
                          </a:solidFill>
                          <a:effectLst/>
                        </a:rPr>
                        <a:t>invoices</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l">
                        <a:spcAft>
                          <a:spcPts val="0"/>
                        </a:spcAft>
                      </a:pPr>
                      <a:r>
                        <a:rPr lang="en-US" sz="1050" kern="100" dirty="0">
                          <a:solidFill>
                            <a:schemeClr val="tx1"/>
                          </a:solidFill>
                          <a:effectLst/>
                        </a:rPr>
                        <a:t>Medical </a:t>
                      </a:r>
                      <a:r>
                        <a:rPr lang="en-US" sz="1050" b="1" kern="100" dirty="0">
                          <a:solidFill>
                            <a:srgbClr val="C00000"/>
                          </a:solidFill>
                          <a:effectLst/>
                        </a:rPr>
                        <a:t>record(the date in every medical record should be corresponding to the date in every receipt)</a:t>
                      </a:r>
                      <a:endParaRPr lang="zh-CN" sz="1050" b="1" kern="100" dirty="0">
                        <a:solidFill>
                          <a:srgbClr val="C00000"/>
                        </a:solidFill>
                        <a:effectLst/>
                        <a:latin typeface="Calibri"/>
                        <a:ea typeface="宋体"/>
                        <a:cs typeface="Times New Roman"/>
                      </a:endParaRPr>
                    </a:p>
                  </a:txBody>
                  <a:tcPr marL="68580" marR="68580" marT="0" marB="0" anchor="ctr"/>
                </a:tc>
                <a:tc>
                  <a:txBody>
                    <a:bodyPr/>
                    <a:lstStyle/>
                    <a:p>
                      <a:pPr algn="l">
                        <a:spcAft>
                          <a:spcPts val="0"/>
                        </a:spcAft>
                      </a:pPr>
                      <a:r>
                        <a:rPr lang="en-US" sz="1050" kern="100" dirty="0">
                          <a:solidFill>
                            <a:schemeClr val="tx1"/>
                          </a:solidFill>
                          <a:effectLst/>
                        </a:rPr>
                        <a:t>Original of detailed expenditure sheet</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l">
                        <a:spcAft>
                          <a:spcPts val="0"/>
                        </a:spcAft>
                      </a:pPr>
                      <a:r>
                        <a:rPr lang="en-US" sz="1050" kern="100" dirty="0">
                          <a:solidFill>
                            <a:schemeClr val="tx1"/>
                          </a:solidFill>
                          <a:effectLst/>
                        </a:rPr>
                        <a:t>Course and certificate of accident</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l">
                        <a:spcAft>
                          <a:spcPts val="0"/>
                        </a:spcAft>
                      </a:pPr>
                      <a:r>
                        <a:rPr lang="en-US" sz="1050" kern="100" dirty="0">
                          <a:solidFill>
                            <a:schemeClr val="tx1"/>
                          </a:solidFill>
                          <a:effectLst/>
                        </a:rPr>
                        <a:t>Copy of hospital discharge summary or medical record of hospitalization</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l">
                        <a:spcAft>
                          <a:spcPts val="0"/>
                        </a:spcAft>
                      </a:pPr>
                      <a:r>
                        <a:rPr lang="en-US" sz="1050" kern="100" dirty="0">
                          <a:solidFill>
                            <a:schemeClr val="tx1"/>
                          </a:solidFill>
                          <a:effectLst/>
                        </a:rPr>
                        <a:t>Copy of passbook or information sheet of </a:t>
                      </a:r>
                      <a:r>
                        <a:rPr lang="en-US" sz="1050" kern="100" dirty="0">
                          <a:solidFill>
                            <a:srgbClr val="C00000"/>
                          </a:solidFill>
                          <a:effectLst/>
                        </a:rPr>
                        <a:t>bank card customer </a:t>
                      </a:r>
                      <a:endParaRPr lang="zh-CN" sz="1050" kern="100" dirty="0">
                        <a:solidFill>
                          <a:srgbClr val="C00000"/>
                        </a:solidFill>
                        <a:effectLst/>
                        <a:latin typeface="Calibri"/>
                        <a:ea typeface="宋体"/>
                        <a:cs typeface="Times New Roman"/>
                      </a:endParaRPr>
                    </a:p>
                  </a:txBody>
                  <a:tcPr marL="68580" marR="68580" marT="0" marB="0" anchor="ctr"/>
                </a:tc>
                <a:tc>
                  <a:txBody>
                    <a:bodyPr/>
                    <a:lstStyle/>
                    <a:p>
                      <a:pPr algn="l">
                        <a:spcAft>
                          <a:spcPts val="0"/>
                        </a:spcAft>
                      </a:pPr>
                      <a:r>
                        <a:rPr lang="en-US" altLang="zh-CN" sz="1050" kern="100" dirty="0">
                          <a:solidFill>
                            <a:srgbClr val="C00000"/>
                          </a:solidFill>
                          <a:effectLst/>
                        </a:rPr>
                        <a:t>Claim application form</a:t>
                      </a:r>
                      <a:endParaRPr lang="zh-CN" sz="1050" kern="100" dirty="0">
                        <a:solidFill>
                          <a:srgbClr val="C00000"/>
                        </a:solidFill>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74442">
                <a:tc>
                  <a:txBody>
                    <a:bodyPr/>
                    <a:lstStyle/>
                    <a:p>
                      <a:pPr algn="l">
                        <a:spcAft>
                          <a:spcPts val="0"/>
                        </a:spcAft>
                      </a:pPr>
                      <a:r>
                        <a:rPr lang="en-US" sz="1050" kern="100" dirty="0">
                          <a:solidFill>
                            <a:schemeClr val="tx1"/>
                          </a:solidFill>
                          <a:effectLst/>
                        </a:rPr>
                        <a:t>Outpatient(because of accident)</a:t>
                      </a:r>
                      <a:endParaRPr lang="zh-CN" sz="1050" kern="100" dirty="0">
                        <a:solidFill>
                          <a:schemeClr val="tx1"/>
                        </a:solidFill>
                        <a:effectLst/>
                        <a:latin typeface="Calibri"/>
                        <a:ea typeface="宋体"/>
                        <a:cs typeface="Times New Roman"/>
                      </a:endParaRPr>
                    </a:p>
                  </a:txBody>
                  <a:tcPr marL="68580" marR="68580" marT="0" marB="0"/>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00" dirty="0">
                          <a:solidFill>
                            <a:schemeClr val="tx1"/>
                          </a:solidFill>
                          <a:effectLst/>
                        </a:rPr>
                        <a:t>Needful </a:t>
                      </a:r>
                      <a:endParaRPr lang="zh-CN" altLang="zh-CN" sz="1050" kern="100" dirty="0">
                        <a:solidFill>
                          <a:schemeClr val="tx1"/>
                        </a:solidFill>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74442">
                <a:tc>
                  <a:txBody>
                    <a:bodyPr/>
                    <a:lstStyle/>
                    <a:p>
                      <a:pPr algn="l">
                        <a:spcAft>
                          <a:spcPts val="0"/>
                        </a:spcAft>
                      </a:pPr>
                      <a:r>
                        <a:rPr lang="en-US" sz="1050" kern="100" dirty="0">
                          <a:solidFill>
                            <a:schemeClr val="tx1"/>
                          </a:solidFill>
                          <a:effectLst/>
                        </a:rPr>
                        <a:t>Outpatient(because of disease)</a:t>
                      </a:r>
                      <a:endParaRPr lang="zh-CN" sz="1050" kern="100" dirty="0">
                        <a:solidFill>
                          <a:schemeClr val="tx1"/>
                        </a:solidFill>
                        <a:effectLst/>
                        <a:latin typeface="Calibri"/>
                        <a:ea typeface="宋体"/>
                        <a:cs typeface="Times New Roman"/>
                      </a:endParaRPr>
                    </a:p>
                  </a:txBody>
                  <a:tcPr marL="68580" marR="68580" marT="0" marB="0"/>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00" dirty="0">
                          <a:solidFill>
                            <a:schemeClr val="tx1"/>
                          </a:solidFill>
                          <a:effectLst/>
                        </a:rPr>
                        <a:t>Needful </a:t>
                      </a:r>
                      <a:endParaRPr lang="zh-CN" altLang="zh-CN" sz="1050" kern="100" dirty="0">
                        <a:solidFill>
                          <a:schemeClr val="tx1"/>
                        </a:solidFill>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74442">
                <a:tc>
                  <a:txBody>
                    <a:bodyPr/>
                    <a:lstStyle/>
                    <a:p>
                      <a:pPr algn="l">
                        <a:spcAft>
                          <a:spcPts val="0"/>
                        </a:spcAft>
                      </a:pPr>
                      <a:r>
                        <a:rPr lang="en-US" sz="1050" kern="100" dirty="0">
                          <a:solidFill>
                            <a:schemeClr val="tx1"/>
                          </a:solidFill>
                          <a:effectLst/>
                        </a:rPr>
                        <a:t>Hospitalization(because of accident)</a:t>
                      </a:r>
                      <a:endParaRPr lang="zh-CN" sz="1050" kern="100" dirty="0">
                        <a:solidFill>
                          <a:schemeClr val="tx1"/>
                        </a:solidFill>
                        <a:effectLst/>
                        <a:latin typeface="Calibri"/>
                        <a:ea typeface="宋体"/>
                        <a:cs typeface="Times New Roman"/>
                      </a:endParaRPr>
                    </a:p>
                  </a:txBody>
                  <a:tcPr marL="68580" marR="68580" marT="0" marB="0"/>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00" dirty="0">
                          <a:solidFill>
                            <a:schemeClr val="tx1"/>
                          </a:solidFill>
                          <a:effectLst/>
                        </a:rPr>
                        <a:t>Needful </a:t>
                      </a:r>
                      <a:endParaRPr lang="zh-CN" altLang="zh-CN" sz="1050" kern="100" dirty="0">
                        <a:solidFill>
                          <a:schemeClr val="tx1"/>
                        </a:solidFill>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74442">
                <a:tc>
                  <a:txBody>
                    <a:bodyPr/>
                    <a:lstStyle/>
                    <a:p>
                      <a:pPr algn="l">
                        <a:spcAft>
                          <a:spcPts val="0"/>
                        </a:spcAft>
                      </a:pPr>
                      <a:r>
                        <a:rPr lang="en-US" sz="1050" kern="100" dirty="0">
                          <a:solidFill>
                            <a:schemeClr val="tx1"/>
                          </a:solidFill>
                          <a:effectLst/>
                        </a:rPr>
                        <a:t>Hospitalization(because of disease)</a:t>
                      </a:r>
                      <a:endParaRPr lang="zh-CN" sz="1050" kern="100" dirty="0">
                        <a:solidFill>
                          <a:schemeClr val="tx1"/>
                        </a:solidFill>
                        <a:effectLst/>
                        <a:latin typeface="Calibri"/>
                        <a:ea typeface="宋体"/>
                        <a:cs typeface="Times New Roman"/>
                      </a:endParaRPr>
                    </a:p>
                  </a:txBody>
                  <a:tcPr marL="68580" marR="68580" marT="0" marB="0"/>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algn="ctr">
                        <a:spcAft>
                          <a:spcPts val="0"/>
                        </a:spcAft>
                      </a:pPr>
                      <a:r>
                        <a:rPr lang="en-US" sz="1050" kern="100" dirty="0">
                          <a:solidFill>
                            <a:schemeClr val="tx1"/>
                          </a:solidFill>
                          <a:effectLst/>
                        </a:rPr>
                        <a:t>Needful </a:t>
                      </a:r>
                      <a:endParaRPr lang="zh-CN" sz="1050" kern="100" dirty="0">
                        <a:solidFill>
                          <a:schemeClr val="tx1"/>
                        </a:solidFill>
                        <a:effectLst/>
                        <a:latin typeface="Calibri"/>
                        <a:ea typeface="宋体"/>
                        <a:cs typeface="Times New Roman"/>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00" dirty="0">
                          <a:solidFill>
                            <a:schemeClr val="tx1"/>
                          </a:solidFill>
                          <a:effectLst/>
                        </a:rPr>
                        <a:t>Needful </a:t>
                      </a:r>
                      <a:endParaRPr lang="zh-CN" altLang="zh-CN" sz="1050" kern="100" dirty="0">
                        <a:solidFill>
                          <a:schemeClr val="tx1"/>
                        </a:solidFill>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cxnSp>
        <p:nvCxnSpPr>
          <p:cNvPr id="12" name="直接连接符 11"/>
          <p:cNvCxnSpPr/>
          <p:nvPr/>
        </p:nvCxnSpPr>
        <p:spPr>
          <a:xfrm>
            <a:off x="545555" y="1013185"/>
            <a:ext cx="1362149" cy="1198525"/>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38999" y="3791113"/>
            <a:ext cx="8119614" cy="1200329"/>
          </a:xfrm>
          <a:prstGeom prst="rect">
            <a:avLst/>
          </a:prstGeom>
        </p:spPr>
        <p:txBody>
          <a:bodyPr wrap="square">
            <a:spAutoFit/>
          </a:bodyPr>
          <a:lstStyle/>
          <a:p>
            <a:r>
              <a:rPr lang="en-US" altLang="zh-CN" sz="1200" dirty="0"/>
              <a:t>    Please pay attention to the following matters:</a:t>
            </a:r>
            <a:endParaRPr lang="en-US" altLang="zh-CN" sz="1200" dirty="0">
              <a:latin typeface="Aparajita" pitchFamily="34" charset="0"/>
              <a:ea typeface="微软雅黑" pitchFamily="34" charset="-122"/>
              <a:cs typeface="Aparajita" pitchFamily="34" charset="0"/>
            </a:endParaRPr>
          </a:p>
          <a:p>
            <a:r>
              <a:rPr lang="en-US" altLang="zh-CN" sz="1200" dirty="0">
                <a:latin typeface="Ebrima" panose="02000000000000000000" pitchFamily="2" charset="0"/>
                <a:ea typeface="Ebrima" panose="02000000000000000000" pitchFamily="2" charset="0"/>
                <a:cs typeface="Ebrima" panose="02000000000000000000" pitchFamily="2" charset="0"/>
              </a:rPr>
              <a:t>1. Before seeing a doctor, please call 4008105119 for medical reporting.</a:t>
            </a:r>
            <a:endParaRPr lang="zh-CN" altLang="zh-CN" sz="1200" dirty="0">
              <a:latin typeface="Ebrima" panose="02000000000000000000" pitchFamily="2" charset="0"/>
              <a:ea typeface="微软雅黑" pitchFamily="34" charset="-122"/>
              <a:cs typeface="Ebrima" panose="02000000000000000000" pitchFamily="2" charset="0"/>
            </a:endParaRPr>
          </a:p>
          <a:p>
            <a:r>
              <a:rPr lang="en-US" altLang="zh-CN" sz="1200" dirty="0">
                <a:latin typeface="Ebrima" panose="02000000000000000000" pitchFamily="2" charset="0"/>
                <a:ea typeface="Ebrima" panose="02000000000000000000" pitchFamily="2" charset="0"/>
                <a:cs typeface="Ebrima" panose="02000000000000000000" pitchFamily="2" charset="0"/>
              </a:rPr>
              <a:t>2. Certificate of accident, in case of a traffic accident, please submit a liability conformation of traffic accident issued by the traffic unit. And if other accidents happen, please also submit relative certification materials.</a:t>
            </a:r>
            <a:endParaRPr lang="zh-CN" altLang="zh-CN" sz="1200" dirty="0">
              <a:latin typeface="Ebrima" panose="02000000000000000000" pitchFamily="2" charset="0"/>
              <a:ea typeface="微软雅黑" pitchFamily="34" charset="-122"/>
              <a:cs typeface="Ebrima" panose="02000000000000000000" pitchFamily="2" charset="0"/>
            </a:endParaRPr>
          </a:p>
          <a:p>
            <a:r>
              <a:rPr lang="en-US" altLang="zh-CN" sz="1200" dirty="0">
                <a:latin typeface="Ebrima" panose="02000000000000000000" pitchFamily="2" charset="0"/>
                <a:ea typeface="Ebrima" panose="02000000000000000000" pitchFamily="2" charset="0"/>
                <a:cs typeface="Ebrima" panose="02000000000000000000" pitchFamily="2" charset="0"/>
              </a:rPr>
              <a:t>3.The information about bank account has to include account number, account name and name of the deposit bank.</a:t>
            </a:r>
          </a:p>
          <a:p>
            <a:r>
              <a:rPr lang="en-US" altLang="zh-CN" sz="1200" dirty="0">
                <a:latin typeface="Ebrima" panose="02000000000000000000" pitchFamily="2" charset="0"/>
                <a:ea typeface="Ebrima" panose="02000000000000000000" pitchFamily="2" charset="0"/>
                <a:cs typeface="Ebrima" panose="02000000000000000000" pitchFamily="2" charset="0"/>
              </a:rPr>
              <a:t>4.When you finish treatment , please send to us claim documents as soon as possible.</a:t>
            </a:r>
            <a:endParaRPr lang="zh-CN" altLang="zh-CN" sz="1200" dirty="0">
              <a:latin typeface="Ebrima" panose="02000000000000000000" pitchFamily="2" charset="0"/>
              <a:ea typeface="微软雅黑" pitchFamily="34" charset="-122"/>
              <a:cs typeface="Ebrima" panose="02000000000000000000" pitchFamily="2" charset="0"/>
            </a:endParaRPr>
          </a:p>
        </p:txBody>
      </p:sp>
      <p:grpSp>
        <p:nvGrpSpPr>
          <p:cNvPr id="14" name="组合 13"/>
          <p:cNvGrpSpPr/>
          <p:nvPr/>
        </p:nvGrpSpPr>
        <p:grpSpPr>
          <a:xfrm>
            <a:off x="0" y="483518"/>
            <a:ext cx="3311923" cy="71438"/>
            <a:chOff x="0" y="523875"/>
            <a:chExt cx="3311923" cy="71438"/>
          </a:xfrm>
        </p:grpSpPr>
        <p:cxnSp>
          <p:nvCxnSpPr>
            <p:cNvPr id="15" name="直接连接符 14"/>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11" name="内容占位符 1"/>
          <p:cNvSpPr txBox="1">
            <a:spLocks/>
          </p:cNvSpPr>
          <p:nvPr/>
        </p:nvSpPr>
        <p:spPr>
          <a:xfrm>
            <a:off x="297409" y="522647"/>
            <a:ext cx="8640451" cy="490538"/>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marL="0" indent="0">
              <a:buNone/>
            </a:pPr>
            <a:r>
              <a:rPr lang="en-US" altLang="zh-CN" sz="2000" b="1" dirty="0">
                <a:solidFill>
                  <a:schemeClr val="tx1"/>
                </a:solidFill>
                <a:latin typeface="Arial" pitchFamily="34" charset="0"/>
                <a:ea typeface="微软雅黑" pitchFamily="34" charset="-122"/>
                <a:cs typeface="Arial" pitchFamily="34" charset="0"/>
              </a:rPr>
              <a:t>Firstly, you should prepare the following documents as required. Then, please send the documents to us.</a:t>
            </a:r>
            <a:endParaRPr lang="zh-CN" altLang="zh-CN" sz="2000" b="1" dirty="0">
              <a:solidFill>
                <a:schemeClr val="tx1"/>
              </a:solidFill>
              <a:latin typeface="Arial" pitchFamily="34" charset="0"/>
              <a:ea typeface="微软雅黑" pitchFamily="34" charset="-122"/>
              <a:cs typeface="Arial" pitchFamily="34" charset="0"/>
            </a:endParaRPr>
          </a:p>
          <a:p>
            <a:pPr fontAlgn="auto">
              <a:spcAft>
                <a:spcPts val="0"/>
              </a:spcAft>
            </a:pPr>
            <a:endParaRPr lang="zh-CN" altLang="en-US" dirty="0"/>
          </a:p>
        </p:txBody>
      </p:sp>
      <p:sp>
        <p:nvSpPr>
          <p:cNvPr id="17" name="五角星 16"/>
          <p:cNvSpPr/>
          <p:nvPr/>
        </p:nvSpPr>
        <p:spPr>
          <a:xfrm>
            <a:off x="335447" y="3773758"/>
            <a:ext cx="391465" cy="288032"/>
          </a:xfrm>
          <a:prstGeom prst="star5">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 name="文本框 3">
            <a:extLst>
              <a:ext uri="{FF2B5EF4-FFF2-40B4-BE49-F238E27FC236}">
                <a16:creationId xmlns:a16="http://schemas.microsoft.com/office/drawing/2014/main" id="{F0AEA0B7-82E6-29F9-ADFC-66D91F8FC7DA}"/>
              </a:ext>
            </a:extLst>
          </p:cNvPr>
          <p:cNvSpPr txBox="1"/>
          <p:nvPr/>
        </p:nvSpPr>
        <p:spPr>
          <a:xfrm>
            <a:off x="335447" y="52336"/>
            <a:ext cx="4579974" cy="369332"/>
          </a:xfrm>
          <a:prstGeom prst="rect">
            <a:avLst/>
          </a:prstGeom>
          <a:noFill/>
        </p:spPr>
        <p:txBody>
          <a:bodyPr wrap="square">
            <a:spAutoFit/>
          </a:bodyPr>
          <a:lstStyle/>
          <a:p>
            <a:r>
              <a:rPr lang="zh-CN" altLang="en-US" sz="1800" b="1" cap="small" dirty="0">
                <a:solidFill>
                  <a:schemeClr val="tx1"/>
                </a:solidFill>
                <a:latin typeface="微软雅黑" pitchFamily="34" charset="-122"/>
                <a:ea typeface="微软雅黑" pitchFamily="34" charset="-122"/>
              </a:rPr>
              <a:t>保险使用方法 </a:t>
            </a:r>
            <a:r>
              <a:rPr lang="en-US" altLang="zh-CN" sz="1800" b="1" dirty="0">
                <a:latin typeface="微软雅黑" pitchFamily="34" charset="-122"/>
                <a:ea typeface="微软雅黑" pitchFamily="34" charset="-122"/>
              </a:rPr>
              <a:t>Insurance instruction</a:t>
            </a:r>
            <a:endParaRPr lang="zh-CN" altLang="en-US" dirty="0"/>
          </a:p>
        </p:txBody>
      </p:sp>
    </p:spTree>
    <p:extLst>
      <p:ext uri="{BB962C8B-B14F-4D97-AF65-F5344CB8AC3E}">
        <p14:creationId xmlns:p14="http://schemas.microsoft.com/office/powerpoint/2010/main" val="19049022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十字星 38"/>
          <p:cNvSpPr/>
          <p:nvPr/>
        </p:nvSpPr>
        <p:spPr>
          <a:xfrm>
            <a:off x="1475656" y="1059582"/>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十字星 39"/>
          <p:cNvSpPr/>
          <p:nvPr/>
        </p:nvSpPr>
        <p:spPr>
          <a:xfrm>
            <a:off x="1475656" y="3291830"/>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a:spLocks noChangeArrowheads="1"/>
          </p:cNvSpPr>
          <p:nvPr/>
        </p:nvSpPr>
        <p:spPr bwMode="auto">
          <a:xfrm>
            <a:off x="3563888" y="2122079"/>
            <a:ext cx="3941060" cy="830997"/>
          </a:xfrm>
          <a:prstGeom prst="rect">
            <a:avLst/>
          </a:prstGeom>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b="1" dirty="0">
                <a:latin typeface="微软雅黑" pitchFamily="34" charset="-122"/>
                <a:ea typeface="微软雅黑" pitchFamily="34" charset="-122"/>
              </a:rPr>
              <a:t>投保流程及投保结果查询  </a:t>
            </a:r>
            <a:r>
              <a:rPr lang="en-US" altLang="zh-CN" sz="2400" b="1" dirty="0">
                <a:latin typeface="微软雅黑" pitchFamily="34" charset="-122"/>
                <a:ea typeface="微软雅黑" pitchFamily="34" charset="-122"/>
              </a:rPr>
              <a:t>Buy insurance</a:t>
            </a:r>
          </a:p>
        </p:txBody>
      </p:sp>
      <p:grpSp>
        <p:nvGrpSpPr>
          <p:cNvPr id="11" name="组合 28"/>
          <p:cNvGrpSpPr/>
          <p:nvPr/>
        </p:nvGrpSpPr>
        <p:grpSpPr>
          <a:xfrm>
            <a:off x="2267744" y="2075546"/>
            <a:ext cx="936104" cy="590914"/>
            <a:chOff x="1907704" y="5229200"/>
            <a:chExt cx="936104" cy="919896"/>
          </a:xfrm>
        </p:grpSpPr>
        <p:grpSp>
          <p:nvGrpSpPr>
            <p:cNvPr id="16" name="Group 12"/>
            <p:cNvGrpSpPr>
              <a:grpSpLocks/>
            </p:cNvGrpSpPr>
            <p:nvPr/>
          </p:nvGrpSpPr>
          <p:grpSpPr bwMode="auto">
            <a:xfrm>
              <a:off x="1907704" y="5229200"/>
              <a:ext cx="936104" cy="864095"/>
              <a:chOff x="0" y="-3"/>
              <a:chExt cx="812" cy="833"/>
            </a:xfrm>
          </p:grpSpPr>
          <p:sp>
            <p:nvSpPr>
              <p:cNvPr id="18"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19" name="Picture 12" descr="cir_lighteffect0"/>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17" name="TextBox 24"/>
            <p:cNvSpPr txBox="1"/>
            <p:nvPr/>
          </p:nvSpPr>
          <p:spPr>
            <a:xfrm>
              <a:off x="2143232" y="5238757"/>
              <a:ext cx="432048" cy="910339"/>
            </a:xfrm>
            <a:prstGeom prst="rect">
              <a:avLst/>
            </a:prstGeom>
            <a:noFill/>
          </p:spPr>
          <p:txBody>
            <a:bodyPr wrap="square" rtlCol="0">
              <a:spAutoFit/>
            </a:bodyPr>
            <a:lstStyle/>
            <a:p>
              <a:r>
                <a:rPr lang="en-US" altLang="zh-CN" sz="3200" b="1" dirty="0">
                  <a:latin typeface="Arial Black" pitchFamily="34" charset="0"/>
                </a:rPr>
                <a:t>4</a:t>
              </a:r>
              <a:endParaRPr lang="zh-CN" altLang="en-US" sz="3200" b="1" dirty="0">
                <a:latin typeface="Arial Black" pitchFamily="34" charset="0"/>
              </a:endParaRPr>
            </a:p>
          </p:txBody>
        </p:sp>
      </p:grpSp>
    </p:spTree>
    <p:extLst>
      <p:ext uri="{BB962C8B-B14F-4D97-AF65-F5344CB8AC3E}">
        <p14:creationId xmlns:p14="http://schemas.microsoft.com/office/powerpoint/2010/main" val="33101815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FFB3FA0-C5AA-0F20-E182-0860D774C0A9}"/>
              </a:ext>
            </a:extLst>
          </p:cNvPr>
          <p:cNvGrpSpPr/>
          <p:nvPr/>
        </p:nvGrpSpPr>
        <p:grpSpPr>
          <a:xfrm>
            <a:off x="0" y="483518"/>
            <a:ext cx="3311923" cy="71438"/>
            <a:chOff x="0" y="523875"/>
            <a:chExt cx="3311923" cy="71438"/>
          </a:xfrm>
        </p:grpSpPr>
        <p:cxnSp>
          <p:nvCxnSpPr>
            <p:cNvPr id="4" name="直接连接符 3">
              <a:extLst>
                <a:ext uri="{FF2B5EF4-FFF2-40B4-BE49-F238E27FC236}">
                  <a16:creationId xmlns:a16="http://schemas.microsoft.com/office/drawing/2014/main" id="{A0B7C635-744C-FB31-7155-5DBCEB4F3341}"/>
                </a:ext>
              </a:extLst>
            </p:cNvPr>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Rectangle 7">
              <a:extLst>
                <a:ext uri="{FF2B5EF4-FFF2-40B4-BE49-F238E27FC236}">
                  <a16:creationId xmlns:a16="http://schemas.microsoft.com/office/drawing/2014/main" id="{8BC3A4AC-1BA4-1BD4-7FB9-42B604B85E8A}"/>
                </a:ext>
              </a:extLst>
            </p:cNvPr>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6" name="文本框 5">
            <a:extLst>
              <a:ext uri="{FF2B5EF4-FFF2-40B4-BE49-F238E27FC236}">
                <a16:creationId xmlns:a16="http://schemas.microsoft.com/office/drawing/2014/main" id="{2E76F4AC-4A1C-35D4-5127-0AA091F7ABCF}"/>
              </a:ext>
            </a:extLst>
          </p:cNvPr>
          <p:cNvSpPr txBox="1"/>
          <p:nvPr/>
        </p:nvSpPr>
        <p:spPr>
          <a:xfrm>
            <a:off x="429865" y="57572"/>
            <a:ext cx="4104456" cy="461665"/>
          </a:xfrm>
          <a:prstGeom prst="rect">
            <a:avLst/>
          </a:prstGeom>
          <a:noFill/>
        </p:spPr>
        <p:txBody>
          <a:bodyPr wrap="square" rtlCol="0">
            <a:spAutoFit/>
          </a:bodyPr>
          <a:lstStyle/>
          <a:p>
            <a:r>
              <a:rPr lang="zh-CN" altLang="en-US" sz="2400" dirty="0"/>
              <a:t>投保流程</a:t>
            </a:r>
          </a:p>
        </p:txBody>
      </p:sp>
      <p:sp>
        <p:nvSpPr>
          <p:cNvPr id="7" name="文本框 6">
            <a:extLst>
              <a:ext uri="{FF2B5EF4-FFF2-40B4-BE49-F238E27FC236}">
                <a16:creationId xmlns:a16="http://schemas.microsoft.com/office/drawing/2014/main" id="{C7430633-7C7C-3C07-6ECD-85793F01D888}"/>
              </a:ext>
            </a:extLst>
          </p:cNvPr>
          <p:cNvSpPr txBox="1"/>
          <p:nvPr/>
        </p:nvSpPr>
        <p:spPr>
          <a:xfrm>
            <a:off x="213965" y="771550"/>
            <a:ext cx="3565947" cy="1077218"/>
          </a:xfrm>
          <a:prstGeom prst="rect">
            <a:avLst/>
          </a:prstGeom>
          <a:noFill/>
        </p:spPr>
        <p:txBody>
          <a:bodyPr wrap="square" rtlCol="0">
            <a:spAutoFit/>
          </a:bodyPr>
          <a:lstStyle/>
          <a:p>
            <a:r>
              <a:rPr lang="en-US" altLang="zh-CN" sz="1600" dirty="0"/>
              <a:t>	</a:t>
            </a:r>
            <a:r>
              <a:rPr lang="zh-CN" altLang="en-US" sz="1600" dirty="0"/>
              <a:t>留学生可以参照右侧的网支流程图进行网上支付。</a:t>
            </a:r>
            <a:endParaRPr lang="en-US" altLang="zh-CN" sz="1600" dirty="0"/>
          </a:p>
          <a:p>
            <a:r>
              <a:rPr lang="en-US" altLang="zh-CN" sz="1600" dirty="0"/>
              <a:t>	</a:t>
            </a:r>
            <a:r>
              <a:rPr lang="zh-CN" altLang="en-US" sz="1600" dirty="0"/>
              <a:t>两张图分别对应手机端支付路径和电脑端支付路径。</a:t>
            </a:r>
          </a:p>
        </p:txBody>
      </p:sp>
      <p:pic>
        <p:nvPicPr>
          <p:cNvPr id="9" name="图片 8">
            <a:extLst>
              <a:ext uri="{FF2B5EF4-FFF2-40B4-BE49-F238E27FC236}">
                <a16:creationId xmlns:a16="http://schemas.microsoft.com/office/drawing/2014/main" id="{FF71D21A-A92E-A23D-9BA9-41C191DAF47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6426610" y="-1"/>
            <a:ext cx="2079407" cy="5143497"/>
          </a:xfrm>
          <a:prstGeom prst="rect">
            <a:avLst/>
          </a:prstGeom>
        </p:spPr>
      </p:pic>
      <p:pic>
        <p:nvPicPr>
          <p:cNvPr id="11" name="图片 10">
            <a:extLst>
              <a:ext uri="{FF2B5EF4-FFF2-40B4-BE49-F238E27FC236}">
                <a16:creationId xmlns:a16="http://schemas.microsoft.com/office/drawing/2014/main" id="{840D2520-F686-EC41-279F-0E2D1552D37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995936" y="-1"/>
            <a:ext cx="2079408" cy="5143500"/>
          </a:xfrm>
          <a:prstGeom prst="rect">
            <a:avLst/>
          </a:prstGeom>
        </p:spPr>
      </p:pic>
    </p:spTree>
    <p:extLst>
      <p:ext uri="{BB962C8B-B14F-4D97-AF65-F5344CB8AC3E}">
        <p14:creationId xmlns:p14="http://schemas.microsoft.com/office/powerpoint/2010/main" val="1815763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5713027" y="1090228"/>
            <a:ext cx="2296862" cy="3986175"/>
          </a:xfrm>
          <a:prstGeom prst="rect">
            <a:avLst/>
          </a:prstGeom>
        </p:spPr>
      </p:pic>
      <p:pic>
        <p:nvPicPr>
          <p:cNvPr id="10" name="图片 9"/>
          <p:cNvPicPr>
            <a:picLocks noChangeAspect="1"/>
          </p:cNvPicPr>
          <p:nvPr/>
        </p:nvPicPr>
        <p:blipFill>
          <a:blip r:embed="rId4"/>
          <a:stretch>
            <a:fillRect/>
          </a:stretch>
        </p:blipFill>
        <p:spPr>
          <a:xfrm>
            <a:off x="2460884" y="1090229"/>
            <a:ext cx="2266863" cy="3986175"/>
          </a:xfrm>
          <a:prstGeom prst="rect">
            <a:avLst/>
          </a:prstGeom>
        </p:spPr>
      </p:pic>
      <p:sp>
        <p:nvSpPr>
          <p:cNvPr id="5" name="矩形 8"/>
          <p:cNvSpPr>
            <a:spLocks noGrp="1" noChangeArrowheads="1"/>
          </p:cNvSpPr>
          <p:nvPr>
            <p:ph type="title" idx="4294967295"/>
          </p:nvPr>
        </p:nvSpPr>
        <p:spPr bwMode="auto">
          <a:xfrm>
            <a:off x="0" y="-15903"/>
            <a:ext cx="6948488" cy="701731"/>
          </a:xfrm>
          <a:prstGeom prst="rect">
            <a:avLst/>
          </a:prstGeom>
          <a:noFill/>
          <a:ln w="9525">
            <a:noFill/>
            <a:miter lim="800000"/>
            <a:headEnd/>
            <a:tailEnd/>
          </a:ln>
        </p:spPr>
        <p:txBody>
          <a:bodyPr wrap="square">
            <a:spAutoFit/>
          </a:bodyPr>
          <a:lstStyle/>
          <a:p>
            <a:pPr algn="l"/>
            <a:r>
              <a:rPr lang="zh-CN" altLang="en-US" sz="2400" b="1" cap="small" dirty="0">
                <a:solidFill>
                  <a:schemeClr val="tx1"/>
                </a:solidFill>
                <a:latin typeface="微软雅黑" pitchFamily="34" charset="-122"/>
                <a:ea typeface="微软雅黑" pitchFamily="34" charset="-122"/>
              </a:rPr>
              <a:t>信息查询</a:t>
            </a:r>
            <a:r>
              <a:rPr lang="en-US" altLang="zh-CN" sz="2400" b="1" cap="small" dirty="0">
                <a:solidFill>
                  <a:schemeClr val="tx1"/>
                </a:solidFill>
                <a:latin typeface="微软雅黑" pitchFamily="34" charset="-122"/>
                <a:ea typeface="微软雅黑" pitchFamily="34" charset="-122"/>
              </a:rPr>
              <a:t>_</a:t>
            </a:r>
            <a:r>
              <a:rPr lang="zh-CN" altLang="en-US" sz="2400" b="1" cap="small" dirty="0">
                <a:solidFill>
                  <a:schemeClr val="tx1"/>
                </a:solidFill>
                <a:latin typeface="微软雅黑" pitchFamily="34" charset="-122"/>
                <a:ea typeface="微软雅黑" pitchFamily="34" charset="-122"/>
              </a:rPr>
              <a:t>手机 </a:t>
            </a:r>
            <a:r>
              <a:rPr lang="en-US" altLang="zh-CN" sz="2400" b="1" cap="small" dirty="0">
                <a:solidFill>
                  <a:schemeClr val="tx1"/>
                </a:solidFill>
                <a:latin typeface="微软雅黑" pitchFamily="34" charset="-122"/>
                <a:ea typeface="微软雅黑" pitchFamily="34" charset="-122"/>
              </a:rPr>
              <a:t>Query via Cell Phones</a:t>
            </a:r>
            <a:endParaRPr lang="zh-CN" altLang="en-US" sz="2400" b="1" cap="small" dirty="0">
              <a:solidFill>
                <a:schemeClr val="tx1"/>
              </a:solidFill>
              <a:latin typeface="微软雅黑" pitchFamily="34" charset="-122"/>
              <a:ea typeface="微软雅黑" pitchFamily="34" charset="-122"/>
            </a:endParaRPr>
          </a:p>
        </p:txBody>
      </p:sp>
      <p:sp>
        <p:nvSpPr>
          <p:cNvPr id="6" name="内容占位符 2"/>
          <p:cNvSpPr txBox="1">
            <a:spLocks/>
          </p:cNvSpPr>
          <p:nvPr/>
        </p:nvSpPr>
        <p:spPr bwMode="auto">
          <a:xfrm>
            <a:off x="395536" y="648071"/>
            <a:ext cx="3600400" cy="3877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eaLnBrk="0" hangingPunct="0">
              <a:spcBef>
                <a:spcPct val="20000"/>
              </a:spcBef>
              <a:defRPr/>
            </a:pPr>
            <a:r>
              <a:rPr kumimoji="0" lang="zh-CN" altLang="en-US"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rPr>
              <a:t>手机查询信息</a:t>
            </a:r>
            <a:r>
              <a:rPr lang="en-US" altLang="zh-CN" sz="1400" b="1" dirty="0">
                <a:solidFill>
                  <a:srgbClr val="C00000"/>
                </a:solidFill>
                <a:latin typeface="微软雅黑" pitchFamily="34" charset="-122"/>
                <a:ea typeface="微软雅黑" pitchFamily="34" charset="-122"/>
              </a:rPr>
              <a:t>Query via Cell Phones</a:t>
            </a:r>
            <a:endParaRPr lang="zh-CN" altLang="en-US" sz="1400" b="1" dirty="0">
              <a:solidFill>
                <a:srgbClr val="C00000"/>
              </a:solidFill>
              <a:latin typeface="微软雅黑" pitchFamily="34" charset="-122"/>
              <a:ea typeface="微软雅黑" pitchFamily="34" charset="-122"/>
            </a:endParaRPr>
          </a:p>
        </p:txBody>
      </p:sp>
      <p:grpSp>
        <p:nvGrpSpPr>
          <p:cNvPr id="18" name="组合 17"/>
          <p:cNvGrpSpPr/>
          <p:nvPr/>
        </p:nvGrpSpPr>
        <p:grpSpPr>
          <a:xfrm>
            <a:off x="0" y="555526"/>
            <a:ext cx="3311923" cy="71438"/>
            <a:chOff x="0" y="523875"/>
            <a:chExt cx="3311923" cy="71438"/>
          </a:xfrm>
        </p:grpSpPr>
        <p:cxnSp>
          <p:nvCxnSpPr>
            <p:cNvPr id="22" name="直接连接符 21"/>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3"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13" name="矩形标注 12"/>
          <p:cNvSpPr/>
          <p:nvPr/>
        </p:nvSpPr>
        <p:spPr>
          <a:xfrm>
            <a:off x="107504" y="2674583"/>
            <a:ext cx="2114321" cy="682075"/>
          </a:xfrm>
          <a:prstGeom prst="wedgeRectCallout">
            <a:avLst>
              <a:gd name="adj1" fmla="val -15854"/>
              <a:gd name="adj2" fmla="val -84187"/>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p:spPr>
        <p:style>
          <a:lnRef idx="0">
            <a:schemeClr val="dk1"/>
          </a:lnRef>
          <a:fillRef idx="3">
            <a:schemeClr val="dk1"/>
          </a:fillRef>
          <a:effectRef idx="3">
            <a:schemeClr val="dk1"/>
          </a:effectRef>
          <a:fontRef idx="minor">
            <a:schemeClr val="lt1"/>
          </a:fontRef>
        </p:style>
        <p:txBody>
          <a:bodyPr rtlCol="0" anchor="ctr"/>
          <a:lstStyle/>
          <a:p>
            <a:pPr algn="ctr"/>
            <a:r>
              <a:rPr lang="en-US" altLang="zh-CN" sz="1400" b="1" dirty="0">
                <a:solidFill>
                  <a:schemeClr val="tx1"/>
                </a:solidFill>
                <a:latin typeface="Arial" pitchFamily="34" charset="0"/>
                <a:ea typeface="微软雅黑" pitchFamily="34" charset="-122"/>
                <a:cs typeface="Arial" pitchFamily="34" charset="0"/>
              </a:rPr>
              <a:t>1. </a:t>
            </a:r>
            <a:r>
              <a:rPr lang="zh-CN" altLang="en-US" sz="1400" b="1" dirty="0">
                <a:solidFill>
                  <a:schemeClr val="tx1"/>
                </a:solidFill>
                <a:latin typeface="Arial" pitchFamily="34" charset="0"/>
                <a:ea typeface="微软雅黑" pitchFamily="34" charset="-122"/>
                <a:cs typeface="Arial" pitchFamily="34" charset="0"/>
              </a:rPr>
              <a:t>扫描二维码</a:t>
            </a:r>
            <a:endParaRPr lang="en-US" altLang="zh-CN" sz="1400" b="1" dirty="0">
              <a:solidFill>
                <a:schemeClr val="tx1"/>
              </a:solidFill>
              <a:latin typeface="Arial" pitchFamily="34" charset="0"/>
              <a:ea typeface="微软雅黑" pitchFamily="34" charset="-122"/>
              <a:cs typeface="Arial" pitchFamily="34" charset="0"/>
            </a:endParaRPr>
          </a:p>
          <a:p>
            <a:pPr algn="ctr"/>
            <a:r>
              <a:rPr lang="en-US" altLang="zh-CN" sz="1400" b="1" dirty="0">
                <a:solidFill>
                  <a:schemeClr val="tx1"/>
                </a:solidFill>
                <a:latin typeface="Arial" pitchFamily="34" charset="0"/>
                <a:ea typeface="微软雅黑" pitchFamily="34" charset="-122"/>
                <a:cs typeface="Arial" pitchFamily="34" charset="0"/>
              </a:rPr>
              <a:t>Scan the QR Code</a:t>
            </a:r>
            <a:endParaRPr lang="zh-CN" altLang="en-US" sz="1400" b="1" dirty="0">
              <a:solidFill>
                <a:schemeClr val="tx1"/>
              </a:solidFill>
              <a:latin typeface="Arial" pitchFamily="34" charset="0"/>
              <a:ea typeface="微软雅黑" pitchFamily="34" charset="-122"/>
              <a:cs typeface="Arial" pitchFamily="34" charset="0"/>
            </a:endParaRPr>
          </a:p>
        </p:txBody>
      </p:sp>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9369" y="1090229"/>
            <a:ext cx="1311673" cy="1311673"/>
          </a:xfrm>
          <a:prstGeom prst="rect">
            <a:avLst/>
          </a:prstGeom>
          <a:ln>
            <a:solidFill>
              <a:schemeClr val="tx2">
                <a:lumMod val="75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1" name="矩形标注 10"/>
          <p:cNvSpPr/>
          <p:nvPr/>
        </p:nvSpPr>
        <p:spPr>
          <a:xfrm>
            <a:off x="2757542" y="3723878"/>
            <a:ext cx="1970205" cy="576064"/>
          </a:xfrm>
          <a:prstGeom prst="wedgeRectCallout">
            <a:avLst>
              <a:gd name="adj1" fmla="val 32205"/>
              <a:gd name="adj2" fmla="val 112147"/>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p:spPr>
        <p:style>
          <a:lnRef idx="0">
            <a:schemeClr val="dk1"/>
          </a:lnRef>
          <a:fillRef idx="3">
            <a:schemeClr val="dk1"/>
          </a:fillRef>
          <a:effectRef idx="3">
            <a:schemeClr val="dk1"/>
          </a:effectRef>
          <a:fontRef idx="minor">
            <a:schemeClr val="lt1"/>
          </a:fontRef>
        </p:style>
        <p:txBody>
          <a:bodyPr rtlCol="0" anchor="ctr"/>
          <a:lstStyle/>
          <a:p>
            <a:pPr algn="ctr"/>
            <a:r>
              <a:rPr lang="en-US" altLang="zh-CN" sz="1400" b="1" dirty="0">
                <a:solidFill>
                  <a:schemeClr val="tx1"/>
                </a:solidFill>
                <a:latin typeface="微软雅黑" panose="020B0503020204020204" pitchFamily="34" charset="-122"/>
                <a:ea typeface="微软雅黑" panose="020B0503020204020204" pitchFamily="34" charset="-122"/>
                <a:cs typeface="Arial" pitchFamily="34" charset="0"/>
              </a:rPr>
              <a:t>2. </a:t>
            </a:r>
            <a:r>
              <a:rPr lang="zh-CN" altLang="en-US" sz="1400" b="1" dirty="0">
                <a:solidFill>
                  <a:schemeClr val="tx1"/>
                </a:solidFill>
                <a:latin typeface="微软雅黑" panose="020B0503020204020204" pitchFamily="34" charset="-122"/>
                <a:ea typeface="微软雅黑" panose="020B0503020204020204" pitchFamily="34" charset="-122"/>
                <a:cs typeface="Arial" pitchFamily="34" charset="0"/>
              </a:rPr>
              <a:t>点击“我的”</a:t>
            </a:r>
            <a:endParaRPr lang="en-US" altLang="zh-CN" sz="1400" b="1" dirty="0">
              <a:solidFill>
                <a:schemeClr val="tx1"/>
              </a:solidFill>
              <a:latin typeface="微软雅黑" panose="020B0503020204020204" pitchFamily="34" charset="-122"/>
              <a:ea typeface="微软雅黑" panose="020B0503020204020204" pitchFamily="34" charset="-122"/>
              <a:cs typeface="Arial" pitchFamily="34" charset="0"/>
            </a:endParaRPr>
          </a:p>
          <a:p>
            <a:pPr algn="ctr"/>
            <a:r>
              <a:rPr lang="en-US" altLang="zh-CN" sz="1400" b="1" dirty="0">
                <a:solidFill>
                  <a:schemeClr val="tx1"/>
                </a:solidFill>
                <a:latin typeface="微软雅黑" panose="020B0503020204020204" pitchFamily="34" charset="-122"/>
                <a:ea typeface="微软雅黑" panose="020B0503020204020204" pitchFamily="34" charset="-122"/>
                <a:cs typeface="Arial" pitchFamily="34" charset="0"/>
              </a:rPr>
              <a:t>Click “My Index”</a:t>
            </a:r>
            <a:endParaRPr lang="zh-CN" altLang="en-US" sz="1400" b="1" dirty="0">
              <a:solidFill>
                <a:schemeClr val="tx1"/>
              </a:solidFill>
              <a:latin typeface="微软雅黑" panose="020B0503020204020204" pitchFamily="34" charset="-122"/>
              <a:ea typeface="微软雅黑" panose="020B0503020204020204" pitchFamily="34" charset="-122"/>
              <a:cs typeface="Arial" pitchFamily="34" charset="0"/>
            </a:endParaRPr>
          </a:p>
        </p:txBody>
      </p:sp>
      <p:sp>
        <p:nvSpPr>
          <p:cNvPr id="21" name="矩形标注 20"/>
          <p:cNvSpPr/>
          <p:nvPr/>
        </p:nvSpPr>
        <p:spPr>
          <a:xfrm>
            <a:off x="6861458" y="3579862"/>
            <a:ext cx="1814999" cy="576064"/>
          </a:xfrm>
          <a:prstGeom prst="wedgeRectCallout">
            <a:avLst>
              <a:gd name="adj1" fmla="val -32475"/>
              <a:gd name="adj2" fmla="val 100326"/>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p:spPr>
        <p:style>
          <a:lnRef idx="0">
            <a:schemeClr val="dk1"/>
          </a:lnRef>
          <a:fillRef idx="3">
            <a:schemeClr val="dk1"/>
          </a:fillRef>
          <a:effectRef idx="3">
            <a:schemeClr val="dk1"/>
          </a:effectRef>
          <a:fontRef idx="minor">
            <a:schemeClr val="lt1"/>
          </a:fontRef>
        </p:style>
        <p:txBody>
          <a:bodyPr rtlCol="0" anchor="ctr"/>
          <a:lstStyle/>
          <a:p>
            <a:pPr algn="ctr"/>
            <a:r>
              <a:rPr lang="en-US" altLang="zh-CN" sz="1400" b="1" dirty="0">
                <a:solidFill>
                  <a:schemeClr val="tx1"/>
                </a:solidFill>
                <a:latin typeface="微软雅黑" panose="020B0503020204020204" pitchFamily="34" charset="-122"/>
                <a:ea typeface="微软雅黑" panose="020B0503020204020204" pitchFamily="34" charset="-122"/>
                <a:cs typeface="Arial" pitchFamily="34" charset="0"/>
              </a:rPr>
              <a:t>2. </a:t>
            </a:r>
            <a:r>
              <a:rPr lang="zh-CN" altLang="en-US" sz="1400" b="1" dirty="0">
                <a:solidFill>
                  <a:schemeClr val="tx1"/>
                </a:solidFill>
                <a:latin typeface="微软雅黑" panose="020B0503020204020204" pitchFamily="34" charset="-122"/>
                <a:ea typeface="微软雅黑" panose="020B0503020204020204" pitchFamily="34" charset="-122"/>
                <a:cs typeface="Arial" pitchFamily="34" charset="0"/>
              </a:rPr>
              <a:t>点击“登录</a:t>
            </a:r>
            <a:endParaRPr lang="en-US" altLang="zh-CN" sz="1400" b="1" dirty="0">
              <a:solidFill>
                <a:schemeClr val="tx1"/>
              </a:solidFill>
              <a:latin typeface="微软雅黑" panose="020B0503020204020204" pitchFamily="34" charset="-122"/>
              <a:ea typeface="微软雅黑" panose="020B0503020204020204" pitchFamily="34" charset="-122"/>
              <a:cs typeface="Arial" pitchFamily="34" charset="0"/>
            </a:endParaRPr>
          </a:p>
          <a:p>
            <a:pPr algn="ctr"/>
            <a:r>
              <a:rPr lang="zh-CN" altLang="en-US" sz="1400" b="1" dirty="0">
                <a:solidFill>
                  <a:schemeClr val="tx1"/>
                </a:solidFill>
                <a:latin typeface="微软雅黑" panose="020B0503020204020204" pitchFamily="34" charset="-122"/>
                <a:ea typeface="微软雅黑" panose="020B0503020204020204" pitchFamily="34" charset="-122"/>
                <a:cs typeface="Arial" pitchFamily="34" charset="0"/>
              </a:rPr>
              <a:t>” </a:t>
            </a:r>
            <a:r>
              <a:rPr lang="en-US" altLang="zh-CN" sz="1400" b="1" dirty="0">
                <a:solidFill>
                  <a:schemeClr val="tx1"/>
                </a:solidFill>
                <a:latin typeface="微软雅黑" panose="020B0503020204020204" pitchFamily="34" charset="-122"/>
                <a:ea typeface="微软雅黑" panose="020B0503020204020204" pitchFamily="34" charset="-122"/>
                <a:cs typeface="Arial" pitchFamily="34" charset="0"/>
              </a:rPr>
              <a:t>Click “Log in”</a:t>
            </a:r>
            <a:endParaRPr lang="zh-CN" altLang="en-US" sz="1400" b="1" dirty="0">
              <a:solidFill>
                <a:schemeClr val="tx1"/>
              </a:solidFill>
              <a:latin typeface="微软雅黑" panose="020B0503020204020204" pitchFamily="34" charset="-122"/>
              <a:ea typeface="微软雅黑" panose="020B0503020204020204" pitchFamily="34" charset="-122"/>
              <a:cs typeface="Arial"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To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3366848" y="723529"/>
            <a:ext cx="2429288" cy="4242452"/>
          </a:xfrm>
          <a:prstGeom prst="rect">
            <a:avLst/>
          </a:prstGeom>
        </p:spPr>
      </p:pic>
      <p:pic>
        <p:nvPicPr>
          <p:cNvPr id="3" name="图片 2"/>
          <p:cNvPicPr>
            <a:picLocks noChangeAspect="1"/>
          </p:cNvPicPr>
          <p:nvPr/>
        </p:nvPicPr>
        <p:blipFill>
          <a:blip r:embed="rId4"/>
          <a:stretch>
            <a:fillRect/>
          </a:stretch>
        </p:blipFill>
        <p:spPr>
          <a:xfrm>
            <a:off x="6279664" y="878399"/>
            <a:ext cx="2404978" cy="4265101"/>
          </a:xfrm>
          <a:prstGeom prst="rect">
            <a:avLst/>
          </a:prstGeom>
        </p:spPr>
      </p:pic>
      <p:pic>
        <p:nvPicPr>
          <p:cNvPr id="2" name="图片 1"/>
          <p:cNvPicPr>
            <a:picLocks noChangeAspect="1"/>
          </p:cNvPicPr>
          <p:nvPr/>
        </p:nvPicPr>
        <p:blipFill>
          <a:blip r:embed="rId5"/>
          <a:stretch>
            <a:fillRect/>
          </a:stretch>
        </p:blipFill>
        <p:spPr>
          <a:xfrm>
            <a:off x="552456" y="737642"/>
            <a:ext cx="2420975" cy="4227934"/>
          </a:xfrm>
          <a:prstGeom prst="rect">
            <a:avLst/>
          </a:prstGeom>
        </p:spPr>
      </p:pic>
      <p:sp>
        <p:nvSpPr>
          <p:cNvPr id="15" name="矩形 8"/>
          <p:cNvSpPr txBox="1">
            <a:spLocks noChangeArrowheads="1"/>
          </p:cNvSpPr>
          <p:nvPr/>
        </p:nvSpPr>
        <p:spPr bwMode="auto">
          <a:xfrm>
            <a:off x="179760" y="-154919"/>
            <a:ext cx="6948264" cy="729495"/>
          </a:xfrm>
          <a:prstGeom prst="rect">
            <a:avLst/>
          </a:prstGeom>
          <a:noFill/>
          <a:ln w="9525">
            <a:noFill/>
            <a:miter lim="800000"/>
            <a:headEnd/>
            <a:tailEnd/>
          </a:ln>
        </p:spPr>
        <p:txBody>
          <a:bodyPr vert="horz" wrap="square" lIns="91440" tIns="45720" rIns="91440" bIns="45720" rtlCol="0" anchor="b">
            <a:spAutoFit/>
          </a:bodyPr>
          <a:lstStyle/>
          <a:p>
            <a:pPr marL="0" marR="0" lvl="0" indent="0" algn="l" defTabSz="914400" rtl="0" eaLnBrk="1" fontAlgn="auto" latinLnBrk="0" hangingPunct="1">
              <a:lnSpc>
                <a:spcPts val="5800"/>
              </a:lnSpc>
              <a:spcBef>
                <a:spcPct val="0"/>
              </a:spcBef>
              <a:spcAft>
                <a:spcPts val="0"/>
              </a:spcAft>
              <a:buClrTx/>
              <a:buSzTx/>
              <a:buFontTx/>
              <a:buNone/>
              <a:tabLst/>
              <a:defRPr/>
            </a:pPr>
            <a:r>
              <a:rPr kumimoji="0" lang="zh-CN" altLang="en-US" sz="2400" b="1" i="0" u="none" strike="noStrike" kern="1200" cap="small" spc="0" normalizeH="0" baseline="0" noProof="0" dirty="0">
                <a:ln>
                  <a:noFill/>
                </a:ln>
                <a:solidFill>
                  <a:schemeClr val="tx1"/>
                </a:solidFill>
                <a:effectLst>
                  <a:outerShdw blurRad="63500" dist="38100" dir="5400000" algn="t" rotWithShape="0">
                    <a:prstClr val="black">
                      <a:alpha val="25000"/>
                    </a:prstClr>
                  </a:outerShdw>
                </a:effectLst>
                <a:uLnTx/>
                <a:uFillTx/>
                <a:latin typeface="微软雅黑" pitchFamily="34" charset="-122"/>
                <a:ea typeface="微软雅黑" pitchFamily="34" charset="-122"/>
                <a:cs typeface="+mj-cs"/>
              </a:rPr>
              <a:t>信息查询</a:t>
            </a:r>
            <a:r>
              <a:rPr kumimoji="0" lang="en-US" altLang="zh-CN" sz="2400" b="1" i="0" u="none" strike="noStrike" kern="1200" cap="small" spc="0" normalizeH="0" baseline="0" noProof="0" dirty="0">
                <a:ln>
                  <a:noFill/>
                </a:ln>
                <a:solidFill>
                  <a:schemeClr val="tx1"/>
                </a:solidFill>
                <a:effectLst>
                  <a:outerShdw blurRad="63500" dist="38100" dir="5400000" algn="t" rotWithShape="0">
                    <a:prstClr val="black">
                      <a:alpha val="25000"/>
                    </a:prstClr>
                  </a:outerShdw>
                </a:effectLst>
                <a:uLnTx/>
                <a:uFillTx/>
                <a:latin typeface="微软雅黑" pitchFamily="34" charset="-122"/>
                <a:ea typeface="微软雅黑" pitchFamily="34" charset="-122"/>
                <a:cs typeface="+mj-cs"/>
              </a:rPr>
              <a:t>_</a:t>
            </a:r>
            <a:r>
              <a:rPr kumimoji="0" lang="zh-CN" altLang="en-US" sz="2400" b="1" i="0" u="none" strike="noStrike" kern="1200" cap="small" spc="0" normalizeH="0" baseline="0" noProof="0" dirty="0">
                <a:ln>
                  <a:noFill/>
                </a:ln>
                <a:solidFill>
                  <a:schemeClr val="tx1"/>
                </a:solidFill>
                <a:effectLst>
                  <a:outerShdw blurRad="63500" dist="38100" dir="5400000" algn="t" rotWithShape="0">
                    <a:prstClr val="black">
                      <a:alpha val="25000"/>
                    </a:prstClr>
                  </a:outerShdw>
                </a:effectLst>
                <a:uLnTx/>
                <a:uFillTx/>
                <a:latin typeface="微软雅黑" pitchFamily="34" charset="-122"/>
                <a:ea typeface="微软雅黑" pitchFamily="34" charset="-122"/>
                <a:cs typeface="+mj-cs"/>
              </a:rPr>
              <a:t>手机 </a:t>
            </a:r>
            <a:r>
              <a:rPr kumimoji="0" lang="en-US" altLang="zh-CN" sz="2400" b="1" i="0" u="none" strike="noStrike" kern="1200" cap="small" spc="0" normalizeH="0" baseline="0" noProof="0" dirty="0">
                <a:ln>
                  <a:noFill/>
                </a:ln>
                <a:solidFill>
                  <a:schemeClr val="tx1"/>
                </a:solidFill>
                <a:effectLst>
                  <a:outerShdw blurRad="63500" dist="38100" dir="5400000" algn="t" rotWithShape="0">
                    <a:prstClr val="black">
                      <a:alpha val="25000"/>
                    </a:prstClr>
                  </a:outerShdw>
                </a:effectLst>
                <a:uLnTx/>
                <a:uFillTx/>
                <a:latin typeface="微软雅黑" pitchFamily="34" charset="-122"/>
                <a:ea typeface="微软雅黑" pitchFamily="34" charset="-122"/>
                <a:cs typeface="+mj-cs"/>
              </a:rPr>
              <a:t>Query via Cell Phones</a:t>
            </a:r>
            <a:endParaRPr kumimoji="0" lang="zh-CN" altLang="en-US" sz="2400" b="1" i="0" u="none" strike="noStrike" kern="1200" cap="small" spc="0" normalizeH="0" baseline="0" noProof="0" dirty="0">
              <a:ln>
                <a:noFill/>
              </a:ln>
              <a:solidFill>
                <a:schemeClr val="tx1"/>
              </a:solidFill>
              <a:effectLst>
                <a:outerShdw blurRad="63500" dist="38100" dir="5400000" algn="t" rotWithShape="0">
                  <a:prstClr val="black">
                    <a:alpha val="25000"/>
                  </a:prstClr>
                </a:outerShdw>
              </a:effectLst>
              <a:uLnTx/>
              <a:uFillTx/>
              <a:latin typeface="微软雅黑" pitchFamily="34" charset="-122"/>
              <a:ea typeface="微软雅黑" pitchFamily="34" charset="-122"/>
              <a:cs typeface="+mj-cs"/>
            </a:endParaRPr>
          </a:p>
        </p:txBody>
      </p:sp>
      <p:grpSp>
        <p:nvGrpSpPr>
          <p:cNvPr id="16" name="组合 15"/>
          <p:cNvGrpSpPr/>
          <p:nvPr/>
        </p:nvGrpSpPr>
        <p:grpSpPr>
          <a:xfrm>
            <a:off x="0" y="555526"/>
            <a:ext cx="3311923" cy="71438"/>
            <a:chOff x="0" y="523875"/>
            <a:chExt cx="3311923" cy="71438"/>
          </a:xfrm>
        </p:grpSpPr>
        <p:cxnSp>
          <p:nvCxnSpPr>
            <p:cNvPr id="17" name="直接连接符 16"/>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8"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14" name="矩形标注 13"/>
          <p:cNvSpPr/>
          <p:nvPr/>
        </p:nvSpPr>
        <p:spPr>
          <a:xfrm>
            <a:off x="6279664" y="483518"/>
            <a:ext cx="2378310" cy="878997"/>
          </a:xfrm>
          <a:prstGeom prst="wedgeRectCallout">
            <a:avLst>
              <a:gd name="adj1" fmla="val 38982"/>
              <a:gd name="adj2" fmla="val 167345"/>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p:spPr>
        <p:style>
          <a:lnRef idx="0">
            <a:schemeClr val="dk1"/>
          </a:lnRef>
          <a:fillRef idx="3">
            <a:schemeClr val="dk1"/>
          </a:fillRef>
          <a:effectRef idx="3">
            <a:schemeClr val="dk1"/>
          </a:effectRef>
          <a:fontRef idx="minor">
            <a:schemeClr val="lt1"/>
          </a:fontRef>
        </p:style>
        <p:txBody>
          <a:bodyPr rtlCol="0" anchor="ctr"/>
          <a:lstStyle/>
          <a:p>
            <a:pPr>
              <a:spcAft>
                <a:spcPts val="0"/>
              </a:spcAft>
            </a:pPr>
            <a:r>
              <a:rPr lang="en-US" altLang="zh-CN" sz="1400" kern="100" dirty="0">
                <a:solidFill>
                  <a:srgbClr val="000000"/>
                </a:solidFill>
                <a:effectLst>
                  <a:outerShdw blurRad="38100" dist="19050" dir="2700000" algn="tl">
                    <a:schemeClr val="dk1">
                      <a:alpha val="40000"/>
                    </a:schemeClr>
                  </a:outerShdw>
                </a:effectLst>
                <a:latin typeface="Calibri" panose="020F0502020204030204" pitchFamily="34" charset="0"/>
                <a:ea typeface="微软雅黑" panose="020B0503020204020204" pitchFamily="34" charset="-122"/>
                <a:cs typeface="Times New Roman" panose="02020603050405020304" pitchFamily="18" charset="0"/>
              </a:rPr>
              <a:t>5. </a:t>
            </a:r>
            <a:r>
              <a:rPr lang="zh-CN" altLang="zh-CN" sz="1400" kern="100" dirty="0">
                <a:solidFill>
                  <a:srgbClr val="000000"/>
                </a:solidFill>
                <a:effectLst>
                  <a:outerShdw blurRad="38100" dist="19050" dir="2700000" algn="tl">
                    <a:schemeClr val="dk1">
                      <a:alpha val="40000"/>
                    </a:schemeClr>
                  </a:outerShdw>
                </a:effectLst>
                <a:latin typeface="Calibri" panose="020F0502020204030204" pitchFamily="34" charset="0"/>
                <a:ea typeface="微软雅黑" panose="020B0503020204020204" pitchFamily="34" charset="-122"/>
                <a:cs typeface="Times New Roman" panose="02020603050405020304" pitchFamily="18" charset="0"/>
              </a:rPr>
              <a:t>填写邮箱点击发送</a:t>
            </a:r>
            <a:endParaRPr lang="zh-CN" altLang="zh-CN" sz="1000" kern="100" dirty="0">
              <a:latin typeface="Calibri" panose="020F0502020204030204" pitchFamily="34" charset="0"/>
              <a:cs typeface="Times New Roman" panose="02020603050405020304" pitchFamily="18" charset="0"/>
            </a:endParaRPr>
          </a:p>
          <a:p>
            <a:pPr algn="ctr">
              <a:spcAft>
                <a:spcPts val="0"/>
              </a:spcAft>
            </a:pPr>
            <a:r>
              <a:rPr lang="zh-CN" altLang="zh-CN" sz="1400" kern="100" dirty="0">
                <a:solidFill>
                  <a:srgbClr val="000000"/>
                </a:solidFill>
                <a:effectLst>
                  <a:outerShdw blurRad="38100" dist="19050" dir="2700000" algn="tl">
                    <a:schemeClr val="dk1">
                      <a:alpha val="40000"/>
                    </a:schemeClr>
                  </a:outerShdw>
                </a:effectLst>
                <a:latin typeface="Calibri" panose="020F0502020204030204" pitchFamily="34" charset="0"/>
                <a:ea typeface="微软雅黑" panose="020B0503020204020204" pitchFamily="34" charset="-122"/>
                <a:cs typeface="Times New Roman" panose="02020603050405020304" pitchFamily="18" charset="0"/>
              </a:rPr>
              <a:t>或点击【下载电子收据】</a:t>
            </a:r>
            <a:endParaRPr lang="zh-CN" altLang="zh-CN" sz="1000" kern="100" dirty="0">
              <a:latin typeface="Calibri" panose="020F0502020204030204" pitchFamily="34" charset="0"/>
              <a:cs typeface="Times New Roman" panose="02020603050405020304" pitchFamily="18" charset="0"/>
            </a:endParaRPr>
          </a:p>
          <a:p>
            <a:pPr algn="ctr">
              <a:spcAft>
                <a:spcPts val="0"/>
              </a:spcAft>
            </a:pPr>
            <a:r>
              <a:rPr lang="en-US" altLang="zh-CN" sz="1400" kern="100" dirty="0">
                <a:solidFill>
                  <a:srgbClr val="000000"/>
                </a:solidFill>
                <a:effectLst>
                  <a:outerShdw blurRad="38100" dist="19050" dir="2700000" algn="tl">
                    <a:schemeClr val="dk1">
                      <a:alpha val="40000"/>
                    </a:schemeClr>
                  </a:outerShdw>
                </a:effectLst>
                <a:latin typeface="Arial Narrow" panose="020B0606020202030204" pitchFamily="34" charset="0"/>
                <a:ea typeface="微软雅黑" panose="020B0503020204020204" pitchFamily="34" charset="-122"/>
                <a:cs typeface="Times New Roman" panose="02020603050405020304" pitchFamily="18" charset="0"/>
              </a:rPr>
              <a:t>Email or </a:t>
            </a:r>
            <a:br>
              <a:rPr lang="en-US" altLang="zh-CN" sz="1400" kern="100" dirty="0">
                <a:solidFill>
                  <a:srgbClr val="000000"/>
                </a:solidFill>
                <a:effectLst>
                  <a:outerShdw blurRad="38100" dist="19050" dir="2700000" algn="tl">
                    <a:schemeClr val="dk1">
                      <a:alpha val="40000"/>
                    </a:schemeClr>
                  </a:outerShdw>
                </a:effectLst>
                <a:latin typeface="Arial Narrow" panose="020B0606020202030204" pitchFamily="34" charset="0"/>
                <a:ea typeface="微软雅黑" panose="020B0503020204020204" pitchFamily="34" charset="-122"/>
                <a:cs typeface="Times New Roman" panose="02020603050405020304" pitchFamily="18" charset="0"/>
              </a:rPr>
            </a:br>
            <a:r>
              <a:rPr lang="en-US" altLang="zh-CN" sz="1400" kern="100" dirty="0">
                <a:solidFill>
                  <a:srgbClr val="000000"/>
                </a:solidFill>
                <a:effectLst>
                  <a:outerShdw blurRad="38100" dist="19050" dir="2700000" algn="tl">
                    <a:schemeClr val="dk1">
                      <a:alpha val="40000"/>
                    </a:schemeClr>
                  </a:outerShdw>
                </a:effectLst>
                <a:latin typeface="Arial Narrow" panose="020B0606020202030204" pitchFamily="34" charset="0"/>
                <a:ea typeface="微软雅黑" panose="020B0503020204020204" pitchFamily="34" charset="-122"/>
                <a:cs typeface="Times New Roman" panose="02020603050405020304" pitchFamily="18" charset="0"/>
              </a:rPr>
              <a:t>Download electronic receipt</a:t>
            </a:r>
            <a:endParaRPr lang="zh-CN" altLang="zh-CN" sz="1000" kern="100" dirty="0">
              <a:latin typeface="Calibri" panose="020F0502020204030204" pitchFamily="34" charset="0"/>
              <a:cs typeface="Times New Roman" panose="02020603050405020304" pitchFamily="18" charset="0"/>
            </a:endParaRPr>
          </a:p>
        </p:txBody>
      </p:sp>
      <p:sp>
        <p:nvSpPr>
          <p:cNvPr id="8" name="矩形标注 7"/>
          <p:cNvSpPr/>
          <p:nvPr/>
        </p:nvSpPr>
        <p:spPr>
          <a:xfrm>
            <a:off x="552456" y="2334992"/>
            <a:ext cx="2425145" cy="769710"/>
          </a:xfrm>
          <a:prstGeom prst="wedgeRectCallout">
            <a:avLst>
              <a:gd name="adj1" fmla="val -11438"/>
              <a:gd name="adj2" fmla="val 88679"/>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p:spPr>
        <p:style>
          <a:lnRef idx="0">
            <a:schemeClr val="dk1"/>
          </a:lnRef>
          <a:fillRef idx="3">
            <a:schemeClr val="dk1"/>
          </a:fillRef>
          <a:effectRef idx="3">
            <a:schemeClr val="dk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3.</a:t>
            </a:r>
            <a:r>
              <a:rPr lang="zh-CN" altLang="en-US" sz="1400" b="1" dirty="0">
                <a:solidFill>
                  <a:schemeClr val="tx1"/>
                </a:solidFill>
                <a:latin typeface="微软雅黑" pitchFamily="34" charset="-122"/>
                <a:ea typeface="微软雅黑" pitchFamily="34" charset="-122"/>
              </a:rPr>
              <a:t> 输入护照号和验证码</a:t>
            </a:r>
            <a:endParaRPr lang="en-US" altLang="zh-CN" sz="1400" b="1" dirty="0">
              <a:solidFill>
                <a:schemeClr val="tx1"/>
              </a:solidFill>
              <a:latin typeface="微软雅黑" pitchFamily="34" charset="-122"/>
              <a:ea typeface="微软雅黑" pitchFamily="34" charset="-122"/>
            </a:endParaRPr>
          </a:p>
          <a:p>
            <a:pPr algn="ctr"/>
            <a:r>
              <a:rPr lang="en-US" altLang="zh-CN" sz="1400" b="1" dirty="0">
                <a:solidFill>
                  <a:schemeClr val="tx1"/>
                </a:solidFill>
                <a:latin typeface="微软雅黑" pitchFamily="34" charset="-122"/>
                <a:ea typeface="微软雅黑" pitchFamily="34" charset="-122"/>
              </a:rPr>
              <a:t>Passport number and verification code</a:t>
            </a:r>
            <a:endParaRPr lang="zh-CN" altLang="en-US" sz="1400" b="1" dirty="0">
              <a:solidFill>
                <a:schemeClr val="tx1"/>
              </a:solidFill>
              <a:latin typeface="微软雅黑" pitchFamily="34" charset="-122"/>
              <a:ea typeface="微软雅黑" pitchFamily="34" charset="-122"/>
            </a:endParaRPr>
          </a:p>
        </p:txBody>
      </p:sp>
      <p:sp>
        <p:nvSpPr>
          <p:cNvPr id="12" name="矩形标注 11"/>
          <p:cNvSpPr/>
          <p:nvPr/>
        </p:nvSpPr>
        <p:spPr>
          <a:xfrm>
            <a:off x="3403972" y="1953668"/>
            <a:ext cx="2425145" cy="769710"/>
          </a:xfrm>
          <a:prstGeom prst="wedgeRectCallout">
            <a:avLst>
              <a:gd name="adj1" fmla="val -24675"/>
              <a:gd name="adj2" fmla="val -93309"/>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ln/>
        </p:spPr>
        <p:style>
          <a:lnRef idx="0">
            <a:schemeClr val="dk1"/>
          </a:lnRef>
          <a:fillRef idx="3">
            <a:schemeClr val="dk1"/>
          </a:fillRef>
          <a:effectRef idx="3">
            <a:schemeClr val="dk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4.</a:t>
            </a:r>
            <a:r>
              <a:rPr lang="zh-CN" altLang="en-US" sz="1400" b="1" dirty="0">
                <a:solidFill>
                  <a:schemeClr val="tx1"/>
                </a:solidFill>
                <a:latin typeface="微软雅黑" pitchFamily="34" charset="-122"/>
                <a:ea typeface="微软雅黑" pitchFamily="34" charset="-122"/>
              </a:rPr>
              <a:t> 点击我的订单</a:t>
            </a:r>
            <a:endParaRPr lang="en-US" altLang="zh-CN" sz="1400" b="1" dirty="0">
              <a:solidFill>
                <a:schemeClr val="tx1"/>
              </a:solidFill>
              <a:latin typeface="微软雅黑" pitchFamily="34" charset="-122"/>
              <a:ea typeface="微软雅黑" pitchFamily="34" charset="-122"/>
            </a:endParaRPr>
          </a:p>
          <a:p>
            <a:pPr algn="ctr"/>
            <a:r>
              <a:rPr lang="en-US" altLang="zh-CN" sz="1400" b="1" dirty="0">
                <a:solidFill>
                  <a:schemeClr val="tx1"/>
                </a:solidFill>
                <a:latin typeface="微软雅黑" pitchFamily="34" charset="-122"/>
                <a:ea typeface="微软雅黑" pitchFamily="34" charset="-122"/>
              </a:rPr>
              <a:t>Click “My orders”</a:t>
            </a:r>
            <a:endParaRPr lang="zh-CN" altLang="en-US" sz="1400" b="1" dirty="0">
              <a:solidFill>
                <a:schemeClr val="tx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Top)">
                                      <p:cBhvr>
                                        <p:cTn id="7" dur="500"/>
                                        <p:tgtEl>
                                          <p:spTgt spid="14"/>
                                        </p:tgtEl>
                                      </p:cBhvr>
                                    </p:animEffect>
                                  </p:childTnLst>
                                </p:cTn>
                              </p:par>
                            </p:childTnLst>
                          </p:cTn>
                        </p:par>
                        <p:par>
                          <p:cTn id="8" fill="hold">
                            <p:stCondLst>
                              <p:cond delay="500"/>
                            </p:stCondLst>
                            <p:childTnLst>
                              <p:par>
                                <p:cTn id="9" presetID="17"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1000" fill="hold"/>
                                        <p:tgtEl>
                                          <p:spTgt spid="8"/>
                                        </p:tgtEl>
                                        <p:attrNameLst>
                                          <p:attrName>ppt_w</p:attrName>
                                        </p:attrNameLst>
                                      </p:cBhvr>
                                      <p:tavLst>
                                        <p:tav tm="0">
                                          <p:val>
                                            <p:fltVal val="0"/>
                                          </p:val>
                                        </p:tav>
                                        <p:tav tm="100000">
                                          <p:val>
                                            <p:strVal val="#ppt_w"/>
                                          </p:val>
                                        </p:tav>
                                      </p:tavLst>
                                    </p:anim>
                                    <p:anim calcmode="lin" valueType="num">
                                      <p:cBhvr>
                                        <p:cTn id="12" dur="1000" fill="hold"/>
                                        <p:tgtEl>
                                          <p:spTgt spid="8"/>
                                        </p:tgtEl>
                                        <p:attrNameLst>
                                          <p:attrName>ppt_h</p:attrName>
                                        </p:attrNameLst>
                                      </p:cBhvr>
                                      <p:tavLst>
                                        <p:tav tm="0">
                                          <p:val>
                                            <p:strVal val="#ppt_h"/>
                                          </p:val>
                                        </p:tav>
                                        <p:tav tm="100000">
                                          <p:val>
                                            <p:strVal val="#ppt_h"/>
                                          </p:val>
                                        </p:tav>
                                      </p:tavLst>
                                    </p:anim>
                                  </p:childTnLst>
                                </p:cTn>
                              </p:par>
                            </p:childTnLst>
                          </p:cTn>
                        </p:par>
                        <p:par>
                          <p:cTn id="13" fill="hold">
                            <p:stCondLst>
                              <p:cond delay="1500"/>
                            </p:stCondLst>
                            <p:childTnLst>
                              <p:par>
                                <p:cTn id="14" presetID="17" presetClass="entr" presetSubtype="1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1000" fill="hold"/>
                                        <p:tgtEl>
                                          <p:spTgt spid="12"/>
                                        </p:tgtEl>
                                        <p:attrNameLst>
                                          <p:attrName>ppt_w</p:attrName>
                                        </p:attrNameLst>
                                      </p:cBhvr>
                                      <p:tavLst>
                                        <p:tav tm="0">
                                          <p:val>
                                            <p:fltVal val="0"/>
                                          </p:val>
                                        </p:tav>
                                        <p:tav tm="100000">
                                          <p:val>
                                            <p:strVal val="#ppt_w"/>
                                          </p:val>
                                        </p:tav>
                                      </p:tavLst>
                                    </p:anim>
                                    <p:anim calcmode="lin" valueType="num">
                                      <p:cBhvr>
                                        <p:cTn id="17" dur="10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十字星 38"/>
          <p:cNvSpPr/>
          <p:nvPr/>
        </p:nvSpPr>
        <p:spPr>
          <a:xfrm>
            <a:off x="1475656" y="1059582"/>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十字星 39"/>
          <p:cNvSpPr/>
          <p:nvPr/>
        </p:nvSpPr>
        <p:spPr>
          <a:xfrm>
            <a:off x="1475656" y="3291830"/>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8"/>
          <p:cNvSpPr>
            <a:spLocks noChangeArrowheads="1"/>
          </p:cNvSpPr>
          <p:nvPr/>
        </p:nvSpPr>
        <p:spPr bwMode="auto">
          <a:xfrm>
            <a:off x="3626206" y="2089091"/>
            <a:ext cx="3941060" cy="738664"/>
          </a:xfrm>
          <a:prstGeom prst="rect">
            <a:avLst/>
          </a:prstGeom>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b="1" dirty="0">
                <a:latin typeface="微软雅黑" pitchFamily="34" charset="-122"/>
                <a:ea typeface="微软雅黑" pitchFamily="34" charset="-122"/>
              </a:rPr>
              <a:t>理赔案例  </a:t>
            </a:r>
            <a:endParaRPr lang="en-US" altLang="zh-CN" sz="2400" b="1" dirty="0">
              <a:latin typeface="微软雅黑" pitchFamily="34" charset="-122"/>
              <a:ea typeface="微软雅黑" pitchFamily="34" charset="-122"/>
            </a:endParaRPr>
          </a:p>
          <a:p>
            <a:r>
              <a:rPr lang="en-US" altLang="zh-CN" b="1" dirty="0">
                <a:latin typeface="微软雅黑" pitchFamily="34" charset="-122"/>
                <a:ea typeface="微软雅黑" pitchFamily="34" charset="-122"/>
              </a:rPr>
              <a:t>Reimbursement Example</a:t>
            </a:r>
            <a:endParaRPr lang="zh-CN" altLang="en-US" b="1" dirty="0">
              <a:latin typeface="微软雅黑" pitchFamily="34" charset="-122"/>
              <a:ea typeface="微软雅黑" pitchFamily="34" charset="-122"/>
            </a:endParaRPr>
          </a:p>
        </p:txBody>
      </p:sp>
      <p:grpSp>
        <p:nvGrpSpPr>
          <p:cNvPr id="12" name="组合 28"/>
          <p:cNvGrpSpPr/>
          <p:nvPr/>
        </p:nvGrpSpPr>
        <p:grpSpPr>
          <a:xfrm>
            <a:off x="2411760" y="2088690"/>
            <a:ext cx="936104" cy="590914"/>
            <a:chOff x="1907704" y="5229200"/>
            <a:chExt cx="936104" cy="919896"/>
          </a:xfrm>
        </p:grpSpPr>
        <p:grpSp>
          <p:nvGrpSpPr>
            <p:cNvPr id="13" name="Group 12"/>
            <p:cNvGrpSpPr>
              <a:grpSpLocks/>
            </p:cNvGrpSpPr>
            <p:nvPr/>
          </p:nvGrpSpPr>
          <p:grpSpPr bwMode="auto">
            <a:xfrm>
              <a:off x="1907704" y="5229200"/>
              <a:ext cx="936104" cy="864095"/>
              <a:chOff x="0" y="-3"/>
              <a:chExt cx="812" cy="833"/>
            </a:xfrm>
          </p:grpSpPr>
          <p:sp>
            <p:nvSpPr>
              <p:cNvPr id="15"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16" name="Picture 12" descr="cir_lighteffect0"/>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14" name="TextBox 24"/>
            <p:cNvSpPr txBox="1"/>
            <p:nvPr/>
          </p:nvSpPr>
          <p:spPr>
            <a:xfrm>
              <a:off x="2143232" y="5238757"/>
              <a:ext cx="432048" cy="910339"/>
            </a:xfrm>
            <a:prstGeom prst="rect">
              <a:avLst/>
            </a:prstGeom>
            <a:noFill/>
          </p:spPr>
          <p:txBody>
            <a:bodyPr wrap="square" rtlCol="0">
              <a:spAutoFit/>
            </a:bodyPr>
            <a:lstStyle/>
            <a:p>
              <a:r>
                <a:rPr lang="en-US" altLang="zh-CN" sz="3200" b="1" dirty="0">
                  <a:latin typeface="Arial Black" pitchFamily="34" charset="0"/>
                </a:rPr>
                <a:t>5</a:t>
              </a:r>
              <a:endParaRPr lang="zh-CN" altLang="en-US" sz="3200" b="1" dirty="0">
                <a:latin typeface="Arial Black" pitchFamily="34" charset="0"/>
              </a:endParaRPr>
            </a:p>
          </p:txBody>
        </p:sp>
      </p:grpSp>
    </p:spTree>
    <p:extLst>
      <p:ext uri="{BB962C8B-B14F-4D97-AF65-F5344CB8AC3E}">
        <p14:creationId xmlns:p14="http://schemas.microsoft.com/office/powerpoint/2010/main" val="13039112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652120" y="1491630"/>
            <a:ext cx="3178755" cy="523220"/>
          </a:xfrm>
          <a:prstGeom prst="rect">
            <a:avLst/>
          </a:prstGeom>
        </p:spPr>
        <p:txBody>
          <a:bodyPr wrap="none">
            <a:spAutoFit/>
          </a:bodyPr>
          <a:lstStyle/>
          <a:p>
            <a:r>
              <a:rPr lang="en-US" altLang="zh-CN" sz="2000" dirty="0"/>
              <a:t>Break a rock in the chest </a:t>
            </a:r>
            <a:r>
              <a:rPr lang="en-US" altLang="zh-CN" sz="2800" dirty="0">
                <a:solidFill>
                  <a:srgbClr val="FF0000"/>
                </a:solidFill>
              </a:rPr>
              <a:t>X</a:t>
            </a:r>
            <a:endParaRPr lang="zh-CN" altLang="en-US" sz="2000" dirty="0">
              <a:solidFill>
                <a:srgbClr val="FF0000"/>
              </a:solidFill>
            </a:endParaRPr>
          </a:p>
        </p:txBody>
      </p:sp>
      <p:pic>
        <p:nvPicPr>
          <p:cNvPr id="4" name="图片 3"/>
          <p:cNvPicPr>
            <a:picLocks noChangeAspect="1"/>
          </p:cNvPicPr>
          <p:nvPr/>
        </p:nvPicPr>
        <p:blipFill>
          <a:blip r:embed="rId2"/>
          <a:stretch>
            <a:fillRect/>
          </a:stretch>
        </p:blipFill>
        <p:spPr>
          <a:xfrm>
            <a:off x="5803696" y="2465792"/>
            <a:ext cx="2958439" cy="2207937"/>
          </a:xfrm>
          <a:prstGeom prst="rect">
            <a:avLst/>
          </a:prstGeom>
        </p:spPr>
      </p:pic>
      <p:sp>
        <p:nvSpPr>
          <p:cNvPr id="5" name="文本框 4">
            <a:extLst>
              <a:ext uri="{FF2B5EF4-FFF2-40B4-BE49-F238E27FC236}">
                <a16:creationId xmlns:a16="http://schemas.microsoft.com/office/drawing/2014/main" id="{F6EB57E4-E7B4-7C10-A45B-E3CF5D198061}"/>
              </a:ext>
            </a:extLst>
          </p:cNvPr>
          <p:cNvSpPr txBox="1"/>
          <p:nvPr/>
        </p:nvSpPr>
        <p:spPr>
          <a:xfrm>
            <a:off x="213965" y="272607"/>
            <a:ext cx="4579974" cy="369332"/>
          </a:xfrm>
          <a:prstGeom prst="rect">
            <a:avLst/>
          </a:prstGeom>
          <a:noFill/>
        </p:spPr>
        <p:txBody>
          <a:bodyPr wrap="square">
            <a:spAutoFit/>
          </a:bodyPr>
          <a:lstStyle/>
          <a:p>
            <a:r>
              <a:rPr lang="en-US" altLang="zh-CN" b="1" dirty="0">
                <a:latin typeface="微软雅黑" pitchFamily="34" charset="-122"/>
                <a:ea typeface="微软雅黑" pitchFamily="34" charset="-122"/>
              </a:rPr>
              <a:t>The real case…</a:t>
            </a:r>
            <a:endParaRPr lang="zh-CN" altLang="en-US" b="1" dirty="0">
              <a:latin typeface="微软雅黑" pitchFamily="34" charset="-122"/>
              <a:ea typeface="微软雅黑" pitchFamily="34" charset="-122"/>
            </a:endParaRPr>
          </a:p>
        </p:txBody>
      </p:sp>
      <p:grpSp>
        <p:nvGrpSpPr>
          <p:cNvPr id="6" name="组合 5"/>
          <p:cNvGrpSpPr/>
          <p:nvPr/>
        </p:nvGrpSpPr>
        <p:grpSpPr>
          <a:xfrm>
            <a:off x="0" y="627534"/>
            <a:ext cx="3311923" cy="71438"/>
            <a:chOff x="0" y="523875"/>
            <a:chExt cx="3311923" cy="71438"/>
          </a:xfrm>
        </p:grpSpPr>
        <p:cxnSp>
          <p:nvCxnSpPr>
            <p:cNvPr id="7" name="直接连接符 6"/>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12" name="矩形 11"/>
          <p:cNvSpPr/>
          <p:nvPr/>
        </p:nvSpPr>
        <p:spPr>
          <a:xfrm>
            <a:off x="323528" y="1491630"/>
            <a:ext cx="2419252" cy="523220"/>
          </a:xfrm>
          <a:prstGeom prst="rect">
            <a:avLst/>
          </a:prstGeom>
        </p:spPr>
        <p:txBody>
          <a:bodyPr wrap="none">
            <a:spAutoFit/>
          </a:bodyPr>
          <a:lstStyle/>
          <a:p>
            <a:r>
              <a:rPr lang="en-US" altLang="zh-CN" sz="2000" dirty="0"/>
              <a:t>Drinking shampoo </a:t>
            </a:r>
            <a:r>
              <a:rPr lang="en-US" altLang="zh-CN" sz="2800" dirty="0">
                <a:solidFill>
                  <a:srgbClr val="FF0000"/>
                </a:solidFill>
              </a:rPr>
              <a:t>X</a:t>
            </a:r>
            <a:endParaRPr lang="zh-CN" altLang="en-US" dirty="0"/>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392" y="2478216"/>
            <a:ext cx="2619741" cy="2207937"/>
          </a:xfrm>
          <a:prstGeom prst="rect">
            <a:avLst/>
          </a:prstGeom>
        </p:spPr>
      </p:pic>
      <p:pic>
        <p:nvPicPr>
          <p:cNvPr id="14" name="图片 13"/>
          <p:cNvPicPr>
            <a:picLocks noChangeAspect="1"/>
          </p:cNvPicPr>
          <p:nvPr/>
        </p:nvPicPr>
        <p:blipFill>
          <a:blip r:embed="rId4"/>
          <a:stretch>
            <a:fillRect/>
          </a:stretch>
        </p:blipFill>
        <p:spPr>
          <a:xfrm>
            <a:off x="2915815" y="2478216"/>
            <a:ext cx="2874209" cy="2195513"/>
          </a:xfrm>
          <a:prstGeom prst="rect">
            <a:avLst/>
          </a:prstGeom>
        </p:spPr>
      </p:pic>
      <p:sp>
        <p:nvSpPr>
          <p:cNvPr id="15" name="文本框 14"/>
          <p:cNvSpPr txBox="1"/>
          <p:nvPr/>
        </p:nvSpPr>
        <p:spPr>
          <a:xfrm>
            <a:off x="2843808" y="1491630"/>
            <a:ext cx="2722925" cy="523220"/>
          </a:xfrm>
          <a:prstGeom prst="rect">
            <a:avLst/>
          </a:prstGeom>
          <a:noFill/>
        </p:spPr>
        <p:txBody>
          <a:bodyPr wrap="none" rtlCol="0">
            <a:spAutoFit/>
          </a:bodyPr>
          <a:lstStyle/>
          <a:p>
            <a:r>
              <a:rPr lang="en-US" altLang="zh-CN" sz="2000" dirty="0"/>
              <a:t>Climbing the window</a:t>
            </a:r>
            <a:r>
              <a:rPr lang="en-US" altLang="zh-CN" sz="2000" dirty="0">
                <a:solidFill>
                  <a:srgbClr val="FF0000"/>
                </a:solidFill>
              </a:rPr>
              <a:t> </a:t>
            </a:r>
            <a:r>
              <a:rPr lang="en-US" altLang="zh-CN" sz="2800" dirty="0">
                <a:solidFill>
                  <a:srgbClr val="FF0000"/>
                </a:solidFill>
              </a:rPr>
              <a:t>X</a:t>
            </a:r>
            <a:endParaRPr lang="zh-CN" altLang="en-US" dirty="0"/>
          </a:p>
        </p:txBody>
      </p:sp>
      <p:sp>
        <p:nvSpPr>
          <p:cNvPr id="16" name="矩形 15"/>
          <p:cNvSpPr/>
          <p:nvPr/>
        </p:nvSpPr>
        <p:spPr>
          <a:xfrm>
            <a:off x="6032125" y="4227934"/>
            <a:ext cx="2270173" cy="400110"/>
          </a:xfrm>
          <a:prstGeom prst="rect">
            <a:avLst/>
          </a:prstGeom>
        </p:spPr>
        <p:txBody>
          <a:bodyPr wrap="none">
            <a:spAutoFit/>
          </a:bodyPr>
          <a:lstStyle/>
          <a:p>
            <a:r>
              <a:rPr lang="zh-CN" altLang="en-US" sz="2000" b="1" dirty="0">
                <a:solidFill>
                  <a:srgbClr val="0070C0"/>
                </a:solidFill>
                <a:latin typeface="微软雅黑" pitchFamily="34" charset="-122"/>
                <a:ea typeface="微软雅黑" pitchFamily="34" charset="-122"/>
              </a:rPr>
              <a:t>Chinese kung fu</a:t>
            </a:r>
          </a:p>
        </p:txBody>
      </p:sp>
      <p:sp>
        <p:nvSpPr>
          <p:cNvPr id="17" name="椭圆 16"/>
          <p:cNvSpPr/>
          <p:nvPr/>
        </p:nvSpPr>
        <p:spPr>
          <a:xfrm>
            <a:off x="2339752" y="1563638"/>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5148064" y="1573220"/>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8316416" y="1573220"/>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72918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十字星 38"/>
          <p:cNvSpPr/>
          <p:nvPr/>
        </p:nvSpPr>
        <p:spPr>
          <a:xfrm>
            <a:off x="1475656" y="1059582"/>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十字星 39"/>
          <p:cNvSpPr/>
          <p:nvPr/>
        </p:nvSpPr>
        <p:spPr>
          <a:xfrm>
            <a:off x="1475656" y="3291830"/>
            <a:ext cx="6480720" cy="288032"/>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8"/>
          <p:cNvSpPr>
            <a:spLocks noChangeArrowheads="1"/>
          </p:cNvSpPr>
          <p:nvPr/>
        </p:nvSpPr>
        <p:spPr bwMode="auto">
          <a:xfrm>
            <a:off x="3626206" y="2089091"/>
            <a:ext cx="3941060" cy="461665"/>
          </a:xfrm>
          <a:prstGeom prst="rect">
            <a:avLst/>
          </a:prstGeom>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b="1" dirty="0">
                <a:latin typeface="微软雅黑" pitchFamily="34" charset="-122"/>
                <a:ea typeface="微软雅黑" pitchFamily="34" charset="-122"/>
              </a:rPr>
              <a:t>  保险提示  </a:t>
            </a:r>
            <a:r>
              <a:rPr lang="en-US" altLang="zh-CN" b="1" dirty="0">
                <a:latin typeface="微软雅黑" pitchFamily="34" charset="-122"/>
                <a:ea typeface="微软雅黑" pitchFamily="34" charset="-122"/>
              </a:rPr>
              <a:t>Tips</a:t>
            </a:r>
            <a:endParaRPr lang="zh-CN" altLang="en-US" b="1" dirty="0">
              <a:latin typeface="微软雅黑" pitchFamily="34" charset="-122"/>
              <a:ea typeface="微软雅黑" pitchFamily="34" charset="-122"/>
            </a:endParaRPr>
          </a:p>
        </p:txBody>
      </p:sp>
      <p:grpSp>
        <p:nvGrpSpPr>
          <p:cNvPr id="12" name="组合 28"/>
          <p:cNvGrpSpPr/>
          <p:nvPr/>
        </p:nvGrpSpPr>
        <p:grpSpPr>
          <a:xfrm>
            <a:off x="2411760" y="2088690"/>
            <a:ext cx="936104" cy="590914"/>
            <a:chOff x="1907704" y="5229200"/>
            <a:chExt cx="936104" cy="919896"/>
          </a:xfrm>
        </p:grpSpPr>
        <p:grpSp>
          <p:nvGrpSpPr>
            <p:cNvPr id="13" name="Group 12"/>
            <p:cNvGrpSpPr>
              <a:grpSpLocks/>
            </p:cNvGrpSpPr>
            <p:nvPr/>
          </p:nvGrpSpPr>
          <p:grpSpPr bwMode="auto">
            <a:xfrm>
              <a:off x="1907704" y="5229200"/>
              <a:ext cx="936104" cy="864095"/>
              <a:chOff x="0" y="-3"/>
              <a:chExt cx="812" cy="833"/>
            </a:xfrm>
          </p:grpSpPr>
          <p:sp>
            <p:nvSpPr>
              <p:cNvPr id="15" name="Oval 11"/>
              <p:cNvSpPr>
                <a:spLocks noChangeArrowheads="1"/>
              </p:cNvSpPr>
              <p:nvPr/>
            </p:nvSpPr>
            <p:spPr bwMode="auto">
              <a:xfrm>
                <a:off x="0" y="28"/>
                <a:ext cx="812" cy="802"/>
              </a:xfrm>
              <a:prstGeom prst="ellipse">
                <a:avLst/>
              </a:prstGeom>
              <a:solidFill>
                <a:schemeClr val="accent1"/>
              </a:solidFill>
              <a:ln w="57150" cmpd="sng">
                <a:solidFill>
                  <a:srgbClr val="F8F8F8">
                    <a:alpha val="67999"/>
                  </a:srgbClr>
                </a:solidFill>
                <a:round/>
                <a:headEnd/>
                <a:tailEnd/>
              </a:ln>
            </p:spPr>
            <p:txBody>
              <a:bodyPr wrap="none" anchor="ctr"/>
              <a:lstStyle/>
              <a:p>
                <a:endParaRPr lang="zh-CN" altLang="en-US">
                  <a:solidFill>
                    <a:schemeClr val="bg1"/>
                  </a:solidFill>
                  <a:latin typeface="Calibri" pitchFamily="34" charset="0"/>
                </a:endParaRPr>
              </a:p>
            </p:txBody>
          </p:sp>
          <p:pic>
            <p:nvPicPr>
              <p:cNvPr id="16" name="Picture 12" descr="cir_lighteffect0"/>
              <p:cNvPicPr>
                <a:picLocks noChangeAspect="1" noChangeArrowheads="1"/>
              </p:cNvPicPr>
              <p:nvPr/>
            </p:nvPicPr>
            <p:blipFill>
              <a:blip r:embed="rId2" cstate="print">
                <a:lum bright="18000" contrast="-12000"/>
              </a:blip>
              <a:srcRect/>
              <a:stretch>
                <a:fillRect/>
              </a:stretch>
            </p:blipFill>
            <p:spPr bwMode="auto">
              <a:xfrm>
                <a:off x="51" y="-3"/>
                <a:ext cx="670" cy="670"/>
              </a:xfrm>
              <a:prstGeom prst="rect">
                <a:avLst/>
              </a:prstGeom>
              <a:noFill/>
              <a:ln w="9525">
                <a:noFill/>
                <a:miter lim="800000"/>
                <a:headEnd/>
                <a:tailEnd/>
              </a:ln>
            </p:spPr>
          </p:pic>
        </p:grpSp>
        <p:sp>
          <p:nvSpPr>
            <p:cNvPr id="14" name="TextBox 24"/>
            <p:cNvSpPr txBox="1"/>
            <p:nvPr/>
          </p:nvSpPr>
          <p:spPr>
            <a:xfrm>
              <a:off x="2143232" y="5238757"/>
              <a:ext cx="432048" cy="910339"/>
            </a:xfrm>
            <a:prstGeom prst="rect">
              <a:avLst/>
            </a:prstGeom>
            <a:noFill/>
          </p:spPr>
          <p:txBody>
            <a:bodyPr wrap="square" rtlCol="0">
              <a:spAutoFit/>
            </a:bodyPr>
            <a:lstStyle/>
            <a:p>
              <a:r>
                <a:rPr lang="en-US" altLang="zh-CN" sz="3200" b="1" dirty="0">
                  <a:latin typeface="Arial Black" pitchFamily="34" charset="0"/>
                </a:rPr>
                <a:t>6</a:t>
              </a:r>
              <a:endParaRPr lang="zh-CN" altLang="en-US" sz="3200" b="1" dirty="0">
                <a:latin typeface="Arial Black"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81712" y="851973"/>
            <a:ext cx="3240360" cy="49564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fontScale="92500" lnSpcReduction="10000"/>
          </a:bodyPr>
          <a:lstStyle>
            <a:defPPr>
              <a:defRPr lang="zh-CN"/>
            </a:defPPr>
            <a:lvl1pPr>
              <a:defRPr b="1">
                <a:latin typeface="微软雅黑" pitchFamily="34" charset="-122"/>
                <a:ea typeface="微软雅黑" pitchFamily="34" charset="-122"/>
              </a:defRPr>
            </a:lvl1pPr>
          </a:lstStyle>
          <a:p>
            <a:pPr>
              <a:spcBef>
                <a:spcPct val="20000"/>
              </a:spcBef>
            </a:pPr>
            <a:r>
              <a:rPr lang="zh-CN" altLang="en-US" sz="1400" dirty="0">
                <a:solidFill>
                  <a:schemeClr val="dk1"/>
                </a:solidFill>
              </a:rPr>
              <a:t>外宾病区</a:t>
            </a:r>
            <a:endParaRPr lang="en-US" altLang="zh-CN" sz="1400" dirty="0">
              <a:solidFill>
                <a:schemeClr val="dk1"/>
              </a:solidFill>
            </a:endParaRPr>
          </a:p>
          <a:p>
            <a:pPr>
              <a:spcBef>
                <a:spcPct val="20000"/>
              </a:spcBef>
            </a:pPr>
            <a:r>
              <a:rPr lang="en-US" altLang="zh-CN" sz="1400" dirty="0">
                <a:solidFill>
                  <a:schemeClr val="dk1"/>
                </a:solidFill>
              </a:rPr>
              <a:t>ward area for  foreigners</a:t>
            </a:r>
            <a:endParaRPr lang="zh-CN" altLang="en-US" sz="1400" dirty="0">
              <a:solidFill>
                <a:schemeClr val="dk1"/>
              </a:solidFill>
            </a:endParaRPr>
          </a:p>
        </p:txBody>
      </p:sp>
      <p:sp>
        <p:nvSpPr>
          <p:cNvPr id="7" name="TextBox 6"/>
          <p:cNvSpPr txBox="1"/>
          <p:nvPr/>
        </p:nvSpPr>
        <p:spPr>
          <a:xfrm>
            <a:off x="478515" y="2090932"/>
            <a:ext cx="3240360" cy="91288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Autofit/>
          </a:bodyPr>
          <a:lstStyle>
            <a:defPPr>
              <a:defRPr lang="zh-CN"/>
            </a:defPPr>
            <a:lvl1pPr>
              <a:defRPr b="1">
                <a:latin typeface="微软雅黑" pitchFamily="34" charset="-122"/>
                <a:ea typeface="微软雅黑" pitchFamily="34" charset="-122"/>
              </a:defRPr>
            </a:lvl1pPr>
          </a:lstStyle>
          <a:p>
            <a:pPr>
              <a:lnSpc>
                <a:spcPct val="150000"/>
              </a:lnSpc>
              <a:spcBef>
                <a:spcPct val="20000"/>
              </a:spcBef>
            </a:pPr>
            <a:r>
              <a:rPr lang="zh-CN" altLang="en-US" sz="1200" dirty="0">
                <a:solidFill>
                  <a:schemeClr val="dk1"/>
                </a:solidFill>
              </a:rPr>
              <a:t>特诊特需病房及病区</a:t>
            </a:r>
            <a:endParaRPr lang="en-US" altLang="zh-CN" sz="1200" dirty="0">
              <a:solidFill>
                <a:schemeClr val="dk1"/>
              </a:solidFill>
            </a:endParaRPr>
          </a:p>
          <a:p>
            <a:pPr>
              <a:lnSpc>
                <a:spcPct val="150000"/>
              </a:lnSpc>
              <a:spcBef>
                <a:spcPct val="20000"/>
              </a:spcBef>
            </a:pPr>
            <a:r>
              <a:rPr lang="en-US" altLang="zh-CN" sz="1200" dirty="0">
                <a:solidFill>
                  <a:schemeClr val="dk1"/>
                </a:solidFill>
              </a:rPr>
              <a:t>ward area for special treatment and needs</a:t>
            </a:r>
            <a:endParaRPr lang="zh-CN" altLang="en-US" sz="1200" dirty="0">
              <a:solidFill>
                <a:schemeClr val="dk1"/>
              </a:solidFill>
            </a:endParaRPr>
          </a:p>
        </p:txBody>
      </p:sp>
      <p:sp>
        <p:nvSpPr>
          <p:cNvPr id="9" name="TextBox 8"/>
          <p:cNvSpPr txBox="1"/>
          <p:nvPr/>
        </p:nvSpPr>
        <p:spPr>
          <a:xfrm>
            <a:off x="488796" y="3747138"/>
            <a:ext cx="3254528" cy="72008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Autofit/>
          </a:bodyPr>
          <a:lstStyle>
            <a:defPPr>
              <a:defRPr lang="zh-CN"/>
            </a:defPPr>
            <a:lvl1pPr>
              <a:defRPr b="1">
                <a:latin typeface="微软雅黑" pitchFamily="34" charset="-122"/>
                <a:ea typeface="微软雅黑" pitchFamily="34" charset="-122"/>
              </a:defRPr>
            </a:lvl1pPr>
          </a:lstStyle>
          <a:p>
            <a:pPr>
              <a:lnSpc>
                <a:spcPct val="150000"/>
              </a:lnSpc>
              <a:spcBef>
                <a:spcPct val="20000"/>
              </a:spcBef>
            </a:pPr>
            <a:r>
              <a:rPr lang="zh-CN" altLang="en-US" sz="1400" dirty="0">
                <a:solidFill>
                  <a:schemeClr val="dk1"/>
                </a:solidFill>
              </a:rPr>
              <a:t>高干病房</a:t>
            </a:r>
            <a:endParaRPr lang="en-US" altLang="zh-CN" sz="1400" dirty="0">
              <a:solidFill>
                <a:schemeClr val="dk1"/>
              </a:solidFill>
            </a:endParaRPr>
          </a:p>
          <a:p>
            <a:pPr>
              <a:lnSpc>
                <a:spcPct val="150000"/>
              </a:lnSpc>
              <a:spcBef>
                <a:spcPct val="20000"/>
              </a:spcBef>
            </a:pPr>
            <a:r>
              <a:rPr lang="en-US" altLang="zh-CN" sz="1400" dirty="0">
                <a:solidFill>
                  <a:schemeClr val="dk1"/>
                </a:solidFill>
              </a:rPr>
              <a:t>ward for high-ranking officials</a:t>
            </a:r>
            <a:endParaRPr lang="zh-CN" altLang="en-US" sz="1400" dirty="0">
              <a:solidFill>
                <a:schemeClr val="dk1"/>
              </a:solidFill>
            </a:endParaRPr>
          </a:p>
        </p:txBody>
      </p:sp>
      <p:sp>
        <p:nvSpPr>
          <p:cNvPr id="10" name="TextBox 9"/>
          <p:cNvSpPr txBox="1"/>
          <p:nvPr/>
        </p:nvSpPr>
        <p:spPr>
          <a:xfrm>
            <a:off x="4230307" y="851973"/>
            <a:ext cx="4608512" cy="180020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fontScale="92500" lnSpcReduction="10000"/>
          </a:bodyPr>
          <a:lstStyle>
            <a:defPPr>
              <a:defRPr lang="zh-CN"/>
            </a:defPPr>
            <a:lvl1pPr>
              <a:defRPr b="1">
                <a:latin typeface="微软雅黑" pitchFamily="34" charset="-122"/>
                <a:ea typeface="微软雅黑" pitchFamily="34" charset="-122"/>
              </a:defRPr>
            </a:lvl1pPr>
          </a:lstStyle>
          <a:p>
            <a:pPr>
              <a:lnSpc>
                <a:spcPct val="150000"/>
              </a:lnSpc>
              <a:spcBef>
                <a:spcPct val="20000"/>
              </a:spcBef>
            </a:pPr>
            <a:r>
              <a:rPr lang="zh-CN" altLang="en-US" sz="1400" dirty="0">
                <a:solidFill>
                  <a:schemeClr val="dk1"/>
                </a:solidFill>
              </a:rPr>
              <a:t>酒后驾驶、无合法有效驾驶证驾驶，或驾驶无有效行驶证的机动车</a:t>
            </a:r>
            <a:endParaRPr lang="en-US" altLang="zh-CN" sz="1400" dirty="0">
              <a:solidFill>
                <a:schemeClr val="dk1"/>
              </a:solidFill>
            </a:endParaRPr>
          </a:p>
          <a:p>
            <a:pPr>
              <a:lnSpc>
                <a:spcPct val="150000"/>
              </a:lnSpc>
              <a:spcBef>
                <a:spcPct val="20000"/>
              </a:spcBef>
            </a:pPr>
            <a:r>
              <a:rPr lang="en-US" altLang="zh-CN" sz="1400" dirty="0">
                <a:solidFill>
                  <a:schemeClr val="dk1"/>
                </a:solidFill>
              </a:rPr>
              <a:t>Driving under the influence, driving without a legal and valid driving license or driving a motor vehicle without a valid driving license on the part of the Insured;</a:t>
            </a:r>
            <a:endParaRPr lang="zh-CN" altLang="en-US" sz="1400" dirty="0">
              <a:solidFill>
                <a:schemeClr val="dk1"/>
              </a:solidFill>
            </a:endParaRPr>
          </a:p>
        </p:txBody>
      </p:sp>
      <p:sp>
        <p:nvSpPr>
          <p:cNvPr id="11" name="TextBox 10"/>
          <p:cNvSpPr txBox="1"/>
          <p:nvPr/>
        </p:nvSpPr>
        <p:spPr>
          <a:xfrm>
            <a:off x="4199136" y="2878134"/>
            <a:ext cx="4693344" cy="158908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lnSpcReduction="10000"/>
          </a:bodyPr>
          <a:lstStyle>
            <a:defPPr>
              <a:defRPr lang="zh-CN"/>
            </a:defPPr>
            <a:lvl1pPr>
              <a:defRPr b="1">
                <a:latin typeface="微软雅黑" pitchFamily="34" charset="-122"/>
                <a:ea typeface="微软雅黑" pitchFamily="34" charset="-122"/>
              </a:defRPr>
            </a:lvl1pPr>
          </a:lstStyle>
          <a:p>
            <a:pPr>
              <a:spcBef>
                <a:spcPct val="20000"/>
              </a:spcBef>
            </a:pPr>
            <a:r>
              <a:rPr lang="zh-CN" altLang="en-US" sz="1400" dirty="0">
                <a:solidFill>
                  <a:schemeClr val="dk1"/>
                </a:solidFill>
              </a:rPr>
              <a:t>怀孕、流产、分娩、不孕不育症治疗、人工受精、产前产后检查；节育、堕胎，及以上原因引起的并发症</a:t>
            </a:r>
            <a:endParaRPr lang="en-US" altLang="zh-CN" sz="1400" dirty="0">
              <a:solidFill>
                <a:schemeClr val="dk1"/>
              </a:solidFill>
            </a:endParaRPr>
          </a:p>
          <a:p>
            <a:pPr>
              <a:spcBef>
                <a:spcPct val="20000"/>
              </a:spcBef>
            </a:pPr>
            <a:r>
              <a:rPr lang="en-US" altLang="zh-CN" sz="1400" dirty="0">
                <a:solidFill>
                  <a:schemeClr val="dk1"/>
                </a:solidFill>
              </a:rPr>
              <a:t>Pregnancy, miscarriage or delivery on the part of the Insured, infertility treatment, artificial insemination, prenatal and postnatal check, birth control, abortion and complications caused by above-mentioned causes;</a:t>
            </a:r>
            <a:endParaRPr lang="zh-CN" altLang="en-US" sz="1400" dirty="0">
              <a:solidFill>
                <a:schemeClr val="dk1"/>
              </a:solidFill>
            </a:endParaRPr>
          </a:p>
        </p:txBody>
      </p:sp>
      <p:grpSp>
        <p:nvGrpSpPr>
          <p:cNvPr id="26" name="组合 25"/>
          <p:cNvGrpSpPr/>
          <p:nvPr/>
        </p:nvGrpSpPr>
        <p:grpSpPr>
          <a:xfrm>
            <a:off x="0" y="555526"/>
            <a:ext cx="3311923" cy="71438"/>
            <a:chOff x="0" y="523875"/>
            <a:chExt cx="3311923" cy="71438"/>
          </a:xfrm>
        </p:grpSpPr>
        <p:cxnSp>
          <p:nvCxnSpPr>
            <p:cNvPr id="27" name="直接连接符 26"/>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8"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19" name="乘号 18"/>
          <p:cNvSpPr/>
          <p:nvPr/>
        </p:nvSpPr>
        <p:spPr>
          <a:xfrm>
            <a:off x="128764" y="960880"/>
            <a:ext cx="314417" cy="288032"/>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0" name="乘号 19"/>
          <p:cNvSpPr/>
          <p:nvPr/>
        </p:nvSpPr>
        <p:spPr>
          <a:xfrm>
            <a:off x="86150" y="3963162"/>
            <a:ext cx="314417" cy="288032"/>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3" name="乘号 22"/>
          <p:cNvSpPr/>
          <p:nvPr/>
        </p:nvSpPr>
        <p:spPr>
          <a:xfrm>
            <a:off x="133178" y="2462021"/>
            <a:ext cx="314417" cy="288032"/>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5" name="乘号 24"/>
          <p:cNvSpPr/>
          <p:nvPr/>
        </p:nvSpPr>
        <p:spPr>
          <a:xfrm>
            <a:off x="3743324" y="1458468"/>
            <a:ext cx="536995" cy="517917"/>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9" name="乘号 28"/>
          <p:cNvSpPr/>
          <p:nvPr/>
        </p:nvSpPr>
        <p:spPr>
          <a:xfrm>
            <a:off x="3722072" y="3228171"/>
            <a:ext cx="536995" cy="517917"/>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6DF2D11B-B1E0-811A-E8F5-4ED28B928A47}"/>
              </a:ext>
            </a:extLst>
          </p:cNvPr>
          <p:cNvSpPr txBox="1"/>
          <p:nvPr/>
        </p:nvSpPr>
        <p:spPr>
          <a:xfrm>
            <a:off x="304855" y="115509"/>
            <a:ext cx="4572000" cy="400110"/>
          </a:xfrm>
          <a:prstGeom prst="rect">
            <a:avLst/>
          </a:prstGeom>
          <a:noFill/>
        </p:spPr>
        <p:txBody>
          <a:bodyPr wrap="square">
            <a:spAutoFit/>
          </a:bodyPr>
          <a:lstStyle/>
          <a:p>
            <a:r>
              <a:rPr lang="zh-CN" altLang="en-US" sz="2000" dirty="0">
                <a:latin typeface="微软雅黑" pitchFamily="34" charset="-122"/>
                <a:ea typeface="微软雅黑" pitchFamily="34" charset="-122"/>
              </a:rPr>
              <a:t> </a:t>
            </a:r>
            <a:r>
              <a:rPr lang="zh-CN" altLang="en-US" sz="1800" b="1" cap="small" dirty="0">
                <a:solidFill>
                  <a:schemeClr val="tx1"/>
                </a:solidFill>
                <a:latin typeface="微软雅黑" pitchFamily="34" charset="-122"/>
                <a:ea typeface="微软雅黑" pitchFamily="34" charset="-122"/>
              </a:rPr>
              <a:t>免责提示</a:t>
            </a:r>
            <a:r>
              <a:rPr lang="en-US" altLang="zh-CN" sz="1800" b="1" cap="small" dirty="0">
                <a:solidFill>
                  <a:schemeClr val="tx1"/>
                </a:solidFill>
                <a:latin typeface="微软雅黑" pitchFamily="34" charset="-122"/>
                <a:ea typeface="微软雅黑" pitchFamily="34" charset="-122"/>
              </a:rPr>
              <a:t>(</a:t>
            </a:r>
            <a:r>
              <a:rPr lang="en-US" altLang="zh-CN" sz="1800" b="1" dirty="0">
                <a:effectLst/>
              </a:rPr>
              <a:t>Liability Exemption Tips</a:t>
            </a:r>
            <a:r>
              <a:rPr lang="en-US" altLang="zh-CN" sz="1800" b="1" cap="small" dirty="0">
                <a:solidFill>
                  <a:schemeClr val="tx1"/>
                </a:solidFill>
                <a:latin typeface="微软雅黑" pitchFamily="34" charset="-122"/>
                <a:ea typeface="微软雅黑" pitchFamily="34" charset="-122"/>
              </a:rPr>
              <a:t>) </a:t>
            </a:r>
            <a:endParaRPr lang="zh-CN" altLang="en-US" dirty="0"/>
          </a:p>
        </p:txBody>
      </p:sp>
    </p:spTree>
    <p:extLst>
      <p:ext uri="{BB962C8B-B14F-4D97-AF65-F5344CB8AC3E}">
        <p14:creationId xmlns:p14="http://schemas.microsoft.com/office/powerpoint/2010/main" val="7401340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6"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1+#ppt_w/2"/>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ppt_x"/>
                                          </p:val>
                                        </p:tav>
                                        <p:tav tm="100000">
                                          <p:val>
                                            <p:strVal val="#ppt_x"/>
                                          </p:val>
                                        </p:tav>
                                      </p:tavLst>
                                    </p:anim>
                                    <p:anim calcmode="lin" valueType="num">
                                      <p:cBhvr additive="base">
                                        <p:cTn id="23" dur="500" fill="hold"/>
                                        <p:tgtEl>
                                          <p:spTgt spid="10"/>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2"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9" grpId="0" animBg="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0441" y="959952"/>
            <a:ext cx="3897543" cy="103573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lnSpcReduction="10000"/>
          </a:bodyPr>
          <a:lstStyle/>
          <a:p>
            <a:pPr>
              <a:lnSpc>
                <a:spcPct val="150000"/>
              </a:lnSpc>
              <a:spcBef>
                <a:spcPct val="20000"/>
              </a:spcBef>
            </a:pPr>
            <a:r>
              <a:rPr lang="zh-CN" altLang="en-US" sz="1400" b="1" dirty="0">
                <a:solidFill>
                  <a:schemeClr val="dk1"/>
                </a:solidFill>
                <a:latin typeface="微软雅黑" pitchFamily="34" charset="-122"/>
                <a:ea typeface="微软雅黑" pitchFamily="34" charset="-122"/>
              </a:rPr>
              <a:t>免赔额</a:t>
            </a:r>
            <a:r>
              <a:rPr lang="en-US" altLang="zh-CN" sz="1400" b="1" dirty="0">
                <a:solidFill>
                  <a:schemeClr val="dk1"/>
                </a:solidFill>
                <a:latin typeface="微软雅黑" pitchFamily="34" charset="-122"/>
                <a:ea typeface="微软雅黑" pitchFamily="34" charset="-122"/>
              </a:rPr>
              <a:t>650</a:t>
            </a:r>
            <a:r>
              <a:rPr lang="zh-CN" altLang="en-US" sz="1400" b="1" dirty="0">
                <a:solidFill>
                  <a:schemeClr val="dk1"/>
                </a:solidFill>
                <a:latin typeface="微软雅黑" pitchFamily="34" charset="-122"/>
                <a:ea typeface="微软雅黑" pitchFamily="34" charset="-122"/>
              </a:rPr>
              <a:t>元以下部分不予赔付</a:t>
            </a:r>
            <a:endParaRPr lang="en-US" altLang="zh-CN" sz="1400" b="1" dirty="0">
              <a:solidFill>
                <a:schemeClr val="dk1"/>
              </a:solidFill>
              <a:latin typeface="微软雅黑" pitchFamily="34" charset="-122"/>
              <a:ea typeface="微软雅黑" pitchFamily="34" charset="-122"/>
            </a:endParaRPr>
          </a:p>
          <a:p>
            <a:pPr>
              <a:lnSpc>
                <a:spcPct val="150000"/>
              </a:lnSpc>
              <a:spcBef>
                <a:spcPct val="20000"/>
              </a:spcBef>
            </a:pPr>
            <a:r>
              <a:rPr lang="en-US" altLang="zh-CN" sz="1400" b="1" dirty="0">
                <a:solidFill>
                  <a:schemeClr val="dk1"/>
                </a:solidFill>
                <a:latin typeface="微软雅黑" pitchFamily="34" charset="-122"/>
                <a:ea typeface="微软雅黑" pitchFamily="34" charset="-122"/>
              </a:rPr>
              <a:t>Deductible: RMB 650 , Below the deductible, there is no claim.</a:t>
            </a:r>
            <a:endParaRPr lang="zh-CN" altLang="zh-CN" sz="1400" b="1" dirty="0">
              <a:solidFill>
                <a:schemeClr val="dk1"/>
              </a:solidFill>
              <a:latin typeface="微软雅黑" pitchFamily="34" charset="-122"/>
              <a:ea typeface="微软雅黑" pitchFamily="34" charset="-122"/>
            </a:endParaRPr>
          </a:p>
        </p:txBody>
      </p:sp>
      <p:sp>
        <p:nvSpPr>
          <p:cNvPr id="7" name="TextBox 6"/>
          <p:cNvSpPr txBox="1"/>
          <p:nvPr/>
        </p:nvSpPr>
        <p:spPr>
          <a:xfrm>
            <a:off x="539552" y="2172441"/>
            <a:ext cx="3888432" cy="108011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lnSpcReduction="10000"/>
          </a:bodyPr>
          <a:lstStyle>
            <a:defPPr>
              <a:defRPr lang="zh-CN"/>
            </a:defPPr>
            <a:lvl1pPr>
              <a:defRPr b="1">
                <a:latin typeface="微软雅黑" pitchFamily="34" charset="-122"/>
                <a:ea typeface="微软雅黑" pitchFamily="34" charset="-122"/>
              </a:defRPr>
            </a:lvl1pPr>
          </a:lstStyle>
          <a:p>
            <a:pPr>
              <a:lnSpc>
                <a:spcPct val="150000"/>
              </a:lnSpc>
              <a:spcBef>
                <a:spcPct val="20000"/>
              </a:spcBef>
            </a:pPr>
            <a:r>
              <a:rPr lang="zh-CN" altLang="en-US" sz="1400" dirty="0">
                <a:solidFill>
                  <a:schemeClr val="dk1"/>
                </a:solidFill>
              </a:rPr>
              <a:t>自费和部分自费项目均不能报销   </a:t>
            </a:r>
            <a:endParaRPr lang="en-US" altLang="zh-CN" sz="1400" dirty="0">
              <a:solidFill>
                <a:schemeClr val="dk1"/>
              </a:solidFill>
            </a:endParaRPr>
          </a:p>
          <a:p>
            <a:pPr>
              <a:lnSpc>
                <a:spcPct val="150000"/>
              </a:lnSpc>
              <a:spcBef>
                <a:spcPct val="20000"/>
              </a:spcBef>
            </a:pPr>
            <a:r>
              <a:rPr lang="zh-CN" altLang="en-US" sz="1400" dirty="0">
                <a:solidFill>
                  <a:schemeClr val="dk1"/>
                </a:solidFill>
              </a:rPr>
              <a:t> </a:t>
            </a:r>
            <a:r>
              <a:rPr lang="en-US" altLang="zh-CN" sz="1400" dirty="0">
                <a:solidFill>
                  <a:schemeClr val="dk1"/>
                </a:solidFill>
              </a:rPr>
              <a:t>the self-paid or partly self-paid items expenses cannot be reimbursed.</a:t>
            </a:r>
          </a:p>
        </p:txBody>
      </p:sp>
      <p:sp>
        <p:nvSpPr>
          <p:cNvPr id="28" name="TextBox 27"/>
          <p:cNvSpPr txBox="1"/>
          <p:nvPr/>
        </p:nvSpPr>
        <p:spPr>
          <a:xfrm>
            <a:off x="4932040" y="953397"/>
            <a:ext cx="3888432" cy="200285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lnSpcReduction="10000"/>
          </a:bodyPr>
          <a:lstStyle/>
          <a:p>
            <a:pPr lvl="0">
              <a:lnSpc>
                <a:spcPct val="150000"/>
              </a:lnSpc>
              <a:spcBef>
                <a:spcPct val="20000"/>
              </a:spcBef>
            </a:pPr>
            <a:r>
              <a:rPr lang="zh-CN" altLang="en-US" sz="1400" b="1" dirty="0">
                <a:solidFill>
                  <a:schemeClr val="dk1"/>
                </a:solidFill>
                <a:latin typeface="微软雅黑" pitchFamily="34" charset="-122"/>
                <a:ea typeface="微软雅黑" pitchFamily="34" charset="-122"/>
              </a:rPr>
              <a:t>患先天性疾病、遗传性疾病、既往症（投保前已患疾病或已存在的症状，保险期间非连续的）</a:t>
            </a:r>
            <a:endParaRPr lang="en-US" altLang="zh-CN" sz="1400" b="1" dirty="0">
              <a:solidFill>
                <a:schemeClr val="dk1"/>
              </a:solidFill>
              <a:latin typeface="微软雅黑" pitchFamily="34" charset="-122"/>
              <a:ea typeface="微软雅黑" pitchFamily="34" charset="-122"/>
            </a:endParaRPr>
          </a:p>
          <a:p>
            <a:pPr lvl="0">
              <a:lnSpc>
                <a:spcPct val="150000"/>
              </a:lnSpc>
              <a:spcBef>
                <a:spcPct val="20000"/>
              </a:spcBef>
            </a:pPr>
            <a:r>
              <a:rPr lang="en-US" altLang="zh-CN" sz="1400" b="1" dirty="0">
                <a:solidFill>
                  <a:schemeClr val="dk1"/>
                </a:solidFill>
                <a:latin typeface="微软雅黑" pitchFamily="34" charset="-122"/>
                <a:ea typeface="微软雅黑" pitchFamily="34" charset="-122"/>
              </a:rPr>
              <a:t>Congenital diseases, hereditary diseases, existing disease (disease or symptoms that already exist prior to the date of insurance);</a:t>
            </a:r>
            <a:endParaRPr lang="zh-CN" altLang="zh-CN" sz="1400" b="1" dirty="0">
              <a:solidFill>
                <a:schemeClr val="dk1"/>
              </a:solidFill>
              <a:latin typeface="微软雅黑" pitchFamily="34" charset="-122"/>
              <a:ea typeface="微软雅黑" pitchFamily="34" charset="-122"/>
            </a:endParaRPr>
          </a:p>
        </p:txBody>
      </p:sp>
      <p:sp>
        <p:nvSpPr>
          <p:cNvPr id="19" name="TextBox 18"/>
          <p:cNvSpPr txBox="1"/>
          <p:nvPr/>
        </p:nvSpPr>
        <p:spPr>
          <a:xfrm>
            <a:off x="545923" y="3429398"/>
            <a:ext cx="3888432" cy="122849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fontScale="92500" lnSpcReduction="20000"/>
          </a:bodyPr>
          <a:lstStyle>
            <a:defPPr>
              <a:defRPr lang="zh-CN"/>
            </a:defPPr>
            <a:lvl1pPr>
              <a:defRPr b="1">
                <a:latin typeface="微软雅黑" pitchFamily="34" charset="-122"/>
                <a:ea typeface="微软雅黑" pitchFamily="34" charset="-122"/>
              </a:defRPr>
            </a:lvl1pPr>
          </a:lstStyle>
          <a:p>
            <a:pPr>
              <a:lnSpc>
                <a:spcPct val="150000"/>
              </a:lnSpc>
              <a:spcBef>
                <a:spcPct val="20000"/>
              </a:spcBef>
            </a:pPr>
            <a:r>
              <a:rPr lang="zh-CN" altLang="en-US" sz="1400" dirty="0">
                <a:solidFill>
                  <a:schemeClr val="dk1"/>
                </a:solidFill>
              </a:rPr>
              <a:t>矫形、矫正、整容或康复性治疗</a:t>
            </a:r>
            <a:endParaRPr lang="en-US" altLang="zh-CN" sz="1400" dirty="0">
              <a:solidFill>
                <a:schemeClr val="dk1"/>
              </a:solidFill>
            </a:endParaRPr>
          </a:p>
          <a:p>
            <a:pPr>
              <a:lnSpc>
                <a:spcPct val="150000"/>
              </a:lnSpc>
              <a:spcBef>
                <a:spcPct val="20000"/>
              </a:spcBef>
            </a:pPr>
            <a:r>
              <a:rPr lang="en-US" altLang="zh-CN" sz="1400" dirty="0">
                <a:solidFill>
                  <a:schemeClr val="dk1"/>
                </a:solidFill>
              </a:rPr>
              <a:t>Expenses of orthopedics, diathesis, face-lift or rehabilitation therapy received by the Insurer</a:t>
            </a:r>
            <a:endParaRPr lang="zh-CN" altLang="en-US" sz="1400" dirty="0">
              <a:solidFill>
                <a:schemeClr val="dk1"/>
              </a:solidFill>
            </a:endParaRPr>
          </a:p>
        </p:txBody>
      </p:sp>
      <p:grpSp>
        <p:nvGrpSpPr>
          <p:cNvPr id="20" name="组合 19"/>
          <p:cNvGrpSpPr/>
          <p:nvPr/>
        </p:nvGrpSpPr>
        <p:grpSpPr>
          <a:xfrm>
            <a:off x="0" y="555526"/>
            <a:ext cx="3311923" cy="71438"/>
            <a:chOff x="0" y="523875"/>
            <a:chExt cx="3311923" cy="71438"/>
          </a:xfrm>
        </p:grpSpPr>
        <p:cxnSp>
          <p:nvCxnSpPr>
            <p:cNvPr id="21" name="直接连接符 20"/>
            <p:cNvCxnSpPr/>
            <p:nvPr/>
          </p:nvCxnSpPr>
          <p:spPr>
            <a:xfrm flipH="1">
              <a:off x="213965" y="561975"/>
              <a:ext cx="309795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2" name="Rectangle 7"/>
            <p:cNvSpPr>
              <a:spLocks noChangeArrowheads="1"/>
            </p:cNvSpPr>
            <p:nvPr/>
          </p:nvSpPr>
          <p:spPr bwMode="auto">
            <a:xfrm>
              <a:off x="0" y="523875"/>
              <a:ext cx="215900" cy="71438"/>
            </a:xfrm>
            <a:prstGeom prst="rect">
              <a:avLst/>
            </a:prstGeom>
            <a:solidFill>
              <a:srgbClr val="00B0F0"/>
            </a:solidFill>
            <a:ln w="9525">
              <a:noFill/>
              <a:miter lim="800000"/>
              <a:headEnd/>
              <a:tailEnd/>
            </a:ln>
          </p:spPr>
          <p:txBody>
            <a:bodyPr wrap="none" anchor="ctr"/>
            <a:lstStyle/>
            <a:p>
              <a:endParaRPr lang="zh-CN" altLang="en-US"/>
            </a:p>
          </p:txBody>
        </p:sp>
      </p:grpSp>
      <p:sp>
        <p:nvSpPr>
          <p:cNvPr id="2" name="乘号 1"/>
          <p:cNvSpPr/>
          <p:nvPr/>
        </p:nvSpPr>
        <p:spPr>
          <a:xfrm>
            <a:off x="216024" y="1419622"/>
            <a:ext cx="314417" cy="288032"/>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4" name="乘号 13"/>
          <p:cNvSpPr/>
          <p:nvPr/>
        </p:nvSpPr>
        <p:spPr>
          <a:xfrm>
            <a:off x="216023" y="2568484"/>
            <a:ext cx="314417" cy="288032"/>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5" name="乘号 14"/>
          <p:cNvSpPr/>
          <p:nvPr/>
        </p:nvSpPr>
        <p:spPr>
          <a:xfrm>
            <a:off x="214566" y="3899629"/>
            <a:ext cx="314417" cy="288032"/>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3" name="乘号 22"/>
          <p:cNvSpPr/>
          <p:nvPr/>
        </p:nvSpPr>
        <p:spPr>
          <a:xfrm>
            <a:off x="4332635" y="1669075"/>
            <a:ext cx="694754" cy="653056"/>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938E72F-98CF-B71F-99A9-B1D7E986882D}"/>
              </a:ext>
            </a:extLst>
          </p:cNvPr>
          <p:cNvSpPr txBox="1"/>
          <p:nvPr/>
        </p:nvSpPr>
        <p:spPr>
          <a:xfrm>
            <a:off x="304855" y="115509"/>
            <a:ext cx="4572000" cy="400110"/>
          </a:xfrm>
          <a:prstGeom prst="rect">
            <a:avLst/>
          </a:prstGeom>
          <a:noFill/>
        </p:spPr>
        <p:txBody>
          <a:bodyPr wrap="square">
            <a:spAutoFit/>
          </a:bodyPr>
          <a:lstStyle/>
          <a:p>
            <a:r>
              <a:rPr lang="zh-CN" altLang="en-US" sz="2000" dirty="0">
                <a:latin typeface="微软雅黑" pitchFamily="34" charset="-122"/>
                <a:ea typeface="微软雅黑" pitchFamily="34" charset="-122"/>
              </a:rPr>
              <a:t> </a:t>
            </a:r>
            <a:r>
              <a:rPr lang="zh-CN" altLang="en-US" sz="1800" b="1" cap="small" dirty="0">
                <a:solidFill>
                  <a:schemeClr val="tx1"/>
                </a:solidFill>
                <a:latin typeface="微软雅黑" pitchFamily="34" charset="-122"/>
                <a:ea typeface="微软雅黑" pitchFamily="34" charset="-122"/>
              </a:rPr>
              <a:t>免责提示</a:t>
            </a:r>
            <a:r>
              <a:rPr lang="en-US" altLang="zh-CN" sz="1800" b="1" cap="small" dirty="0">
                <a:solidFill>
                  <a:schemeClr val="tx1"/>
                </a:solidFill>
                <a:latin typeface="微软雅黑" pitchFamily="34" charset="-122"/>
                <a:ea typeface="微软雅黑" pitchFamily="34" charset="-122"/>
              </a:rPr>
              <a:t>(</a:t>
            </a:r>
            <a:r>
              <a:rPr lang="en-US" altLang="zh-CN" sz="1800" b="1" dirty="0">
                <a:effectLst/>
              </a:rPr>
              <a:t>Liability Exemption Tips</a:t>
            </a:r>
            <a:r>
              <a:rPr lang="en-US" altLang="zh-CN" sz="1800" b="1" cap="small" dirty="0">
                <a:solidFill>
                  <a:schemeClr val="tx1"/>
                </a:solidFill>
                <a:latin typeface="微软雅黑" pitchFamily="34" charset="-122"/>
                <a:ea typeface="微软雅黑" pitchFamily="34" charset="-122"/>
              </a:rPr>
              <a:t>) </a:t>
            </a:r>
            <a:endParaRPr lang="zh-CN" altLang="en-US" dirty="0"/>
          </a:p>
        </p:txBody>
      </p:sp>
    </p:spTree>
    <p:extLst>
      <p:ext uri="{BB962C8B-B14F-4D97-AF65-F5344CB8AC3E}">
        <p14:creationId xmlns:p14="http://schemas.microsoft.com/office/powerpoint/2010/main" val="16057072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ppt_x"/>
                                          </p:val>
                                        </p:tav>
                                        <p:tav tm="100000">
                                          <p:val>
                                            <p:strVal val="#ppt_x"/>
                                          </p:val>
                                        </p:tav>
                                      </p:tavLst>
                                    </p:anim>
                                    <p:anim calcmode="lin" valueType="num">
                                      <p:cBhvr additive="base">
                                        <p:cTn id="18" dur="500" fill="hold"/>
                                        <p:tgtEl>
                                          <p:spTgt spid="2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0-#ppt_w/2"/>
                                          </p:val>
                                        </p:tav>
                                        <p:tav tm="100000">
                                          <p:val>
                                            <p:strVal val="#ppt_x"/>
                                          </p:val>
                                        </p:tav>
                                      </p:tavLst>
                                    </p:anim>
                                    <p:anim calcmode="lin" valueType="num">
                                      <p:cBhvr additive="base">
                                        <p:cTn id="23"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28"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195263"/>
            <a:ext cx="9036050" cy="576262"/>
          </a:xfrm>
          <a:noFill/>
          <a:ln>
            <a:noFill/>
          </a:ln>
        </p:spPr>
        <p:style>
          <a:lnRef idx="0">
            <a:scrgbClr r="0" g="0" b="0"/>
          </a:lnRef>
          <a:fillRef idx="0">
            <a:scrgbClr r="0" g="0" b="0"/>
          </a:fillRef>
          <a:effectRef idx="0">
            <a:scrgbClr r="0" g="0" b="0"/>
          </a:effectRef>
          <a:fontRef idx="minor">
            <a:schemeClr val="dk1"/>
          </a:fontRef>
        </p:style>
        <p:txBody>
          <a:bodyPr>
            <a:noAutofit/>
          </a:bodyPr>
          <a:lstStyle/>
          <a:p>
            <a:r>
              <a:rPr lang="zh-CN" altLang="en-US" sz="2800" dirty="0">
                <a:solidFill>
                  <a:prstClr val="black"/>
                </a:solidFill>
                <a:latin typeface="微软雅黑" pitchFamily="34" charset="-122"/>
                <a:ea typeface="微软雅黑" pitchFamily="34" charset="-122"/>
              </a:rPr>
              <a:t>保险备注提示</a:t>
            </a:r>
            <a:r>
              <a:rPr lang="en-US" altLang="zh-CN" sz="2800" dirty="0">
                <a:solidFill>
                  <a:prstClr val="black"/>
                </a:solidFill>
                <a:latin typeface="微软雅黑" pitchFamily="34" charset="-122"/>
                <a:ea typeface="微软雅黑" pitchFamily="34" charset="-122"/>
              </a:rPr>
              <a:t>(other insurance tips)</a:t>
            </a:r>
            <a:endParaRPr lang="zh-CN" altLang="en-US" sz="2000" dirty="0">
              <a:solidFill>
                <a:schemeClr val="tx1"/>
              </a:solidFill>
              <a:latin typeface="微软雅黑" pitchFamily="34" charset="-122"/>
              <a:ea typeface="微软雅黑" pitchFamily="34" charset="-122"/>
            </a:endParaRPr>
          </a:p>
        </p:txBody>
      </p:sp>
      <p:sp>
        <p:nvSpPr>
          <p:cNvPr id="2" name="内容占位符 1"/>
          <p:cNvSpPr>
            <a:spLocks noGrp="1"/>
          </p:cNvSpPr>
          <p:nvPr>
            <p:ph idx="4294967295"/>
          </p:nvPr>
        </p:nvSpPr>
        <p:spPr>
          <a:xfrm>
            <a:off x="0" y="1074738"/>
            <a:ext cx="8070850" cy="1425575"/>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2">
            <a:schemeClr val="accent2"/>
          </a:fillRef>
          <a:effectRef idx="1">
            <a:schemeClr val="accent2"/>
          </a:effectRef>
          <a:fontRef idx="minor">
            <a:schemeClr val="dk1"/>
          </a:fontRef>
        </p:style>
        <p:txBody>
          <a:bodyPr>
            <a:normAutofit/>
          </a:bodyPr>
          <a:lstStyle/>
          <a:p>
            <a:pPr marL="0" indent="0">
              <a:buNone/>
            </a:pPr>
            <a:r>
              <a:rPr lang="zh-CN" altLang="en-US" sz="1800" b="1" dirty="0">
                <a:latin typeface="微软雅黑" pitchFamily="34" charset="-122"/>
                <a:ea typeface="微软雅黑" pitchFamily="34" charset="-122"/>
              </a:rPr>
              <a:t>保险细则以</a:t>
            </a:r>
            <a:endParaRPr lang="en-US" altLang="zh-CN" sz="1800" b="1" dirty="0">
              <a:latin typeface="微软雅黑" pitchFamily="34" charset="-122"/>
              <a:ea typeface="微软雅黑" pitchFamily="34" charset="-122"/>
            </a:endParaRPr>
          </a:p>
          <a:p>
            <a:pPr marL="0" indent="0">
              <a:buNone/>
            </a:pPr>
            <a:r>
              <a:rPr lang="en-US" altLang="zh-CN" sz="1800" b="1" dirty="0">
                <a:latin typeface="微软雅黑" pitchFamily="34" charset="-122"/>
                <a:ea typeface="微软雅黑" pitchFamily="34" charset="-122"/>
              </a:rPr>
              <a:t>《</a:t>
            </a:r>
            <a:r>
              <a:rPr lang="zh-CN" altLang="en-US" sz="1800" b="1" dirty="0">
                <a:latin typeface="微软雅黑" pitchFamily="34" charset="-122"/>
                <a:ea typeface="微软雅黑" pitchFamily="34" charset="-122"/>
              </a:rPr>
              <a:t>来华人员综合保险保障计划简介</a:t>
            </a:r>
            <a:r>
              <a:rPr lang="en-US" altLang="zh-CN" sz="1800" b="1" dirty="0">
                <a:latin typeface="微软雅黑" pitchFamily="34" charset="-122"/>
                <a:ea typeface="微软雅黑" pitchFamily="34" charset="-122"/>
              </a:rPr>
              <a:t>》</a:t>
            </a:r>
            <a:r>
              <a:rPr lang="zh-CN" altLang="en-US" sz="1800" b="1" dirty="0">
                <a:latin typeface="微软雅黑" pitchFamily="34" charset="-122"/>
                <a:ea typeface="微软雅黑" pitchFamily="34" charset="-122"/>
              </a:rPr>
              <a:t>为准，或参阅</a:t>
            </a:r>
            <a:r>
              <a:rPr lang="en-US" altLang="zh-CN" sz="1800" b="1" dirty="0">
                <a:latin typeface="微软雅黑" pitchFamily="34" charset="-122"/>
                <a:ea typeface="微软雅黑" pitchFamily="34" charset="-122"/>
              </a:rPr>
              <a:t>www.lxbx.net</a:t>
            </a:r>
            <a:r>
              <a:rPr lang="zh-CN" altLang="en-US" sz="1800" b="1" dirty="0">
                <a:latin typeface="微软雅黑" pitchFamily="34" charset="-122"/>
                <a:ea typeface="微软雅黑" pitchFamily="34" charset="-122"/>
              </a:rPr>
              <a:t>中的投保指南及理赔指南</a:t>
            </a:r>
            <a:endParaRPr lang="zh-CN" altLang="en-US" sz="1800" dirty="0">
              <a:latin typeface="微软雅黑" pitchFamily="34" charset="-122"/>
              <a:ea typeface="微软雅黑" pitchFamily="34" charset="-122"/>
            </a:endParaRPr>
          </a:p>
        </p:txBody>
      </p:sp>
      <p:sp>
        <p:nvSpPr>
          <p:cNvPr id="4" name="内容占位符 1"/>
          <p:cNvSpPr txBox="1">
            <a:spLocks/>
          </p:cNvSpPr>
          <p:nvPr/>
        </p:nvSpPr>
        <p:spPr bwMode="auto">
          <a:xfrm>
            <a:off x="683568" y="3003798"/>
            <a:ext cx="8070850" cy="1512168"/>
          </a:xfrm>
          <a:prstGeom prst="rect">
            <a:avLst/>
          </a:prstGeom>
          <a:solidFill>
            <a:schemeClr val="accent5">
              <a:lumMod val="20000"/>
              <a:lumOff val="80000"/>
            </a:schemeClr>
          </a:solidFill>
          <a:ln>
            <a:noFill/>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5"/>
          </a:lnRef>
          <a:fillRef idx="3">
            <a:schemeClr val="accent5"/>
          </a:fillRef>
          <a:effectRef idx="2">
            <a:schemeClr val="accent5"/>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just" rtl="0" fontAlgn="base">
              <a:spcBef>
                <a:spcPct val="20000"/>
              </a:spcBef>
              <a:spcAft>
                <a:spcPct val="0"/>
              </a:spcAft>
              <a:buClr>
                <a:srgbClr val="000000"/>
              </a:buClr>
              <a:buSzPct val="70000"/>
              <a:buFont typeface="Wingdings" pitchFamily="2" charset="2"/>
              <a:buChar char="n"/>
              <a:defRPr sz="2800">
                <a:solidFill>
                  <a:srgbClr val="000000"/>
                </a:solidFill>
                <a:effectLst>
                  <a:outerShdw blurRad="38100" dist="38100" dir="2700000" algn="tl">
                    <a:srgbClr val="FFFFFF"/>
                  </a:outerShdw>
                </a:effectLst>
                <a:latin typeface="+mn-lt"/>
                <a:ea typeface="+mn-ea"/>
                <a:cs typeface="+mn-cs"/>
              </a:defRPr>
            </a:lvl1pPr>
            <a:lvl2pPr marL="742950" indent="-285750" algn="just" rtl="0" fontAlgn="base">
              <a:spcBef>
                <a:spcPct val="20000"/>
              </a:spcBef>
              <a:spcAft>
                <a:spcPct val="0"/>
              </a:spcAft>
              <a:buClr>
                <a:srgbClr val="000000"/>
              </a:buClr>
              <a:buFont typeface="Times New Roman" pitchFamily="18" charset="0"/>
              <a:buChar char="–"/>
              <a:defRPr sz="2400">
                <a:solidFill>
                  <a:srgbClr val="000000"/>
                </a:solidFill>
                <a:effectLst>
                  <a:outerShdw blurRad="38100" dist="38100" dir="2700000" algn="tl">
                    <a:srgbClr val="FFFFFF"/>
                  </a:outerShdw>
                </a:effectLst>
                <a:latin typeface="+mn-lt"/>
                <a:ea typeface="+mn-ea"/>
              </a:defRPr>
            </a:lvl2pPr>
            <a:lvl3pPr marL="1143000" indent="-228600" algn="just" rtl="0" fontAlgn="base">
              <a:spcBef>
                <a:spcPct val="20000"/>
              </a:spcBef>
              <a:spcAft>
                <a:spcPct val="0"/>
              </a:spcAft>
              <a:buClr>
                <a:srgbClr val="000000"/>
              </a:buClr>
              <a:buSzPct val="70000"/>
              <a:buFont typeface="Wingdings" pitchFamily="2" charset="2"/>
              <a:buChar char="n"/>
              <a:defRPr sz="2000">
                <a:solidFill>
                  <a:srgbClr val="000000"/>
                </a:solidFill>
                <a:effectLst>
                  <a:outerShdw blurRad="38100" dist="38100" dir="2700000" algn="tl">
                    <a:srgbClr val="FFFFFF"/>
                  </a:outerShdw>
                </a:effectLst>
                <a:latin typeface="+mn-lt"/>
                <a:ea typeface="+mn-ea"/>
              </a:defRPr>
            </a:lvl3pPr>
            <a:lvl4pPr marL="1600200" indent="-228600" algn="just" rtl="0" fontAlgn="base">
              <a:spcBef>
                <a:spcPct val="20000"/>
              </a:spcBef>
              <a:spcAft>
                <a:spcPct val="0"/>
              </a:spcAft>
              <a:buClr>
                <a:srgbClr val="000000"/>
              </a:buClr>
              <a:buFont typeface="Times New Roman" pitchFamily="18" charset="0"/>
              <a:buChar char="–"/>
              <a:defRPr>
                <a:solidFill>
                  <a:srgbClr val="000000"/>
                </a:solidFill>
                <a:effectLst>
                  <a:outerShdw blurRad="38100" dist="38100" dir="2700000" algn="tl">
                    <a:srgbClr val="FFFFFF"/>
                  </a:outerShdw>
                </a:effectLst>
                <a:latin typeface="+mn-lt"/>
                <a:ea typeface="+mn-ea"/>
              </a:defRPr>
            </a:lvl4pPr>
            <a:lvl5pPr marL="2057400" indent="-228600" algn="just" rtl="0" fontAlgn="base">
              <a:spcBef>
                <a:spcPct val="20000"/>
              </a:spcBef>
              <a:spcAft>
                <a:spcPct val="0"/>
              </a:spcAft>
              <a:buClr>
                <a:srgbClr val="000000"/>
              </a:buClr>
              <a:buSzPct val="70000"/>
              <a:buFont typeface="Wingdings" pitchFamily="2" charset="2"/>
              <a:buChar char="n"/>
              <a:defRPr sz="1600">
                <a:solidFill>
                  <a:srgbClr val="000000"/>
                </a:solidFill>
                <a:effectLst>
                  <a:outerShdw blurRad="38100" dist="38100" dir="2700000" algn="tl">
                    <a:srgbClr val="FFFFFF"/>
                  </a:outerShdw>
                </a:effectLst>
                <a:latin typeface="+mn-lt"/>
                <a:ea typeface="+mn-ea"/>
              </a:defRPr>
            </a:lvl5pPr>
            <a:lvl6pPr marL="2514600" indent="-228600" algn="just" rtl="0" fontAlgn="base">
              <a:spcBef>
                <a:spcPct val="20000"/>
              </a:spcBef>
              <a:spcAft>
                <a:spcPct val="0"/>
              </a:spcAft>
              <a:buClr>
                <a:srgbClr val="000000"/>
              </a:buClr>
              <a:buSzPct val="70000"/>
              <a:buFont typeface="Wingdings" pitchFamily="2" charset="2"/>
              <a:buChar char="n"/>
              <a:defRPr sz="1600">
                <a:solidFill>
                  <a:srgbClr val="000000"/>
                </a:solidFill>
                <a:effectLst>
                  <a:outerShdw blurRad="38100" dist="38100" dir="2700000" algn="tl">
                    <a:srgbClr val="FFFFFF"/>
                  </a:outerShdw>
                </a:effectLst>
                <a:latin typeface="+mn-lt"/>
                <a:ea typeface="+mn-ea"/>
              </a:defRPr>
            </a:lvl6pPr>
            <a:lvl7pPr marL="2971800" indent="-228600" algn="just" rtl="0" fontAlgn="base">
              <a:spcBef>
                <a:spcPct val="20000"/>
              </a:spcBef>
              <a:spcAft>
                <a:spcPct val="0"/>
              </a:spcAft>
              <a:buClr>
                <a:srgbClr val="000000"/>
              </a:buClr>
              <a:buSzPct val="70000"/>
              <a:buFont typeface="Wingdings" pitchFamily="2" charset="2"/>
              <a:buChar char="n"/>
              <a:defRPr sz="1600">
                <a:solidFill>
                  <a:srgbClr val="000000"/>
                </a:solidFill>
                <a:effectLst>
                  <a:outerShdw blurRad="38100" dist="38100" dir="2700000" algn="tl">
                    <a:srgbClr val="FFFFFF"/>
                  </a:outerShdw>
                </a:effectLst>
                <a:latin typeface="+mn-lt"/>
                <a:ea typeface="+mn-ea"/>
              </a:defRPr>
            </a:lvl7pPr>
            <a:lvl8pPr marL="3429000" indent="-228600" algn="just" rtl="0" fontAlgn="base">
              <a:spcBef>
                <a:spcPct val="20000"/>
              </a:spcBef>
              <a:spcAft>
                <a:spcPct val="0"/>
              </a:spcAft>
              <a:buClr>
                <a:srgbClr val="000000"/>
              </a:buClr>
              <a:buSzPct val="70000"/>
              <a:buFont typeface="Wingdings" pitchFamily="2" charset="2"/>
              <a:buChar char="n"/>
              <a:defRPr sz="1600">
                <a:solidFill>
                  <a:srgbClr val="000000"/>
                </a:solidFill>
                <a:effectLst>
                  <a:outerShdw blurRad="38100" dist="38100" dir="2700000" algn="tl">
                    <a:srgbClr val="FFFFFF"/>
                  </a:outerShdw>
                </a:effectLst>
                <a:latin typeface="+mn-lt"/>
                <a:ea typeface="+mn-ea"/>
              </a:defRPr>
            </a:lvl8pPr>
            <a:lvl9pPr marL="3886200" indent="-228600" algn="just" rtl="0" fontAlgn="base">
              <a:spcBef>
                <a:spcPct val="20000"/>
              </a:spcBef>
              <a:spcAft>
                <a:spcPct val="0"/>
              </a:spcAft>
              <a:buClr>
                <a:srgbClr val="000000"/>
              </a:buClr>
              <a:buSzPct val="70000"/>
              <a:buFont typeface="Wingdings" pitchFamily="2" charset="2"/>
              <a:buChar char="n"/>
              <a:defRPr sz="1600">
                <a:solidFill>
                  <a:srgbClr val="000000"/>
                </a:solidFill>
                <a:effectLst>
                  <a:outerShdw blurRad="38100" dist="38100" dir="2700000" algn="tl">
                    <a:srgbClr val="FFFFFF"/>
                  </a:outerShdw>
                </a:effectLst>
                <a:latin typeface="+mn-lt"/>
                <a:ea typeface="+mn-ea"/>
              </a:defRPr>
            </a:lvl9pPr>
          </a:lstStyle>
          <a:p>
            <a:pPr marL="0" indent="0">
              <a:buNone/>
            </a:pPr>
            <a:r>
              <a:rPr lang="en-US" altLang="zh-CN" sz="1600" b="1" dirty="0">
                <a:solidFill>
                  <a:schemeClr val="tx1"/>
                </a:solidFill>
                <a:latin typeface="Andalus" pitchFamily="18" charset="-78"/>
                <a:cs typeface="Andalus" pitchFamily="18" charset="-78"/>
              </a:rPr>
              <a:t>The policy terms and conditions shall be in accordance with </a:t>
            </a:r>
            <a:r>
              <a:rPr lang="en-US" altLang="zh-CN" sz="1600" b="1" i="1" dirty="0">
                <a:solidFill>
                  <a:schemeClr val="tx1"/>
                </a:solidFill>
                <a:latin typeface="Andalus" pitchFamily="18" charset="-78"/>
                <a:cs typeface="Andalus" pitchFamily="18" charset="-78"/>
              </a:rPr>
              <a:t>Comprehensive Insurance &amp; Protection Scheme for Foreigners Staying in China.</a:t>
            </a:r>
            <a:r>
              <a:rPr lang="zh-CN" altLang="en-US" sz="1600" b="1" i="1" dirty="0">
                <a:solidFill>
                  <a:schemeClr val="tx1"/>
                </a:solidFill>
                <a:latin typeface="Andalus" pitchFamily="18" charset="-78"/>
                <a:cs typeface="Andalus" pitchFamily="18" charset="-78"/>
              </a:rPr>
              <a:t> </a:t>
            </a:r>
            <a:r>
              <a:rPr lang="en-US" altLang="zh-CN" sz="1600" b="1" dirty="0">
                <a:solidFill>
                  <a:schemeClr val="tx1"/>
                </a:solidFill>
                <a:latin typeface="Andalus" pitchFamily="18" charset="-78"/>
                <a:cs typeface="Andalus" pitchFamily="18" charset="-78"/>
              </a:rPr>
              <a:t>You can also refer to the Insurance Guide and Claim Guide on www.lxbx.net. </a:t>
            </a:r>
            <a:endParaRPr lang="zh-CN" altLang="en-US" sz="1600" b="1" dirty="0">
              <a:solidFill>
                <a:schemeClr val="tx1"/>
              </a:solidFill>
              <a:latin typeface="Andalus" pitchFamily="18" charset="-78"/>
              <a:cs typeface="Andalus" pitchFamily="18" charset="-78"/>
            </a:endParaRPr>
          </a:p>
        </p:txBody>
      </p:sp>
    </p:spTree>
    <p:extLst>
      <p:ext uri="{BB962C8B-B14F-4D97-AF65-F5344CB8AC3E}">
        <p14:creationId xmlns:p14="http://schemas.microsoft.com/office/powerpoint/2010/main" val="3422735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矩形 7"/>
          <p:cNvSpPr>
            <a:spLocks noChangeArrowheads="1"/>
          </p:cNvSpPr>
          <p:nvPr/>
        </p:nvSpPr>
        <p:spPr bwMode="auto">
          <a:xfrm>
            <a:off x="2305495" y="3147814"/>
            <a:ext cx="4824536" cy="830997"/>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gn="ctr"/>
            <a:r>
              <a:rPr lang="zh-CN" altLang="en-US" sz="4800" cap="all" dirty="0">
                <a:ln/>
                <a:solidFill>
                  <a:srgbClr val="0070C0"/>
                </a:solidFill>
                <a:effectLst>
                  <a:reflection blurRad="10000" stA="55000" endPos="48000" dist="500" dir="5400000" sy="-100000" algn="bl" rotWithShape="0"/>
                </a:effectLst>
                <a:latin typeface="华文琥珀" pitchFamily="2" charset="-122"/>
                <a:ea typeface="华文琥珀" pitchFamily="2" charset="-122"/>
              </a:rPr>
              <a:t>开心   快乐   健康</a:t>
            </a:r>
          </a:p>
        </p:txBody>
      </p:sp>
      <p:sp>
        <p:nvSpPr>
          <p:cNvPr id="8197" name="矩形 7"/>
          <p:cNvSpPr>
            <a:spLocks noChangeArrowheads="1"/>
          </p:cNvSpPr>
          <p:nvPr/>
        </p:nvSpPr>
        <p:spPr bwMode="auto">
          <a:xfrm>
            <a:off x="1239888" y="2316817"/>
            <a:ext cx="6955751" cy="830997"/>
          </a:xfrm>
          <a:prstGeom prst="rect">
            <a:avLst/>
          </a:prstGeom>
          <a:noFill/>
          <a:ln w="9525">
            <a:noFill/>
            <a:miter lim="800000"/>
            <a:headEnd/>
            <a:tailEnd/>
          </a:ln>
        </p:spPr>
        <p:txBody>
          <a:bodyPr wrap="none">
            <a:spAutoFit/>
            <a:scene3d>
              <a:camera prst="orthographicFront"/>
              <a:lightRig rig="threePt" dir="t"/>
            </a:scene3d>
            <a:sp3d contourW="12700">
              <a:contourClr>
                <a:schemeClr val="accent6">
                  <a:lumMod val="40000"/>
                  <a:lumOff val="60000"/>
                </a:schemeClr>
              </a:contourClr>
            </a:sp3d>
          </a:bodyPr>
          <a:lstStyle/>
          <a:p>
            <a:pPr algn="ctr"/>
            <a:r>
              <a:rPr lang="zh-CN" altLang="en-US" sz="4800" cap="all" dirty="0">
                <a:ln/>
                <a:solidFill>
                  <a:srgbClr val="0070C0"/>
                </a:solidFill>
                <a:effectLst>
                  <a:reflection blurRad="10000" stA="55000" endPos="48000" dist="500" dir="5400000" sy="-100000" algn="bl" rotWithShape="0"/>
                </a:effectLst>
                <a:latin typeface="华文琥珀" pitchFamily="2" charset="-122"/>
                <a:ea typeface="华文琥珀" pitchFamily="2" charset="-122"/>
              </a:rPr>
              <a:t>祝大家在中国的学习生活</a:t>
            </a:r>
          </a:p>
        </p:txBody>
      </p:sp>
      <p:pic>
        <p:nvPicPr>
          <p:cNvPr id="12" name="图片 11">
            <a:extLst>
              <a:ext uri="{FF2B5EF4-FFF2-40B4-BE49-F238E27FC236}">
                <a16:creationId xmlns:a16="http://schemas.microsoft.com/office/drawing/2014/main" id="{83BA92C0-8440-0E0C-5909-09D70A3BE76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7600" b="40200"/>
          <a:stretch/>
        </p:blipFill>
        <p:spPr>
          <a:xfrm>
            <a:off x="67124" y="411510"/>
            <a:ext cx="9009752" cy="1800200"/>
          </a:xfrm>
          <a:prstGeom prst="rect">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wipe(down)">
                                      <p:cBhvr>
                                        <p:cTn id="7" dur="580">
                                          <p:stCondLst>
                                            <p:cond delay="0"/>
                                          </p:stCondLst>
                                        </p:cTn>
                                        <p:tgtEl>
                                          <p:spTgt spid="8197"/>
                                        </p:tgtEl>
                                      </p:cBhvr>
                                    </p:animEffect>
                                    <p:anim calcmode="lin" valueType="num">
                                      <p:cBhvr>
                                        <p:cTn id="8" dur="1822" tmFilter="0,0; 0.14,0.36; 0.43,0.73; 0.71,0.91; 1.0,1.0">
                                          <p:stCondLst>
                                            <p:cond delay="0"/>
                                          </p:stCondLst>
                                        </p:cTn>
                                        <p:tgtEl>
                                          <p:spTgt spid="819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19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19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19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197"/>
                                        </p:tgtEl>
                                        <p:attrNameLst>
                                          <p:attrName>ppt_y</p:attrName>
                                        </p:attrNameLst>
                                      </p:cBhvr>
                                      <p:tavLst>
                                        <p:tav tm="0" fmla="#ppt_y-sin(pi*$)/81">
                                          <p:val>
                                            <p:fltVal val="0"/>
                                          </p:val>
                                        </p:tav>
                                        <p:tav tm="100000">
                                          <p:val>
                                            <p:fltVal val="1"/>
                                          </p:val>
                                        </p:tav>
                                      </p:tavLst>
                                    </p:anim>
                                    <p:animScale>
                                      <p:cBhvr>
                                        <p:cTn id="13" dur="26">
                                          <p:stCondLst>
                                            <p:cond delay="650"/>
                                          </p:stCondLst>
                                        </p:cTn>
                                        <p:tgtEl>
                                          <p:spTgt spid="8197"/>
                                        </p:tgtEl>
                                      </p:cBhvr>
                                      <p:to x="100000" y="60000"/>
                                    </p:animScale>
                                    <p:animScale>
                                      <p:cBhvr>
                                        <p:cTn id="14" dur="166" decel="50000">
                                          <p:stCondLst>
                                            <p:cond delay="676"/>
                                          </p:stCondLst>
                                        </p:cTn>
                                        <p:tgtEl>
                                          <p:spTgt spid="8197"/>
                                        </p:tgtEl>
                                      </p:cBhvr>
                                      <p:to x="100000" y="100000"/>
                                    </p:animScale>
                                    <p:animScale>
                                      <p:cBhvr>
                                        <p:cTn id="15" dur="26">
                                          <p:stCondLst>
                                            <p:cond delay="1312"/>
                                          </p:stCondLst>
                                        </p:cTn>
                                        <p:tgtEl>
                                          <p:spTgt spid="8197"/>
                                        </p:tgtEl>
                                      </p:cBhvr>
                                      <p:to x="100000" y="80000"/>
                                    </p:animScale>
                                    <p:animScale>
                                      <p:cBhvr>
                                        <p:cTn id="16" dur="166" decel="50000">
                                          <p:stCondLst>
                                            <p:cond delay="1338"/>
                                          </p:stCondLst>
                                        </p:cTn>
                                        <p:tgtEl>
                                          <p:spTgt spid="8197"/>
                                        </p:tgtEl>
                                      </p:cBhvr>
                                      <p:to x="100000" y="100000"/>
                                    </p:animScale>
                                    <p:animScale>
                                      <p:cBhvr>
                                        <p:cTn id="17" dur="26">
                                          <p:stCondLst>
                                            <p:cond delay="1642"/>
                                          </p:stCondLst>
                                        </p:cTn>
                                        <p:tgtEl>
                                          <p:spTgt spid="8197"/>
                                        </p:tgtEl>
                                      </p:cBhvr>
                                      <p:to x="100000" y="90000"/>
                                    </p:animScale>
                                    <p:animScale>
                                      <p:cBhvr>
                                        <p:cTn id="18" dur="166" decel="50000">
                                          <p:stCondLst>
                                            <p:cond delay="1668"/>
                                          </p:stCondLst>
                                        </p:cTn>
                                        <p:tgtEl>
                                          <p:spTgt spid="8197"/>
                                        </p:tgtEl>
                                      </p:cBhvr>
                                      <p:to x="100000" y="100000"/>
                                    </p:animScale>
                                    <p:animScale>
                                      <p:cBhvr>
                                        <p:cTn id="19" dur="26">
                                          <p:stCondLst>
                                            <p:cond delay="1808"/>
                                          </p:stCondLst>
                                        </p:cTn>
                                        <p:tgtEl>
                                          <p:spTgt spid="8197"/>
                                        </p:tgtEl>
                                      </p:cBhvr>
                                      <p:to x="100000" y="95000"/>
                                    </p:animScale>
                                    <p:animScale>
                                      <p:cBhvr>
                                        <p:cTn id="20" dur="166" decel="50000">
                                          <p:stCondLst>
                                            <p:cond delay="1834"/>
                                          </p:stCondLst>
                                        </p:cTn>
                                        <p:tgtEl>
                                          <p:spTgt spid="8197"/>
                                        </p:tgtEl>
                                      </p:cBhvr>
                                      <p:to x="100000" y="100000"/>
                                    </p:animScale>
                                  </p:childTnLst>
                                </p:cTn>
                              </p:par>
                            </p:childTnLst>
                          </p:cTn>
                        </p:par>
                        <p:par>
                          <p:cTn id="21" fill="hold">
                            <p:stCondLst>
                              <p:cond delay="2000"/>
                            </p:stCondLst>
                            <p:childTnLst>
                              <p:par>
                                <p:cTn id="22" presetID="27" presetClass="entr" presetSubtype="0" fill="hold" grpId="0" nodeType="afterEffect">
                                  <p:stCondLst>
                                    <p:cond delay="0"/>
                                  </p:stCondLst>
                                  <p:iterate type="lt">
                                    <p:tmPct val="50000"/>
                                  </p:iterate>
                                  <p:childTnLst>
                                    <p:set>
                                      <p:cBhvr>
                                        <p:cTn id="23" dur="1" fill="hold">
                                          <p:stCondLst>
                                            <p:cond delay="0"/>
                                          </p:stCondLst>
                                        </p:cTn>
                                        <p:tgtEl>
                                          <p:spTgt spid="8195"/>
                                        </p:tgtEl>
                                        <p:attrNameLst>
                                          <p:attrName>style.visibility</p:attrName>
                                        </p:attrNameLst>
                                      </p:cBhvr>
                                      <p:to>
                                        <p:strVal val="visible"/>
                                      </p:to>
                                    </p:set>
                                    <p:anim calcmode="discrete" valueType="clr">
                                      <p:cBhvr override="childStyle">
                                        <p:cTn id="24" dur="1000"/>
                                        <p:tgtEl>
                                          <p:spTgt spid="8195"/>
                                        </p:tgtEl>
                                        <p:attrNameLst>
                                          <p:attrName>style.color</p:attrName>
                                        </p:attrNameLst>
                                      </p:cBhvr>
                                      <p:tavLst>
                                        <p:tav tm="0">
                                          <p:val>
                                            <p:clrVal>
                                              <a:schemeClr val="accent2"/>
                                            </p:clrVal>
                                          </p:val>
                                        </p:tav>
                                        <p:tav tm="50000">
                                          <p:val>
                                            <p:clrVal>
                                              <a:schemeClr val="hlink"/>
                                            </p:clrVal>
                                          </p:val>
                                        </p:tav>
                                      </p:tavLst>
                                    </p:anim>
                                    <p:anim calcmode="discrete" valueType="clr">
                                      <p:cBhvr>
                                        <p:cTn id="25" dur="1000"/>
                                        <p:tgtEl>
                                          <p:spTgt spid="8195"/>
                                        </p:tgtEl>
                                        <p:attrNameLst>
                                          <p:attrName>fillcolor</p:attrName>
                                        </p:attrNameLst>
                                      </p:cBhvr>
                                      <p:tavLst>
                                        <p:tav tm="0">
                                          <p:val>
                                            <p:clrVal>
                                              <a:schemeClr val="accent2"/>
                                            </p:clrVal>
                                          </p:val>
                                        </p:tav>
                                        <p:tav tm="50000">
                                          <p:val>
                                            <p:clrVal>
                                              <a:schemeClr val="hlink"/>
                                            </p:clrVal>
                                          </p:val>
                                        </p:tav>
                                      </p:tavLst>
                                    </p:anim>
                                    <p:set>
                                      <p:cBhvr>
                                        <p:cTn id="26" dur="1000"/>
                                        <p:tgtEl>
                                          <p:spTgt spid="819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p:bldP spid="8197" grpId="0"/>
    </p:bldLst>
  </p:timing>
</p:sld>
</file>

<file path=ppt/theme/theme1.xml><?xml version="1.0" encoding="utf-8"?>
<a:theme xmlns:a="http://schemas.openxmlformats.org/drawingml/2006/main" name="包裹">
  <a:themeElements>
    <a:clrScheme name="包裹">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包裹">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包裹">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TM10001115[[fn=包裹]]</Template>
  <TotalTime>5555</TotalTime>
  <Words>3373</Words>
  <Application>Microsoft Office PowerPoint</Application>
  <PresentationFormat>Экран (16:9)</PresentationFormat>
  <Paragraphs>294</Paragraphs>
  <Slides>29</Slides>
  <Notes>13</Notes>
  <HiddenSlides>0</HiddenSlides>
  <MMClips>0</MMClips>
  <ScaleCrop>false</ScaleCrop>
  <HeadingPairs>
    <vt:vector size="6" baseType="variant">
      <vt:variant>
        <vt:lpstr>Использованные шрифты</vt:lpstr>
      </vt:variant>
      <vt:variant>
        <vt:i4>15</vt:i4>
      </vt:variant>
      <vt:variant>
        <vt:lpstr>Тема</vt:lpstr>
      </vt:variant>
      <vt:variant>
        <vt:i4>1</vt:i4>
      </vt:variant>
      <vt:variant>
        <vt:lpstr>Заголовки слайдов</vt:lpstr>
      </vt:variant>
      <vt:variant>
        <vt:i4>29</vt:i4>
      </vt:variant>
    </vt:vector>
  </HeadingPairs>
  <TitlesOfParts>
    <vt:vector size="45" baseType="lpstr">
      <vt:lpstr>Andalus</vt:lpstr>
      <vt:lpstr>微软雅黑</vt:lpstr>
      <vt:lpstr>华文琥珀</vt:lpstr>
      <vt:lpstr>华文中宋</vt:lpstr>
      <vt:lpstr>Aparajita</vt:lpstr>
      <vt:lpstr>Arial</vt:lpstr>
      <vt:lpstr>Arial Black</vt:lpstr>
      <vt:lpstr>Arial Narrow</vt:lpstr>
      <vt:lpstr>Calibri</vt:lpstr>
      <vt:lpstr>Ebrima</vt:lpstr>
      <vt:lpstr>Gill Sans MT</vt:lpstr>
      <vt:lpstr>Microsoft Himalaya</vt:lpstr>
      <vt:lpstr>Palatino Linotype</vt:lpstr>
      <vt:lpstr>Segoe UI Black</vt:lpstr>
      <vt:lpstr>Wingdings</vt:lpstr>
      <vt:lpstr>包裹</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信息查询_手机 Query via Cell Phones</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保险备注提示(other insurance tips)</vt:lpstr>
      <vt:lpstr>Презентация PowerPoint</vt:lpstr>
    </vt:vector>
  </TitlesOfParts>
  <Company>e-mart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lu</dc:creator>
  <cp:lastModifiedBy>Евгений Микрюков</cp:lastModifiedBy>
  <cp:revision>371</cp:revision>
  <dcterms:created xsi:type="dcterms:W3CDTF">2006-10-13T05:39:47Z</dcterms:created>
  <dcterms:modified xsi:type="dcterms:W3CDTF">2023-11-11T14:26:52Z</dcterms:modified>
</cp:coreProperties>
</file>